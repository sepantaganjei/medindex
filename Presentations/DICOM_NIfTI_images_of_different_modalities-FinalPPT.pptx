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8288000" cy="10287000"/>
  <p:notesSz cx="6858000" cy="9144000"/>
  <p:embeddedFontLst>
    <p:embeddedFont>
      <p:font typeface="DM Serif Display" pitchFamily="2" charset="0"/>
      <p:regular r:id="rId39"/>
    </p:embeddedFont>
    <p:embeddedFont>
      <p:font typeface="DM Serif Display Italics" pitchFamily="2" charset="77"/>
      <p:regular r:id="rId40"/>
      <p:italic r:id="rId41"/>
    </p:embeddedFont>
    <p:embeddedFont>
      <p:font typeface="Open Sans" panose="020B0606030504020204" pitchFamily="34" charset="0"/>
      <p:regular r:id="rId42"/>
      <p:bold r:id="rId43"/>
      <p:italic r:id="rId44"/>
    </p:embeddedFont>
    <p:embeddedFont>
      <p:font typeface="Open Sans Bold" panose="020B0806030504020204" pitchFamily="34" charset="0"/>
      <p:regular r:id="rId45"/>
      <p:bold r:id="rId46"/>
    </p:embeddedFont>
    <p:embeddedFont>
      <p:font typeface="Open Sans Italics" panose="020B0606030504020204" pitchFamily="34" charset="0"/>
      <p:regular r:id="rId47"/>
      <p:italic r:id="rId48"/>
    </p:embeddedFont>
    <p:embeddedFont>
      <p:font typeface="Open Sauce" pitchFamily="2" charset="77"/>
      <p:regular r:id="rId49"/>
    </p:embeddedFont>
    <p:embeddedFont>
      <p:font typeface="Open Sauce Bold" pitchFamily="2" charset="77"/>
      <p:regular r:id="rId50"/>
      <p:bold r:id="rId51"/>
    </p:embeddedFont>
    <p:embeddedFont>
      <p:font typeface="Open Sauce Bold Italics" pitchFamily="2" charset="77"/>
      <p:regular r:id="rId52"/>
      <p:bold r:id="rId53"/>
      <p:italic r:id="rId54"/>
      <p:boldItalic r:id="rId55"/>
    </p:embeddedFont>
    <p:embeddedFont>
      <p:font typeface="Open Sauce Italics" pitchFamily="2" charset="77"/>
      <p:regular r:id="rId56"/>
      <p:italic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p:scale>
          <a:sx n="62" d="100"/>
          <a:sy n="62" d="100"/>
        </p:scale>
        <p:origin x="1224" y="4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290763" y="512763"/>
            <a:ext cx="4562475" cy="2566987"/>
          </a:xfrm>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928210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both types of sources, data transformation involves transforming the structure of the source metadata to align with our local data model. This includes mapping source attributes to the corresponding attributes in our entities, constructing entities from the raw data, and handling missing values.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both types of sources, data transformation involves transforming the structure of the source metadata to align with our local data model. This includes mapping source attributes to the corresponding attributes in our entities, constructing entities from the raw data, and handling missing values.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both types of sources, data transformation involves transforming the structure of the source metadata to align with our local data model. This includes mapping source attributes to the corresponding attributes in our entities, constructing entities from the raw data, and handling missing values.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Modeling and Data exploration are not properly part of the data management pipeline, but rather a fundational step and a functionality built on top of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oleObject" Target="../embeddings/oleObject3.bin"/><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oleObject" Target="../embeddings/oleObject4.bin"/><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it-IT"/>
          </a:p>
        </p:txBody>
      </p:sp>
      <p:sp>
        <p:nvSpPr>
          <p:cNvPr id="3" name="TextBox 3"/>
          <p:cNvSpPr txBox="1"/>
          <p:nvPr/>
        </p:nvSpPr>
        <p:spPr>
          <a:xfrm>
            <a:off x="2439850" y="1663699"/>
            <a:ext cx="13408301" cy="3479801"/>
          </a:xfrm>
          <a:prstGeom prst="rect">
            <a:avLst/>
          </a:prstGeom>
        </p:spPr>
        <p:txBody>
          <a:bodyPr lIns="0" tIns="0" rIns="0" bIns="0" rtlCol="0" anchor="t">
            <a:spAutoFit/>
          </a:bodyPr>
          <a:lstStyle/>
          <a:p>
            <a:pPr algn="ctr">
              <a:lnSpc>
                <a:spcPts val="13999"/>
              </a:lnSpc>
            </a:pPr>
            <a:r>
              <a:rPr lang="en-US" sz="9999">
                <a:solidFill>
                  <a:srgbClr val="000000"/>
                </a:solidFill>
                <a:latin typeface="DM Serif Display"/>
                <a:ea typeface="DM Serif Display"/>
                <a:cs typeface="DM Serif Display"/>
                <a:sym typeface="DM Serif Display"/>
              </a:rPr>
              <a:t>DICOM &amp; NIfTI images of different modalities</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HEALTH BIG DATA</a:t>
            </a:r>
          </a:p>
        </p:txBody>
      </p:sp>
      <p:sp>
        <p:nvSpPr>
          <p:cNvPr id="5" name="TextBox 5"/>
          <p:cNvSpPr txBox="1"/>
          <p:nvPr/>
        </p:nvSpPr>
        <p:spPr>
          <a:xfrm>
            <a:off x="14107457" y="8549957"/>
            <a:ext cx="3757853" cy="692150"/>
          </a:xfrm>
          <a:prstGeom prst="rect">
            <a:avLst/>
          </a:prstGeom>
        </p:spPr>
        <p:txBody>
          <a:bodyPr lIns="0" tIns="0" rIns="0" bIns="0" rtlCol="0" anchor="t">
            <a:spAutoFit/>
          </a:bodyPr>
          <a:lstStyle/>
          <a:p>
            <a:pPr algn="l">
              <a:lnSpc>
                <a:spcPts val="2799"/>
              </a:lnSpc>
            </a:pPr>
            <a:r>
              <a:rPr lang="en-US" sz="1999">
                <a:solidFill>
                  <a:srgbClr val="000000">
                    <a:alpha val="49804"/>
                  </a:srgbClr>
                </a:solidFill>
                <a:latin typeface="DM Serif Display"/>
                <a:ea typeface="DM Serif Display"/>
                <a:cs typeface="DM Serif Display"/>
                <a:sym typeface="DM Serif Display"/>
              </a:rPr>
              <a:t>Prof. Maria Gabriella Signorini</a:t>
            </a:r>
          </a:p>
          <a:p>
            <a:pPr algn="l">
              <a:lnSpc>
                <a:spcPts val="2799"/>
              </a:lnSpc>
              <a:spcBef>
                <a:spcPct val="0"/>
              </a:spcBef>
            </a:pPr>
            <a:r>
              <a:rPr lang="en-US" sz="1999">
                <a:solidFill>
                  <a:srgbClr val="000000">
                    <a:alpha val="49804"/>
                  </a:srgbClr>
                </a:solidFill>
                <a:latin typeface="DM Serif Display"/>
                <a:ea typeface="DM Serif Display"/>
                <a:cs typeface="DM Serif Display"/>
                <a:sym typeface="DM Serif Display"/>
              </a:rPr>
              <a:t>Prof. Pierluigi Reali</a:t>
            </a:r>
          </a:p>
        </p:txBody>
      </p:sp>
      <p:sp>
        <p:nvSpPr>
          <p:cNvPr id="6" name="TextBox 6"/>
          <p:cNvSpPr txBox="1"/>
          <p:nvPr/>
        </p:nvSpPr>
        <p:spPr>
          <a:xfrm>
            <a:off x="275998" y="8549957"/>
            <a:ext cx="3450476" cy="1378461"/>
          </a:xfrm>
          <a:prstGeom prst="rect">
            <a:avLst/>
          </a:prstGeom>
        </p:spPr>
        <p:txBody>
          <a:bodyPr lIns="0" tIns="0" rIns="0" bIns="0" rtlCol="0" anchor="t">
            <a:spAutoFit/>
          </a:bodyPr>
          <a:lstStyle/>
          <a:p>
            <a:pPr algn="l">
              <a:lnSpc>
                <a:spcPts val="2239"/>
              </a:lnSpc>
            </a:pPr>
            <a:r>
              <a:rPr lang="en-US" sz="1599" spc="159">
                <a:solidFill>
                  <a:srgbClr val="000000">
                    <a:alpha val="49804"/>
                  </a:srgbClr>
                </a:solidFill>
                <a:latin typeface="Open Sauce"/>
                <a:ea typeface="Open Sauce"/>
                <a:cs typeface="Open Sauce"/>
                <a:sym typeface="Open Sauce"/>
              </a:rPr>
              <a:t>GIULIA TOMMASINI</a:t>
            </a:r>
          </a:p>
          <a:p>
            <a:pPr algn="l">
              <a:lnSpc>
                <a:spcPts val="2239"/>
              </a:lnSpc>
            </a:pPr>
            <a:r>
              <a:rPr lang="en-US" sz="1599" spc="159">
                <a:solidFill>
                  <a:srgbClr val="000000">
                    <a:alpha val="49804"/>
                  </a:srgbClr>
                </a:solidFill>
                <a:latin typeface="Open Sauce"/>
                <a:ea typeface="Open Sauce"/>
                <a:cs typeface="Open Sauce"/>
                <a:sym typeface="Open Sauce"/>
              </a:rPr>
              <a:t>STEVEN MOR</a:t>
            </a:r>
          </a:p>
          <a:p>
            <a:pPr algn="l">
              <a:lnSpc>
                <a:spcPts val="2239"/>
              </a:lnSpc>
            </a:pPr>
            <a:r>
              <a:rPr lang="en-US" sz="1599" spc="159">
                <a:solidFill>
                  <a:srgbClr val="000000">
                    <a:alpha val="49804"/>
                  </a:srgbClr>
                </a:solidFill>
                <a:latin typeface="Open Sauce"/>
                <a:ea typeface="Open Sauce"/>
                <a:cs typeface="Open Sauce"/>
                <a:sym typeface="Open Sauce"/>
              </a:rPr>
              <a:t>LEONARDO VICENTINI</a:t>
            </a:r>
          </a:p>
          <a:p>
            <a:pPr algn="l">
              <a:lnSpc>
                <a:spcPts val="2239"/>
              </a:lnSpc>
            </a:pPr>
            <a:r>
              <a:rPr lang="en-US" sz="1599" spc="159">
                <a:solidFill>
                  <a:srgbClr val="000000">
                    <a:alpha val="49804"/>
                  </a:srgbClr>
                </a:solidFill>
                <a:latin typeface="Open Sauce"/>
                <a:ea typeface="Open Sauce"/>
                <a:cs typeface="Open Sauce"/>
                <a:sym typeface="Open Sauce"/>
              </a:rPr>
              <a:t>ANGELO NOTARNICOLA</a:t>
            </a:r>
          </a:p>
          <a:p>
            <a:pPr marL="0" lvl="0" indent="0" algn="l">
              <a:lnSpc>
                <a:spcPts val="2239"/>
              </a:lnSpc>
              <a:spcBef>
                <a:spcPct val="0"/>
              </a:spcBef>
            </a:pPr>
            <a:r>
              <a:rPr lang="en-US" sz="1599" spc="159">
                <a:solidFill>
                  <a:srgbClr val="000000">
                    <a:alpha val="49804"/>
                  </a:srgbClr>
                </a:solidFill>
                <a:latin typeface="Open Sauce"/>
                <a:ea typeface="Open Sauce"/>
                <a:cs typeface="Open Sauce"/>
                <a:sym typeface="Open Sauce"/>
              </a:rPr>
              <a:t>SEPANTA GANJEI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TextBox 3"/>
          <p:cNvSpPr txBox="1"/>
          <p:nvPr/>
        </p:nvSpPr>
        <p:spPr>
          <a:xfrm>
            <a:off x="1166399" y="1233825"/>
            <a:ext cx="3822789" cy="22186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Table of Contents</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5" name="TextBox 5"/>
          <p:cNvSpPr txBox="1"/>
          <p:nvPr/>
        </p:nvSpPr>
        <p:spPr>
          <a:xfrm>
            <a:off x="7613003" y="3393172"/>
            <a:ext cx="2537740" cy="459130"/>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Problems</a:t>
            </a:r>
          </a:p>
        </p:txBody>
      </p:sp>
      <p:sp>
        <p:nvSpPr>
          <p:cNvPr id="6" name="TextBox 6"/>
          <p:cNvSpPr txBox="1"/>
          <p:nvPr/>
        </p:nvSpPr>
        <p:spPr>
          <a:xfrm>
            <a:off x="7613003" y="2801683"/>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3</a:t>
            </a:r>
          </a:p>
        </p:txBody>
      </p:sp>
      <p:sp>
        <p:nvSpPr>
          <p:cNvPr id="7" name="TextBox 7"/>
          <p:cNvSpPr txBox="1"/>
          <p:nvPr/>
        </p:nvSpPr>
        <p:spPr>
          <a:xfrm>
            <a:off x="11167282" y="3393172"/>
            <a:ext cx="2537740" cy="459105"/>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Solution</a:t>
            </a:r>
          </a:p>
        </p:txBody>
      </p:sp>
      <p:sp>
        <p:nvSpPr>
          <p:cNvPr id="8" name="TextBox 8"/>
          <p:cNvSpPr txBox="1"/>
          <p:nvPr/>
        </p:nvSpPr>
        <p:spPr>
          <a:xfrm>
            <a:off x="11167282" y="2801683"/>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4</a:t>
            </a:r>
          </a:p>
        </p:txBody>
      </p:sp>
      <p:sp>
        <p:nvSpPr>
          <p:cNvPr id="9" name="TextBox 9"/>
          <p:cNvSpPr txBox="1"/>
          <p:nvPr/>
        </p:nvSpPr>
        <p:spPr>
          <a:xfrm>
            <a:off x="14721560" y="3393172"/>
            <a:ext cx="2537740" cy="459105"/>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DICOM &amp; NIfTI</a:t>
            </a:r>
          </a:p>
        </p:txBody>
      </p:sp>
      <p:sp>
        <p:nvSpPr>
          <p:cNvPr id="10" name="TextBox 10"/>
          <p:cNvSpPr txBox="1"/>
          <p:nvPr/>
        </p:nvSpPr>
        <p:spPr>
          <a:xfrm>
            <a:off x="14721560" y="2801683"/>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5-6</a:t>
            </a:r>
          </a:p>
        </p:txBody>
      </p:sp>
      <p:sp>
        <p:nvSpPr>
          <p:cNvPr id="11" name="TextBox 11"/>
          <p:cNvSpPr txBox="1"/>
          <p:nvPr/>
        </p:nvSpPr>
        <p:spPr>
          <a:xfrm>
            <a:off x="7613003" y="5571356"/>
            <a:ext cx="2537740" cy="944880"/>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Proposed Datasets</a:t>
            </a:r>
          </a:p>
        </p:txBody>
      </p:sp>
      <p:sp>
        <p:nvSpPr>
          <p:cNvPr id="12" name="TextBox 12"/>
          <p:cNvSpPr txBox="1"/>
          <p:nvPr/>
        </p:nvSpPr>
        <p:spPr>
          <a:xfrm>
            <a:off x="7613003" y="4979867"/>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7</a:t>
            </a:r>
          </a:p>
        </p:txBody>
      </p:sp>
      <p:sp>
        <p:nvSpPr>
          <p:cNvPr id="13" name="TextBox 13"/>
          <p:cNvSpPr txBox="1"/>
          <p:nvPr/>
        </p:nvSpPr>
        <p:spPr>
          <a:xfrm>
            <a:off x="11167282" y="5571356"/>
            <a:ext cx="2537740" cy="944880"/>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Data Management</a:t>
            </a:r>
          </a:p>
        </p:txBody>
      </p:sp>
      <p:sp>
        <p:nvSpPr>
          <p:cNvPr id="14" name="TextBox 14"/>
          <p:cNvSpPr txBox="1"/>
          <p:nvPr/>
        </p:nvSpPr>
        <p:spPr>
          <a:xfrm>
            <a:off x="11167282" y="4979867"/>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8-18</a:t>
            </a:r>
          </a:p>
        </p:txBody>
      </p:sp>
      <p:sp>
        <p:nvSpPr>
          <p:cNvPr id="15" name="TextBox 15"/>
          <p:cNvSpPr txBox="1"/>
          <p:nvPr/>
        </p:nvSpPr>
        <p:spPr>
          <a:xfrm>
            <a:off x="14721560" y="5571356"/>
            <a:ext cx="2537740" cy="459105"/>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Data Exchange</a:t>
            </a:r>
          </a:p>
        </p:txBody>
      </p:sp>
      <p:sp>
        <p:nvSpPr>
          <p:cNvPr id="16" name="TextBox 16"/>
          <p:cNvSpPr txBox="1"/>
          <p:nvPr/>
        </p:nvSpPr>
        <p:spPr>
          <a:xfrm>
            <a:off x="14721560" y="4979867"/>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19-27</a:t>
            </a:r>
          </a:p>
        </p:txBody>
      </p:sp>
      <p:sp>
        <p:nvSpPr>
          <p:cNvPr id="17" name="TextBox 17"/>
          <p:cNvSpPr txBox="1"/>
          <p:nvPr/>
        </p:nvSpPr>
        <p:spPr>
          <a:xfrm>
            <a:off x="7613003" y="8235315"/>
            <a:ext cx="2537740" cy="944880"/>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Application &amp; Results</a:t>
            </a:r>
          </a:p>
        </p:txBody>
      </p:sp>
      <p:sp>
        <p:nvSpPr>
          <p:cNvPr id="18" name="TextBox 18"/>
          <p:cNvSpPr txBox="1"/>
          <p:nvPr/>
        </p:nvSpPr>
        <p:spPr>
          <a:xfrm>
            <a:off x="7613003" y="7643826"/>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28-33</a:t>
            </a:r>
          </a:p>
        </p:txBody>
      </p:sp>
      <p:sp>
        <p:nvSpPr>
          <p:cNvPr id="19" name="TextBox 19"/>
          <p:cNvSpPr txBox="1"/>
          <p:nvPr/>
        </p:nvSpPr>
        <p:spPr>
          <a:xfrm>
            <a:off x="14721560" y="8235315"/>
            <a:ext cx="2537740" cy="944930"/>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Future Developments</a:t>
            </a:r>
          </a:p>
        </p:txBody>
      </p:sp>
      <p:sp>
        <p:nvSpPr>
          <p:cNvPr id="20" name="TextBox 20"/>
          <p:cNvSpPr txBox="1"/>
          <p:nvPr/>
        </p:nvSpPr>
        <p:spPr>
          <a:xfrm>
            <a:off x="11167282" y="7643826"/>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34</a:t>
            </a:r>
          </a:p>
        </p:txBody>
      </p:sp>
      <p:sp>
        <p:nvSpPr>
          <p:cNvPr id="21" name="TextBox 21"/>
          <p:cNvSpPr txBox="1"/>
          <p:nvPr/>
        </p:nvSpPr>
        <p:spPr>
          <a:xfrm>
            <a:off x="14724196" y="7643826"/>
            <a:ext cx="2537740" cy="459105"/>
          </a:xfrm>
          <a:prstGeom prst="rect">
            <a:avLst/>
          </a:prstGeom>
        </p:spPr>
        <p:txBody>
          <a:bodyPr lIns="0" tIns="0" rIns="0" bIns="0" rtlCol="0" anchor="t">
            <a:spAutoFit/>
          </a:bodyPr>
          <a:lstStyle/>
          <a:p>
            <a:pPr algn="l">
              <a:lnSpc>
                <a:spcPts val="3840"/>
              </a:lnSpc>
            </a:pPr>
            <a:r>
              <a:rPr lang="en-US" sz="2400">
                <a:solidFill>
                  <a:srgbClr val="000000"/>
                </a:solidFill>
                <a:latin typeface="Open Sauce"/>
                <a:ea typeface="Open Sauce"/>
                <a:cs typeface="Open Sauce"/>
                <a:sym typeface="Open Sauce"/>
              </a:rPr>
              <a:t>35</a:t>
            </a:r>
          </a:p>
        </p:txBody>
      </p:sp>
      <p:sp>
        <p:nvSpPr>
          <p:cNvPr id="22" name="TextBox 22"/>
          <p:cNvSpPr txBox="1"/>
          <p:nvPr/>
        </p:nvSpPr>
        <p:spPr>
          <a:xfrm>
            <a:off x="11167282" y="8313420"/>
            <a:ext cx="2537740" cy="459130"/>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Conclusions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grpSp>
        <p:nvGrpSpPr>
          <p:cNvPr id="3" name="Group 3"/>
          <p:cNvGrpSpPr/>
          <p:nvPr/>
        </p:nvGrpSpPr>
        <p:grpSpPr>
          <a:xfrm>
            <a:off x="6764212" y="2683845"/>
            <a:ext cx="909958" cy="90995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6" name="Group 6"/>
          <p:cNvGrpSpPr/>
          <p:nvPr/>
        </p:nvGrpSpPr>
        <p:grpSpPr>
          <a:xfrm>
            <a:off x="6764212" y="4793625"/>
            <a:ext cx="909958" cy="90995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a:off x="6764212" y="7332358"/>
            <a:ext cx="909958" cy="90995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2" name="AutoShape 12"/>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13" name="TextBox 13"/>
          <p:cNvSpPr txBox="1"/>
          <p:nvPr/>
        </p:nvSpPr>
        <p:spPr>
          <a:xfrm>
            <a:off x="8174577" y="2252682"/>
            <a:ext cx="9084723" cy="1657985"/>
          </a:xfrm>
          <a:prstGeom prst="rect">
            <a:avLst/>
          </a:prstGeom>
        </p:spPr>
        <p:txBody>
          <a:bodyPr lIns="0" tIns="0" rIns="0" bIns="0" rtlCol="0" anchor="t">
            <a:spAutoFit/>
          </a:bodyPr>
          <a:lstStyle/>
          <a:p>
            <a:pPr marL="0" lvl="0" indent="0" algn="l">
              <a:lnSpc>
                <a:spcPts val="4479"/>
              </a:lnSpc>
            </a:pPr>
            <a:r>
              <a:rPr lang="en-US" sz="2799" u="none" strike="noStrike">
                <a:solidFill>
                  <a:srgbClr val="000000"/>
                </a:solidFill>
                <a:latin typeface="Open Sauce"/>
                <a:ea typeface="Open Sauce"/>
                <a:cs typeface="Open Sauce"/>
                <a:sym typeface="Open Sauce"/>
              </a:rPr>
              <a:t>Medical imaging uses </a:t>
            </a:r>
            <a:r>
              <a:rPr lang="en-US" sz="2799" b="1" i="1" u="none" strike="noStrike">
                <a:solidFill>
                  <a:srgbClr val="000000"/>
                </a:solidFill>
                <a:latin typeface="Open Sauce Bold Italics"/>
                <a:ea typeface="Open Sauce Bold Italics"/>
                <a:cs typeface="Open Sauce Bold Italics"/>
                <a:sym typeface="Open Sauce Bold Italics"/>
              </a:rPr>
              <a:t>non-interoperable formats</a:t>
            </a:r>
            <a:r>
              <a:rPr lang="en-US" sz="2799" u="none" strike="noStrike">
                <a:solidFill>
                  <a:srgbClr val="000000"/>
                </a:solidFill>
                <a:latin typeface="Open Sauce"/>
                <a:ea typeface="Open Sauce"/>
                <a:cs typeface="Open Sauce"/>
                <a:sym typeface="Open Sauce"/>
              </a:rPr>
              <a:t> (DICOM in clinics, NIfTI in research)       different data structures and metadata.</a:t>
            </a:r>
          </a:p>
        </p:txBody>
      </p:sp>
      <p:sp>
        <p:nvSpPr>
          <p:cNvPr id="14" name="TextBox 14"/>
          <p:cNvSpPr txBox="1"/>
          <p:nvPr/>
        </p:nvSpPr>
        <p:spPr>
          <a:xfrm>
            <a:off x="6810680" y="2772429"/>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1</a:t>
            </a:r>
          </a:p>
        </p:txBody>
      </p:sp>
      <p:sp>
        <p:nvSpPr>
          <p:cNvPr id="15" name="TextBox 15"/>
          <p:cNvSpPr txBox="1"/>
          <p:nvPr/>
        </p:nvSpPr>
        <p:spPr>
          <a:xfrm>
            <a:off x="8174577" y="4324044"/>
            <a:ext cx="9084723" cy="2219960"/>
          </a:xfrm>
          <a:prstGeom prst="rect">
            <a:avLst/>
          </a:prstGeom>
        </p:spPr>
        <p:txBody>
          <a:bodyPr lIns="0" tIns="0" rIns="0" bIns="0" rtlCol="0" anchor="t">
            <a:spAutoFit/>
          </a:bodyPr>
          <a:lstStyle/>
          <a:p>
            <a:pPr marL="0" lvl="0" indent="0" algn="l">
              <a:lnSpc>
                <a:spcPts val="4479"/>
              </a:lnSpc>
            </a:pPr>
            <a:r>
              <a:rPr lang="en-US" sz="2799" b="1" i="1">
                <a:solidFill>
                  <a:srgbClr val="000000"/>
                </a:solidFill>
                <a:latin typeface="Open Sauce Bold Italics"/>
                <a:ea typeface="Open Sauce Bold Italics"/>
                <a:cs typeface="Open Sauce Bold Italics"/>
                <a:sym typeface="Open Sauce Bold Italics"/>
              </a:rPr>
              <a:t>Dat</a:t>
            </a:r>
            <a:r>
              <a:rPr lang="en-US" sz="2799" b="1" i="1" u="none" strike="noStrike">
                <a:solidFill>
                  <a:srgbClr val="000000"/>
                </a:solidFill>
                <a:latin typeface="Open Sauce Bold Italics"/>
                <a:ea typeface="Open Sauce Bold Italics"/>
                <a:cs typeface="Open Sauce Bold Italics"/>
                <a:sym typeface="Open Sauce Bold Italics"/>
              </a:rPr>
              <a:t>aset management is complex       </a:t>
            </a:r>
            <a:r>
              <a:rPr lang="en-US" sz="2799" u="none" strike="noStrike">
                <a:solidFill>
                  <a:srgbClr val="000000"/>
                </a:solidFill>
                <a:latin typeface="Open Sauce"/>
                <a:ea typeface="Open Sauce"/>
                <a:cs typeface="Open Sauce"/>
                <a:sym typeface="Open Sauce"/>
              </a:rPr>
              <a:t>manual format conversions, multiple tools for visualization/download, and difficulties organizing imaging series.</a:t>
            </a:r>
          </a:p>
        </p:txBody>
      </p:sp>
      <p:sp>
        <p:nvSpPr>
          <p:cNvPr id="16" name="TextBox 16"/>
          <p:cNvSpPr txBox="1"/>
          <p:nvPr/>
        </p:nvSpPr>
        <p:spPr>
          <a:xfrm>
            <a:off x="6810680" y="4882209"/>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2</a:t>
            </a:r>
          </a:p>
        </p:txBody>
      </p:sp>
      <p:sp>
        <p:nvSpPr>
          <p:cNvPr id="17" name="TextBox 17"/>
          <p:cNvSpPr txBox="1"/>
          <p:nvPr/>
        </p:nvSpPr>
        <p:spPr>
          <a:xfrm>
            <a:off x="8174577" y="7234566"/>
            <a:ext cx="9084723" cy="1657985"/>
          </a:xfrm>
          <a:prstGeom prst="rect">
            <a:avLst/>
          </a:prstGeom>
        </p:spPr>
        <p:txBody>
          <a:bodyPr lIns="0" tIns="0" rIns="0" bIns="0" rtlCol="0" anchor="t">
            <a:spAutoFit/>
          </a:bodyPr>
          <a:lstStyle/>
          <a:p>
            <a:pPr marL="0" lvl="0" indent="0" algn="l">
              <a:lnSpc>
                <a:spcPts val="4479"/>
              </a:lnSpc>
            </a:pPr>
            <a:r>
              <a:rPr lang="en-US" sz="2799" b="1" i="1">
                <a:solidFill>
                  <a:srgbClr val="000000"/>
                </a:solidFill>
                <a:latin typeface="Open Sauce Bold Italics"/>
                <a:ea typeface="Open Sauce Bold Italics"/>
                <a:cs typeface="Open Sauce Bold Italics"/>
                <a:sym typeface="Open Sauce Bold Italics"/>
              </a:rPr>
              <a:t>Da</a:t>
            </a:r>
            <a:r>
              <a:rPr lang="en-US" sz="2799" b="1" i="1" u="none" strike="noStrike">
                <a:solidFill>
                  <a:srgbClr val="000000"/>
                </a:solidFill>
                <a:latin typeface="Open Sauce Bold Italics"/>
                <a:ea typeface="Open Sauce Bold Italics"/>
                <a:cs typeface="Open Sauce Bold Italics"/>
                <a:sym typeface="Open Sauce Bold Italics"/>
              </a:rPr>
              <a:t>ta access is limited  </a:t>
            </a:r>
            <a:r>
              <a:rPr lang="en-US" sz="2799" u="none" strike="noStrike">
                <a:solidFill>
                  <a:srgbClr val="000000"/>
                </a:solidFill>
                <a:latin typeface="Open Sauce"/>
                <a:ea typeface="Open Sauce"/>
                <a:cs typeface="Open Sauce"/>
                <a:sym typeface="Open Sauce"/>
              </a:rPr>
              <a:t>      metadata is fragmented or poorly accessible, making large datasets slow to navigate and hard to analyze or share efficiently</a:t>
            </a:r>
          </a:p>
        </p:txBody>
      </p:sp>
      <p:sp>
        <p:nvSpPr>
          <p:cNvPr id="18" name="TextBox 18"/>
          <p:cNvSpPr txBox="1"/>
          <p:nvPr/>
        </p:nvSpPr>
        <p:spPr>
          <a:xfrm>
            <a:off x="6810680" y="7446968"/>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3</a:t>
            </a:r>
          </a:p>
        </p:txBody>
      </p:sp>
      <p:sp>
        <p:nvSpPr>
          <p:cNvPr id="19" name="TextBox 19"/>
          <p:cNvSpPr txBox="1"/>
          <p:nvPr/>
        </p:nvSpPr>
        <p:spPr>
          <a:xfrm>
            <a:off x="1166399" y="1233825"/>
            <a:ext cx="3822789"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Problems</a:t>
            </a:r>
          </a:p>
        </p:txBody>
      </p:sp>
      <p:sp>
        <p:nvSpPr>
          <p:cNvPr id="20" name="TextBox 20"/>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21" name="TextBox 21"/>
          <p:cNvSpPr txBox="1"/>
          <p:nvPr/>
        </p:nvSpPr>
        <p:spPr>
          <a:xfrm>
            <a:off x="9101286" y="4866322"/>
            <a:ext cx="85427" cy="459105"/>
          </a:xfrm>
          <a:prstGeom prst="rect">
            <a:avLst/>
          </a:prstGeom>
        </p:spPr>
        <p:txBody>
          <a:bodyPr lIns="0" tIns="0" rIns="0" bIns="0" rtlCol="0" anchor="t">
            <a:spAutoFit/>
          </a:bodyPr>
          <a:lstStyle/>
          <a:p>
            <a:pPr algn="ctr">
              <a:lnSpc>
                <a:spcPts val="3840"/>
              </a:lnSpc>
              <a:spcBef>
                <a:spcPct val="0"/>
              </a:spcBef>
            </a:pPr>
            <a:r>
              <a:rPr lang="en-US" sz="2400">
                <a:solidFill>
                  <a:srgbClr val="000000"/>
                </a:solidFill>
                <a:latin typeface="Open Sauce"/>
                <a:ea typeface="Open Sauce"/>
                <a:cs typeface="Open Sauce"/>
                <a:sym typeface="Open Sauce"/>
              </a:rPr>
              <a:t> </a:t>
            </a:r>
          </a:p>
        </p:txBody>
      </p:sp>
      <p:sp>
        <p:nvSpPr>
          <p:cNvPr id="22" name="AutoShape 22"/>
          <p:cNvSpPr/>
          <p:nvPr/>
        </p:nvSpPr>
        <p:spPr>
          <a:xfrm>
            <a:off x="14013047" y="4678573"/>
            <a:ext cx="492181" cy="0"/>
          </a:xfrm>
          <a:prstGeom prst="line">
            <a:avLst/>
          </a:prstGeom>
          <a:ln w="38100" cap="rnd">
            <a:solidFill>
              <a:srgbClr val="000000"/>
            </a:solidFill>
            <a:prstDash val="solid"/>
            <a:headEnd type="none" w="sm" len="sm"/>
            <a:tailEnd type="triangle" w="lg" len="med"/>
          </a:ln>
        </p:spPr>
        <p:txBody>
          <a:bodyPr/>
          <a:lstStyle/>
          <a:p>
            <a:endParaRPr lang="it-IT"/>
          </a:p>
        </p:txBody>
      </p:sp>
      <p:sp>
        <p:nvSpPr>
          <p:cNvPr id="23" name="AutoShape 23"/>
          <p:cNvSpPr/>
          <p:nvPr/>
        </p:nvSpPr>
        <p:spPr>
          <a:xfrm>
            <a:off x="12224757" y="7589843"/>
            <a:ext cx="492181" cy="0"/>
          </a:xfrm>
          <a:prstGeom prst="line">
            <a:avLst/>
          </a:prstGeom>
          <a:ln w="38100" cap="rnd">
            <a:solidFill>
              <a:srgbClr val="000000"/>
            </a:solidFill>
            <a:prstDash val="solid"/>
            <a:headEnd type="none" w="sm" len="sm"/>
            <a:tailEnd type="triangle" w="lg" len="med"/>
          </a:ln>
        </p:spPr>
        <p:txBody>
          <a:bodyPr/>
          <a:lstStyle/>
          <a:p>
            <a:endParaRPr lang="it-IT"/>
          </a:p>
        </p:txBody>
      </p:sp>
      <p:sp>
        <p:nvSpPr>
          <p:cNvPr id="24" name="AutoShape 24"/>
          <p:cNvSpPr/>
          <p:nvPr/>
        </p:nvSpPr>
        <p:spPr>
          <a:xfrm>
            <a:off x="14259137" y="3157874"/>
            <a:ext cx="492181" cy="0"/>
          </a:xfrm>
          <a:prstGeom prst="line">
            <a:avLst/>
          </a:prstGeom>
          <a:ln w="38100" cap="rnd">
            <a:solidFill>
              <a:srgbClr val="000000"/>
            </a:solidFill>
            <a:prstDash val="solid"/>
            <a:headEnd type="none" w="sm" len="sm"/>
            <a:tailEnd type="triangle" w="lg" len="med"/>
          </a:ln>
        </p:spPr>
        <p:txBody>
          <a:bodyPr/>
          <a:lstStyle/>
          <a:p>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grpSp>
        <p:nvGrpSpPr>
          <p:cNvPr id="3" name="Group 3"/>
          <p:cNvGrpSpPr/>
          <p:nvPr/>
        </p:nvGrpSpPr>
        <p:grpSpPr>
          <a:xfrm>
            <a:off x="1028700" y="3491019"/>
            <a:ext cx="3623869" cy="5026555"/>
            <a:chOff x="0" y="0"/>
            <a:chExt cx="3236939" cy="4489857"/>
          </a:xfrm>
        </p:grpSpPr>
        <p:sp>
          <p:nvSpPr>
            <p:cNvPr id="4" name="Freeform 4"/>
            <p:cNvSpPr/>
            <p:nvPr/>
          </p:nvSpPr>
          <p:spPr>
            <a:xfrm>
              <a:off x="0" y="0"/>
              <a:ext cx="3236939" cy="4489857"/>
            </a:xfrm>
            <a:custGeom>
              <a:avLst/>
              <a:gdLst/>
              <a:ahLst/>
              <a:cxnLst/>
              <a:rect l="l" t="t" r="r" b="b"/>
              <a:pathLst>
                <a:path w="3236939" h="4489857">
                  <a:moveTo>
                    <a:pt x="31890" y="0"/>
                  </a:moveTo>
                  <a:lnTo>
                    <a:pt x="3205050" y="0"/>
                  </a:lnTo>
                  <a:cubicBezTo>
                    <a:pt x="3222662" y="0"/>
                    <a:pt x="3236939" y="14278"/>
                    <a:pt x="3236939" y="31890"/>
                  </a:cubicBezTo>
                  <a:lnTo>
                    <a:pt x="3236939" y="4457967"/>
                  </a:lnTo>
                  <a:cubicBezTo>
                    <a:pt x="3236939" y="4475580"/>
                    <a:pt x="3222662" y="4489857"/>
                    <a:pt x="3205050" y="4489857"/>
                  </a:cubicBezTo>
                  <a:lnTo>
                    <a:pt x="31890" y="4489857"/>
                  </a:lnTo>
                  <a:cubicBezTo>
                    <a:pt x="14278" y="4489857"/>
                    <a:pt x="0" y="4475580"/>
                    <a:pt x="0" y="4457967"/>
                  </a:cubicBezTo>
                  <a:lnTo>
                    <a:pt x="0" y="31890"/>
                  </a:lnTo>
                  <a:cubicBezTo>
                    <a:pt x="0" y="14278"/>
                    <a:pt x="14278" y="0"/>
                    <a:pt x="31890" y="0"/>
                  </a:cubicBezTo>
                  <a:close/>
                </a:path>
              </a:pathLst>
            </a:custGeom>
            <a:solidFill>
              <a:srgbClr val="FFFFFF">
                <a:alpha val="49804"/>
              </a:srgbClr>
            </a:solidFill>
            <a:ln w="28575" cap="sq">
              <a:solidFill>
                <a:srgbClr val="000000">
                  <a:alpha val="49804"/>
                </a:srgbClr>
              </a:solidFill>
              <a:prstDash val="solid"/>
              <a:miter/>
            </a:ln>
          </p:spPr>
          <p:txBody>
            <a:bodyPr/>
            <a:lstStyle/>
            <a:p>
              <a:endParaRPr lang="it-IT"/>
            </a:p>
          </p:txBody>
        </p:sp>
        <p:sp>
          <p:nvSpPr>
            <p:cNvPr id="5" name="TextBox 5"/>
            <p:cNvSpPr txBox="1"/>
            <p:nvPr/>
          </p:nvSpPr>
          <p:spPr>
            <a:xfrm>
              <a:off x="0" y="-47625"/>
              <a:ext cx="3236939" cy="4537482"/>
            </a:xfrm>
            <a:prstGeom prst="rect">
              <a:avLst/>
            </a:prstGeom>
          </p:spPr>
          <p:txBody>
            <a:bodyPr lIns="50800" tIns="50800" rIns="50800" bIns="50800" rtlCol="0" anchor="ctr"/>
            <a:lstStyle/>
            <a:p>
              <a:pPr algn="r">
                <a:lnSpc>
                  <a:spcPts val="3359"/>
                </a:lnSpc>
              </a:pPr>
              <a:endParaRPr/>
            </a:p>
          </p:txBody>
        </p:sp>
      </p:grpSp>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grpSp>
        <p:nvGrpSpPr>
          <p:cNvPr id="7" name="Group 7"/>
          <p:cNvGrpSpPr/>
          <p:nvPr/>
        </p:nvGrpSpPr>
        <p:grpSpPr>
          <a:xfrm>
            <a:off x="5396492" y="3491019"/>
            <a:ext cx="3580318" cy="5026555"/>
            <a:chOff x="0" y="0"/>
            <a:chExt cx="3198038" cy="4489857"/>
          </a:xfrm>
        </p:grpSpPr>
        <p:sp>
          <p:nvSpPr>
            <p:cNvPr id="8" name="Freeform 8"/>
            <p:cNvSpPr/>
            <p:nvPr/>
          </p:nvSpPr>
          <p:spPr>
            <a:xfrm>
              <a:off x="0" y="0"/>
              <a:ext cx="3198038" cy="4489857"/>
            </a:xfrm>
            <a:custGeom>
              <a:avLst/>
              <a:gdLst/>
              <a:ahLst/>
              <a:cxnLst/>
              <a:rect l="l" t="t" r="r" b="b"/>
              <a:pathLst>
                <a:path w="3198038" h="4489857">
                  <a:moveTo>
                    <a:pt x="32278" y="0"/>
                  </a:moveTo>
                  <a:lnTo>
                    <a:pt x="3165761" y="0"/>
                  </a:lnTo>
                  <a:cubicBezTo>
                    <a:pt x="3174321" y="0"/>
                    <a:pt x="3182531" y="3401"/>
                    <a:pt x="3188584" y="9454"/>
                  </a:cubicBezTo>
                  <a:cubicBezTo>
                    <a:pt x="3194638" y="15507"/>
                    <a:pt x="3198038" y="23717"/>
                    <a:pt x="3198038" y="32278"/>
                  </a:cubicBezTo>
                  <a:lnTo>
                    <a:pt x="3198038" y="4457579"/>
                  </a:lnTo>
                  <a:cubicBezTo>
                    <a:pt x="3198038" y="4475406"/>
                    <a:pt x="3183587" y="4489857"/>
                    <a:pt x="3165761" y="4489857"/>
                  </a:cubicBezTo>
                  <a:lnTo>
                    <a:pt x="32278" y="4489857"/>
                  </a:lnTo>
                  <a:cubicBezTo>
                    <a:pt x="14451" y="4489857"/>
                    <a:pt x="0" y="4475406"/>
                    <a:pt x="0" y="4457579"/>
                  </a:cubicBezTo>
                  <a:lnTo>
                    <a:pt x="0" y="32278"/>
                  </a:lnTo>
                  <a:cubicBezTo>
                    <a:pt x="0" y="14451"/>
                    <a:pt x="14451" y="0"/>
                    <a:pt x="32278" y="0"/>
                  </a:cubicBezTo>
                  <a:close/>
                </a:path>
              </a:pathLst>
            </a:custGeom>
            <a:solidFill>
              <a:srgbClr val="FFFFFF">
                <a:alpha val="49804"/>
              </a:srgbClr>
            </a:solidFill>
            <a:ln w="28575" cap="sq">
              <a:solidFill>
                <a:srgbClr val="000000">
                  <a:alpha val="49804"/>
                </a:srgbClr>
              </a:solidFill>
              <a:prstDash val="solid"/>
              <a:miter/>
            </a:ln>
          </p:spPr>
          <p:txBody>
            <a:bodyPr/>
            <a:lstStyle/>
            <a:p>
              <a:endParaRPr lang="it-IT"/>
            </a:p>
          </p:txBody>
        </p:sp>
        <p:sp>
          <p:nvSpPr>
            <p:cNvPr id="9" name="TextBox 9"/>
            <p:cNvSpPr txBox="1"/>
            <p:nvPr/>
          </p:nvSpPr>
          <p:spPr>
            <a:xfrm>
              <a:off x="0" y="-47625"/>
              <a:ext cx="3198038" cy="4537482"/>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9720733" y="3491019"/>
            <a:ext cx="3325907" cy="5026555"/>
            <a:chOff x="0" y="0"/>
            <a:chExt cx="2970792" cy="4489857"/>
          </a:xfrm>
        </p:grpSpPr>
        <p:sp>
          <p:nvSpPr>
            <p:cNvPr id="11" name="Freeform 11"/>
            <p:cNvSpPr/>
            <p:nvPr/>
          </p:nvSpPr>
          <p:spPr>
            <a:xfrm>
              <a:off x="0" y="0"/>
              <a:ext cx="2970792" cy="4489857"/>
            </a:xfrm>
            <a:custGeom>
              <a:avLst/>
              <a:gdLst/>
              <a:ahLst/>
              <a:cxnLst/>
              <a:rect l="l" t="t" r="r" b="b"/>
              <a:pathLst>
                <a:path w="2970792" h="4489857">
                  <a:moveTo>
                    <a:pt x="34747" y="0"/>
                  </a:moveTo>
                  <a:lnTo>
                    <a:pt x="2936045" y="0"/>
                  </a:lnTo>
                  <a:cubicBezTo>
                    <a:pt x="2945261" y="0"/>
                    <a:pt x="2954099" y="3661"/>
                    <a:pt x="2960615" y="10177"/>
                  </a:cubicBezTo>
                  <a:cubicBezTo>
                    <a:pt x="2967131" y="16693"/>
                    <a:pt x="2970792" y="25531"/>
                    <a:pt x="2970792" y="34747"/>
                  </a:cubicBezTo>
                  <a:lnTo>
                    <a:pt x="2970792" y="4455111"/>
                  </a:lnTo>
                  <a:cubicBezTo>
                    <a:pt x="2970792" y="4474301"/>
                    <a:pt x="2955236" y="4489857"/>
                    <a:pt x="2936045" y="4489857"/>
                  </a:cubicBezTo>
                  <a:lnTo>
                    <a:pt x="34747" y="4489857"/>
                  </a:lnTo>
                  <a:cubicBezTo>
                    <a:pt x="15557" y="4489857"/>
                    <a:pt x="0" y="4474301"/>
                    <a:pt x="0" y="4455111"/>
                  </a:cubicBezTo>
                  <a:lnTo>
                    <a:pt x="0" y="34747"/>
                  </a:lnTo>
                  <a:cubicBezTo>
                    <a:pt x="0" y="15557"/>
                    <a:pt x="15557" y="0"/>
                    <a:pt x="34747" y="0"/>
                  </a:cubicBezTo>
                  <a:close/>
                </a:path>
              </a:pathLst>
            </a:custGeom>
            <a:solidFill>
              <a:srgbClr val="FFFFFF">
                <a:alpha val="49804"/>
              </a:srgbClr>
            </a:solidFill>
            <a:ln w="28575" cap="sq">
              <a:solidFill>
                <a:srgbClr val="000000">
                  <a:alpha val="49804"/>
                </a:srgbClr>
              </a:solidFill>
              <a:prstDash val="solid"/>
              <a:miter/>
            </a:ln>
          </p:spPr>
          <p:txBody>
            <a:bodyPr/>
            <a:lstStyle/>
            <a:p>
              <a:endParaRPr lang="it-IT"/>
            </a:p>
          </p:txBody>
        </p:sp>
        <p:sp>
          <p:nvSpPr>
            <p:cNvPr id="12" name="TextBox 12"/>
            <p:cNvSpPr txBox="1"/>
            <p:nvPr/>
          </p:nvSpPr>
          <p:spPr>
            <a:xfrm>
              <a:off x="0" y="-47625"/>
              <a:ext cx="2970792" cy="4537482"/>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13795694" y="3491019"/>
            <a:ext cx="3325907" cy="5026555"/>
            <a:chOff x="0" y="0"/>
            <a:chExt cx="2970792" cy="4489857"/>
          </a:xfrm>
        </p:grpSpPr>
        <p:sp>
          <p:nvSpPr>
            <p:cNvPr id="14" name="Freeform 14"/>
            <p:cNvSpPr/>
            <p:nvPr/>
          </p:nvSpPr>
          <p:spPr>
            <a:xfrm>
              <a:off x="0" y="0"/>
              <a:ext cx="2970792" cy="4489857"/>
            </a:xfrm>
            <a:custGeom>
              <a:avLst/>
              <a:gdLst/>
              <a:ahLst/>
              <a:cxnLst/>
              <a:rect l="l" t="t" r="r" b="b"/>
              <a:pathLst>
                <a:path w="2970792" h="4489857">
                  <a:moveTo>
                    <a:pt x="34747" y="0"/>
                  </a:moveTo>
                  <a:lnTo>
                    <a:pt x="2936045" y="0"/>
                  </a:lnTo>
                  <a:cubicBezTo>
                    <a:pt x="2945261" y="0"/>
                    <a:pt x="2954099" y="3661"/>
                    <a:pt x="2960615" y="10177"/>
                  </a:cubicBezTo>
                  <a:cubicBezTo>
                    <a:pt x="2967131" y="16693"/>
                    <a:pt x="2970792" y="25531"/>
                    <a:pt x="2970792" y="34747"/>
                  </a:cubicBezTo>
                  <a:lnTo>
                    <a:pt x="2970792" y="4455111"/>
                  </a:lnTo>
                  <a:cubicBezTo>
                    <a:pt x="2970792" y="4474301"/>
                    <a:pt x="2955236" y="4489857"/>
                    <a:pt x="2936045" y="4489857"/>
                  </a:cubicBezTo>
                  <a:lnTo>
                    <a:pt x="34747" y="4489857"/>
                  </a:lnTo>
                  <a:cubicBezTo>
                    <a:pt x="15557" y="4489857"/>
                    <a:pt x="0" y="4474301"/>
                    <a:pt x="0" y="4455111"/>
                  </a:cubicBezTo>
                  <a:lnTo>
                    <a:pt x="0" y="34747"/>
                  </a:lnTo>
                  <a:cubicBezTo>
                    <a:pt x="0" y="15557"/>
                    <a:pt x="15557" y="0"/>
                    <a:pt x="34747" y="0"/>
                  </a:cubicBezTo>
                  <a:close/>
                </a:path>
              </a:pathLst>
            </a:custGeom>
            <a:solidFill>
              <a:srgbClr val="FFFFFF">
                <a:alpha val="49804"/>
              </a:srgbClr>
            </a:solidFill>
            <a:ln w="28575" cap="sq">
              <a:solidFill>
                <a:srgbClr val="000000">
                  <a:alpha val="49804"/>
                </a:srgbClr>
              </a:solidFill>
              <a:prstDash val="solid"/>
              <a:miter/>
            </a:ln>
          </p:spPr>
          <p:txBody>
            <a:bodyPr/>
            <a:lstStyle/>
            <a:p>
              <a:endParaRPr lang="it-IT"/>
            </a:p>
          </p:txBody>
        </p:sp>
        <p:sp>
          <p:nvSpPr>
            <p:cNvPr id="15" name="TextBox 15"/>
            <p:cNvSpPr txBox="1"/>
            <p:nvPr/>
          </p:nvSpPr>
          <p:spPr>
            <a:xfrm>
              <a:off x="0" y="-47625"/>
              <a:ext cx="2970792" cy="4537482"/>
            </a:xfrm>
            <a:prstGeom prst="rect">
              <a:avLst/>
            </a:prstGeom>
          </p:spPr>
          <p:txBody>
            <a:bodyPr lIns="50800" tIns="50800" rIns="50800" bIns="50800" rtlCol="0" anchor="ctr"/>
            <a:lstStyle/>
            <a:p>
              <a:pPr algn="ctr">
                <a:lnSpc>
                  <a:spcPts val="3359"/>
                </a:lnSpc>
              </a:pPr>
              <a:endParaRPr/>
            </a:p>
          </p:txBody>
        </p:sp>
      </p:grpSp>
      <p:sp>
        <p:nvSpPr>
          <p:cNvPr id="16" name="Freeform 16"/>
          <p:cNvSpPr/>
          <p:nvPr/>
        </p:nvSpPr>
        <p:spPr>
          <a:xfrm>
            <a:off x="6496209" y="3930832"/>
            <a:ext cx="1380884" cy="1212668"/>
          </a:xfrm>
          <a:custGeom>
            <a:avLst/>
            <a:gdLst/>
            <a:ahLst/>
            <a:cxnLst/>
            <a:rect l="l" t="t" r="r" b="b"/>
            <a:pathLst>
              <a:path w="1380884" h="1212668">
                <a:moveTo>
                  <a:pt x="0" y="0"/>
                </a:moveTo>
                <a:lnTo>
                  <a:pt x="1380884" y="0"/>
                </a:lnTo>
                <a:lnTo>
                  <a:pt x="1380884" y="1212668"/>
                </a:lnTo>
                <a:lnTo>
                  <a:pt x="0" y="1212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7" name="Freeform 17"/>
          <p:cNvSpPr/>
          <p:nvPr/>
        </p:nvSpPr>
        <p:spPr>
          <a:xfrm>
            <a:off x="2273518" y="3930832"/>
            <a:ext cx="1197234" cy="1212668"/>
          </a:xfrm>
          <a:custGeom>
            <a:avLst/>
            <a:gdLst/>
            <a:ahLst/>
            <a:cxnLst/>
            <a:rect l="l" t="t" r="r" b="b"/>
            <a:pathLst>
              <a:path w="1197234" h="1212668">
                <a:moveTo>
                  <a:pt x="0" y="0"/>
                </a:moveTo>
                <a:lnTo>
                  <a:pt x="1197234" y="0"/>
                </a:lnTo>
                <a:lnTo>
                  <a:pt x="1197234" y="1212668"/>
                </a:lnTo>
                <a:lnTo>
                  <a:pt x="0" y="1212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8" name="Freeform 18"/>
          <p:cNvSpPr/>
          <p:nvPr/>
        </p:nvSpPr>
        <p:spPr>
          <a:xfrm>
            <a:off x="10777353" y="3930832"/>
            <a:ext cx="1212668" cy="1212668"/>
          </a:xfrm>
          <a:custGeom>
            <a:avLst/>
            <a:gdLst/>
            <a:ahLst/>
            <a:cxnLst/>
            <a:rect l="l" t="t" r="r" b="b"/>
            <a:pathLst>
              <a:path w="1212668" h="1212668">
                <a:moveTo>
                  <a:pt x="0" y="0"/>
                </a:moveTo>
                <a:lnTo>
                  <a:pt x="1212667" y="0"/>
                </a:lnTo>
                <a:lnTo>
                  <a:pt x="1212667" y="1212668"/>
                </a:lnTo>
                <a:lnTo>
                  <a:pt x="0" y="1212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it-IT"/>
          </a:p>
        </p:txBody>
      </p:sp>
      <p:sp>
        <p:nvSpPr>
          <p:cNvPr id="19" name="Freeform 19"/>
          <p:cNvSpPr/>
          <p:nvPr/>
        </p:nvSpPr>
        <p:spPr>
          <a:xfrm>
            <a:off x="14669269" y="3971684"/>
            <a:ext cx="1578758" cy="1130965"/>
          </a:xfrm>
          <a:custGeom>
            <a:avLst/>
            <a:gdLst/>
            <a:ahLst/>
            <a:cxnLst/>
            <a:rect l="l" t="t" r="r" b="b"/>
            <a:pathLst>
              <a:path w="1578758" h="1130965">
                <a:moveTo>
                  <a:pt x="0" y="0"/>
                </a:moveTo>
                <a:lnTo>
                  <a:pt x="1578758" y="0"/>
                </a:lnTo>
                <a:lnTo>
                  <a:pt x="1578758" y="1130965"/>
                </a:lnTo>
                <a:lnTo>
                  <a:pt x="0" y="113096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it-IT"/>
          </a:p>
        </p:txBody>
      </p:sp>
      <p:sp>
        <p:nvSpPr>
          <p:cNvPr id="20" name="TextBox 20"/>
          <p:cNvSpPr txBox="1"/>
          <p:nvPr/>
        </p:nvSpPr>
        <p:spPr>
          <a:xfrm>
            <a:off x="1166399" y="1233825"/>
            <a:ext cx="8554334"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Solution: MedIndex</a:t>
            </a:r>
          </a:p>
        </p:txBody>
      </p:sp>
      <p:sp>
        <p:nvSpPr>
          <p:cNvPr id="21" name="TextBox 21"/>
          <p:cNvSpPr txBox="1"/>
          <p:nvPr/>
        </p:nvSpPr>
        <p:spPr>
          <a:xfrm>
            <a:off x="1424103" y="5419570"/>
            <a:ext cx="2896064" cy="2781935"/>
          </a:xfrm>
          <a:prstGeom prst="rect">
            <a:avLst/>
          </a:prstGeom>
        </p:spPr>
        <p:txBody>
          <a:bodyPr lIns="0" tIns="0" rIns="0" bIns="0" rtlCol="0" anchor="t">
            <a:spAutoFit/>
          </a:bodyPr>
          <a:lstStyle/>
          <a:p>
            <a:pPr marL="0" lvl="0" indent="0" algn="ctr">
              <a:lnSpc>
                <a:spcPts val="4479"/>
              </a:lnSpc>
            </a:pPr>
            <a:r>
              <a:rPr lang="en-US" sz="2799" b="1">
                <a:solidFill>
                  <a:srgbClr val="000000"/>
                </a:solidFill>
                <a:latin typeface="Open Sauce Bold"/>
                <a:ea typeface="Open Sauce Bold"/>
                <a:cs typeface="Open Sauce Bold"/>
                <a:sym typeface="Open Sauce Bold"/>
              </a:rPr>
              <a:t>Uni</a:t>
            </a:r>
            <a:r>
              <a:rPr lang="en-US" sz="2799" b="1" u="none" strike="noStrike">
                <a:solidFill>
                  <a:srgbClr val="000000"/>
                </a:solidFill>
                <a:latin typeface="Open Sauce Bold"/>
                <a:ea typeface="Open Sauce Bold"/>
                <a:cs typeface="Open Sauce Bold"/>
                <a:sym typeface="Open Sauce Bold"/>
              </a:rPr>
              <a:t>fied integration of DICOM and NIfTI</a:t>
            </a:r>
            <a:r>
              <a:rPr lang="en-US" sz="2799" u="none" strike="noStrike">
                <a:solidFill>
                  <a:srgbClr val="000000"/>
                </a:solidFill>
                <a:latin typeface="Open Sauce"/>
                <a:ea typeface="Open Sauce"/>
                <a:cs typeface="Open Sauce"/>
                <a:sym typeface="Open Sauce"/>
              </a:rPr>
              <a:t> data and metadata</a:t>
            </a:r>
          </a:p>
        </p:txBody>
      </p:sp>
      <p:sp>
        <p:nvSpPr>
          <p:cNvPr id="22" name="TextBox 22"/>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
        <p:nvSpPr>
          <p:cNvPr id="23" name="TextBox 23"/>
          <p:cNvSpPr txBox="1"/>
          <p:nvPr/>
        </p:nvSpPr>
        <p:spPr>
          <a:xfrm>
            <a:off x="5650951" y="5419570"/>
            <a:ext cx="3071400" cy="2781935"/>
          </a:xfrm>
          <a:prstGeom prst="rect">
            <a:avLst/>
          </a:prstGeom>
        </p:spPr>
        <p:txBody>
          <a:bodyPr lIns="0" tIns="0" rIns="0" bIns="0" rtlCol="0" anchor="t">
            <a:spAutoFit/>
          </a:bodyPr>
          <a:lstStyle/>
          <a:p>
            <a:pPr marL="0" lvl="0" indent="0" algn="ctr">
              <a:lnSpc>
                <a:spcPts val="4479"/>
              </a:lnSpc>
            </a:pPr>
            <a:r>
              <a:rPr lang="en-US" sz="2799" b="1">
                <a:solidFill>
                  <a:srgbClr val="000000"/>
                </a:solidFill>
                <a:latin typeface="Open Sauce Bold"/>
                <a:ea typeface="Open Sauce Bold"/>
                <a:cs typeface="Open Sauce Bold"/>
                <a:sym typeface="Open Sauce Bold"/>
              </a:rPr>
              <a:t>Intuitive</a:t>
            </a:r>
            <a:r>
              <a:rPr lang="en-US" sz="2799" b="1" u="none" strike="noStrike">
                <a:solidFill>
                  <a:srgbClr val="000000"/>
                </a:solidFill>
                <a:latin typeface="Open Sauce Bold"/>
                <a:ea typeface="Open Sauce Bold"/>
                <a:cs typeface="Open Sauce Bold"/>
                <a:sym typeface="Open Sauce Bold"/>
              </a:rPr>
              <a:t> access </a:t>
            </a:r>
            <a:r>
              <a:rPr lang="en-US" sz="2799" u="none" strike="noStrike">
                <a:solidFill>
                  <a:srgbClr val="000000"/>
                </a:solidFill>
                <a:latin typeface="Open Sauce"/>
                <a:ea typeface="Open Sauce"/>
                <a:cs typeface="Open Sauce"/>
                <a:sym typeface="Open Sauce"/>
              </a:rPr>
              <a:t>to datasets and metadata through a </a:t>
            </a:r>
            <a:r>
              <a:rPr lang="en-US" sz="2799" b="1" u="none" strike="noStrike">
                <a:solidFill>
                  <a:srgbClr val="000000"/>
                </a:solidFill>
                <a:latin typeface="Open Sauce Bold"/>
                <a:ea typeface="Open Sauce Bold"/>
                <a:cs typeface="Open Sauce Bold"/>
                <a:sym typeface="Open Sauce Bold"/>
              </a:rPr>
              <a:t>user-friendly interface</a:t>
            </a:r>
            <a:r>
              <a:rPr lang="en-US" sz="2799" u="none" strike="noStrike">
                <a:solidFill>
                  <a:srgbClr val="000000"/>
                </a:solidFill>
                <a:latin typeface="Open Sauce"/>
                <a:ea typeface="Open Sauce"/>
                <a:cs typeface="Open Sauce"/>
                <a:sym typeface="Open Sauce"/>
              </a:rPr>
              <a:t>.</a:t>
            </a:r>
          </a:p>
        </p:txBody>
      </p:sp>
      <p:sp>
        <p:nvSpPr>
          <p:cNvPr id="24" name="TextBox 24"/>
          <p:cNvSpPr txBox="1"/>
          <p:nvPr/>
        </p:nvSpPr>
        <p:spPr>
          <a:xfrm>
            <a:off x="10001405" y="5419570"/>
            <a:ext cx="2764562" cy="2781935"/>
          </a:xfrm>
          <a:prstGeom prst="rect">
            <a:avLst/>
          </a:prstGeom>
        </p:spPr>
        <p:txBody>
          <a:bodyPr lIns="0" tIns="0" rIns="0" bIns="0" rtlCol="0" anchor="t">
            <a:spAutoFit/>
          </a:bodyPr>
          <a:lstStyle/>
          <a:p>
            <a:pPr marL="0" lvl="0" indent="0" algn="ctr">
              <a:lnSpc>
                <a:spcPts val="4479"/>
              </a:lnSpc>
            </a:pPr>
            <a:r>
              <a:rPr lang="en-US" sz="2799" b="1">
                <a:solidFill>
                  <a:srgbClr val="000000"/>
                </a:solidFill>
                <a:latin typeface="Open Sauce Bold"/>
                <a:ea typeface="Open Sauce Bold"/>
                <a:cs typeface="Open Sauce Bold"/>
                <a:sym typeface="Open Sauce Bold"/>
              </a:rPr>
              <a:t>Rea</a:t>
            </a:r>
            <a:r>
              <a:rPr lang="en-US" sz="2799" b="1" u="none" strike="noStrike">
                <a:solidFill>
                  <a:srgbClr val="000000"/>
                </a:solidFill>
                <a:latin typeface="Open Sauce Bold"/>
                <a:ea typeface="Open Sauce Bold"/>
                <a:cs typeface="Open Sauce Bold"/>
                <a:sym typeface="Open Sauce Bold"/>
              </a:rPr>
              <a:t>l-time dataset exploration</a:t>
            </a:r>
            <a:r>
              <a:rPr lang="en-US" sz="2799" u="none" strike="noStrike">
                <a:solidFill>
                  <a:srgbClr val="000000"/>
                </a:solidFill>
                <a:latin typeface="Open Sauce"/>
                <a:ea typeface="Open Sauce"/>
                <a:cs typeface="Open Sauce"/>
                <a:sym typeface="Open Sauce"/>
              </a:rPr>
              <a:t> without full data download.</a:t>
            </a:r>
          </a:p>
        </p:txBody>
      </p:sp>
      <p:sp>
        <p:nvSpPr>
          <p:cNvPr id="25" name="TextBox 25"/>
          <p:cNvSpPr txBox="1"/>
          <p:nvPr/>
        </p:nvSpPr>
        <p:spPr>
          <a:xfrm>
            <a:off x="14076367" y="5419570"/>
            <a:ext cx="2764562" cy="2781935"/>
          </a:xfrm>
          <a:prstGeom prst="rect">
            <a:avLst/>
          </a:prstGeom>
        </p:spPr>
        <p:txBody>
          <a:bodyPr lIns="0" tIns="0" rIns="0" bIns="0" rtlCol="0" anchor="t">
            <a:spAutoFit/>
          </a:bodyPr>
          <a:lstStyle/>
          <a:p>
            <a:pPr marL="0" lvl="0" indent="0" algn="ctr">
              <a:lnSpc>
                <a:spcPts val="4479"/>
              </a:lnSpc>
            </a:pPr>
            <a:r>
              <a:rPr lang="en-US" sz="2799" b="1">
                <a:solidFill>
                  <a:srgbClr val="000000"/>
                </a:solidFill>
                <a:latin typeface="Open Sauce Bold"/>
                <a:ea typeface="Open Sauce Bold"/>
                <a:cs typeface="Open Sauce Bold"/>
                <a:sym typeface="Open Sauce Bold"/>
              </a:rPr>
              <a:t>Me</a:t>
            </a:r>
            <a:r>
              <a:rPr lang="en-US" sz="2799" b="1" u="none" strike="noStrike">
                <a:solidFill>
                  <a:srgbClr val="000000"/>
                </a:solidFill>
                <a:latin typeface="Open Sauce Bold"/>
                <a:ea typeface="Open Sauce Bold"/>
                <a:cs typeface="Open Sauce Bold"/>
                <a:sym typeface="Open Sauce Bold"/>
              </a:rPr>
              <a:t>tadata standardization</a:t>
            </a:r>
            <a:r>
              <a:rPr lang="en-US" sz="2799" u="none" strike="noStrike">
                <a:solidFill>
                  <a:srgbClr val="000000"/>
                </a:solidFill>
                <a:latin typeface="Open Sauce"/>
                <a:ea typeface="Open Sauce"/>
                <a:cs typeface="Open Sauce"/>
                <a:sym typeface="Open Sauce"/>
              </a:rPr>
              <a:t> using </a:t>
            </a:r>
            <a:r>
              <a:rPr lang="en-US" sz="2799" b="1" u="none" strike="noStrike">
                <a:solidFill>
                  <a:srgbClr val="000000"/>
                </a:solidFill>
                <a:latin typeface="Open Sauce Bold"/>
                <a:ea typeface="Open Sauce Bold"/>
                <a:cs typeface="Open Sauce Bold"/>
                <a:sym typeface="Open Sauce Bold"/>
              </a:rPr>
              <a:t>SNOMED CT</a:t>
            </a:r>
            <a:r>
              <a:rPr lang="en-US" sz="2799" u="none" strike="noStrike">
                <a:solidFill>
                  <a:srgbClr val="000000"/>
                </a:solidFill>
                <a:latin typeface="Open Sauce"/>
                <a:ea typeface="Open Sauce"/>
                <a:cs typeface="Open Sauce"/>
                <a:sym typeface="Open Sauce"/>
              </a:rPr>
              <a:t> International vocabulary.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772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5630506" y="3937965"/>
            <a:ext cx="11480476" cy="2472055"/>
          </a:xfrm>
          <a:prstGeom prst="rect">
            <a:avLst/>
          </a:prstGeom>
        </p:spPr>
        <p:txBody>
          <a:bodyPr lIns="0" tIns="0" rIns="0" bIns="0" rtlCol="0" anchor="t">
            <a:spAutoFit/>
          </a:bodyPr>
          <a:lstStyle/>
          <a:p>
            <a:pPr algn="l">
              <a:lnSpc>
                <a:spcPts val="3919"/>
              </a:lnSpc>
              <a:spcBef>
                <a:spcPct val="0"/>
              </a:spcBef>
            </a:pPr>
            <a:r>
              <a:rPr lang="en-US" sz="2799" b="1" i="1" spc="279" dirty="0">
                <a:solidFill>
                  <a:srgbClr val="000000"/>
                </a:solidFill>
                <a:latin typeface="Open Sauce Bold Italics"/>
                <a:ea typeface="Open Sauce Bold Italics"/>
                <a:cs typeface="Open Sauce Bold Italics"/>
                <a:sym typeface="Open Sauce Bold Italics"/>
              </a:rPr>
              <a:t>Metadata (Header)</a:t>
            </a:r>
            <a:r>
              <a:rPr lang="en-US" sz="2799" spc="279" dirty="0">
                <a:solidFill>
                  <a:srgbClr val="000000"/>
                </a:solidFill>
                <a:latin typeface="Open Sauce"/>
                <a:ea typeface="Open Sauce"/>
                <a:cs typeface="Open Sauce"/>
                <a:sym typeface="Open Sauce"/>
              </a:rPr>
              <a:t> – patient information, imaging modality, acquisition parameters, study and equipment information</a:t>
            </a:r>
          </a:p>
          <a:p>
            <a:pPr algn="ctr">
              <a:lnSpc>
                <a:spcPts val="3919"/>
              </a:lnSpc>
              <a:spcBef>
                <a:spcPct val="0"/>
              </a:spcBef>
            </a:pPr>
            <a:endParaRPr lang="en-US" sz="2799" spc="279" dirty="0">
              <a:solidFill>
                <a:srgbClr val="000000"/>
              </a:solidFill>
              <a:latin typeface="Open Sauce"/>
              <a:ea typeface="Open Sauce"/>
              <a:cs typeface="Open Sauce"/>
              <a:sym typeface="Open Sauce"/>
            </a:endParaRPr>
          </a:p>
          <a:p>
            <a:pPr algn="l">
              <a:lnSpc>
                <a:spcPts val="3919"/>
              </a:lnSpc>
              <a:spcBef>
                <a:spcPct val="0"/>
              </a:spcBef>
            </a:pPr>
            <a:r>
              <a:rPr lang="en-US" sz="2799" b="1" i="1" spc="279" dirty="0">
                <a:solidFill>
                  <a:srgbClr val="000000"/>
                </a:solidFill>
                <a:latin typeface="Open Sauce Bold Italics"/>
                <a:ea typeface="Open Sauce Bold Italics"/>
                <a:cs typeface="Open Sauce Bold Italics"/>
                <a:sym typeface="Open Sauce Bold Italics"/>
              </a:rPr>
              <a:t>Pixel Data</a:t>
            </a:r>
            <a:r>
              <a:rPr lang="en-US" sz="2799" spc="279" dirty="0">
                <a:solidFill>
                  <a:srgbClr val="000000"/>
                </a:solidFill>
                <a:latin typeface="Open Sauce"/>
                <a:ea typeface="Open Sauce"/>
                <a:cs typeface="Open Sauce"/>
                <a:sym typeface="Open Sauce"/>
              </a:rPr>
              <a:t> – the medical image itself </a:t>
            </a:r>
          </a:p>
        </p:txBody>
      </p:sp>
      <p:sp>
        <p:nvSpPr>
          <p:cNvPr id="5" name="TextBox 5"/>
          <p:cNvSpPr txBox="1"/>
          <p:nvPr/>
        </p:nvSpPr>
        <p:spPr>
          <a:xfrm>
            <a:off x="1166399" y="4737735"/>
            <a:ext cx="3601191" cy="8248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A DICOM FILE CONTAINS:</a:t>
            </a:r>
          </a:p>
        </p:txBody>
      </p:sp>
      <p:sp>
        <p:nvSpPr>
          <p:cNvPr id="6" name="AutoShape 6"/>
          <p:cNvSpPr/>
          <p:nvPr/>
        </p:nvSpPr>
        <p:spPr>
          <a:xfrm flipV="1">
            <a:off x="4341775" y="4417940"/>
            <a:ext cx="1058264" cy="707838"/>
          </a:xfrm>
          <a:prstGeom prst="line">
            <a:avLst/>
          </a:prstGeom>
          <a:ln w="38100" cap="flat">
            <a:solidFill>
              <a:srgbClr val="000000"/>
            </a:solidFill>
            <a:prstDash val="solid"/>
            <a:headEnd type="none" w="sm" len="sm"/>
            <a:tailEnd type="triangle" w="lg" len="med"/>
          </a:ln>
        </p:spPr>
        <p:txBody>
          <a:bodyPr/>
          <a:lstStyle/>
          <a:p>
            <a:endParaRPr lang="it-IT"/>
          </a:p>
        </p:txBody>
      </p:sp>
      <p:sp>
        <p:nvSpPr>
          <p:cNvPr id="7" name="AutoShape 7"/>
          <p:cNvSpPr/>
          <p:nvPr/>
        </p:nvSpPr>
        <p:spPr>
          <a:xfrm>
            <a:off x="4338601" y="5207330"/>
            <a:ext cx="1061438" cy="845529"/>
          </a:xfrm>
          <a:prstGeom prst="line">
            <a:avLst/>
          </a:prstGeom>
          <a:ln w="38100" cap="flat">
            <a:solidFill>
              <a:srgbClr val="000000"/>
            </a:solidFill>
            <a:prstDash val="solid"/>
            <a:headEnd type="none" w="sm" len="sm"/>
            <a:tailEnd type="triangle" w="lg" len="med"/>
          </a:ln>
        </p:spPr>
        <p:txBody>
          <a:bodyPr/>
          <a:lstStyle/>
          <a:p>
            <a:endParaRPr lang="it-IT"/>
          </a:p>
        </p:txBody>
      </p:sp>
      <p:sp>
        <p:nvSpPr>
          <p:cNvPr id="8" name="TextBox 8"/>
          <p:cNvSpPr txBox="1"/>
          <p:nvPr/>
        </p:nvSpPr>
        <p:spPr>
          <a:xfrm>
            <a:off x="1166399" y="7239335"/>
            <a:ext cx="3601191"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DATA HIERARCHY:</a:t>
            </a:r>
          </a:p>
        </p:txBody>
      </p:sp>
      <p:grpSp>
        <p:nvGrpSpPr>
          <p:cNvPr id="9" name="Group 9"/>
          <p:cNvGrpSpPr/>
          <p:nvPr/>
        </p:nvGrpSpPr>
        <p:grpSpPr>
          <a:xfrm>
            <a:off x="4767590" y="6963165"/>
            <a:ext cx="2084880" cy="1005729"/>
            <a:chOff x="0" y="0"/>
            <a:chExt cx="506456" cy="244310"/>
          </a:xfrm>
        </p:grpSpPr>
        <p:sp>
          <p:nvSpPr>
            <p:cNvPr id="10" name="Freeform 10"/>
            <p:cNvSpPr/>
            <p:nvPr/>
          </p:nvSpPr>
          <p:spPr>
            <a:xfrm>
              <a:off x="0" y="0"/>
              <a:ext cx="506456" cy="244310"/>
            </a:xfrm>
            <a:custGeom>
              <a:avLst/>
              <a:gdLst/>
              <a:ahLst/>
              <a:cxnLst/>
              <a:rect l="l" t="t" r="r" b="b"/>
              <a:pathLst>
                <a:path w="506456" h="244310">
                  <a:moveTo>
                    <a:pt x="122155" y="0"/>
                  </a:moveTo>
                  <a:lnTo>
                    <a:pt x="384301" y="0"/>
                  </a:lnTo>
                  <a:cubicBezTo>
                    <a:pt x="416698" y="0"/>
                    <a:pt x="447769" y="12870"/>
                    <a:pt x="470677" y="35778"/>
                  </a:cubicBezTo>
                  <a:cubicBezTo>
                    <a:pt x="493586" y="58687"/>
                    <a:pt x="506456" y="89758"/>
                    <a:pt x="506456" y="122155"/>
                  </a:cubicBezTo>
                  <a:lnTo>
                    <a:pt x="506456" y="122155"/>
                  </a:lnTo>
                  <a:cubicBezTo>
                    <a:pt x="506456" y="154553"/>
                    <a:pt x="493586" y="185623"/>
                    <a:pt x="470677" y="208532"/>
                  </a:cubicBezTo>
                  <a:cubicBezTo>
                    <a:pt x="447769" y="231440"/>
                    <a:pt x="416698" y="244310"/>
                    <a:pt x="384301" y="244310"/>
                  </a:cubicBezTo>
                  <a:lnTo>
                    <a:pt x="122155" y="244310"/>
                  </a:lnTo>
                  <a:cubicBezTo>
                    <a:pt x="89758" y="244310"/>
                    <a:pt x="58687" y="231440"/>
                    <a:pt x="35778" y="208532"/>
                  </a:cubicBezTo>
                  <a:cubicBezTo>
                    <a:pt x="12870" y="185623"/>
                    <a:pt x="0" y="154553"/>
                    <a:pt x="0" y="122155"/>
                  </a:cubicBezTo>
                  <a:lnTo>
                    <a:pt x="0" y="122155"/>
                  </a:lnTo>
                  <a:cubicBezTo>
                    <a:pt x="0" y="89758"/>
                    <a:pt x="12870" y="58687"/>
                    <a:pt x="35778" y="35778"/>
                  </a:cubicBezTo>
                  <a:cubicBezTo>
                    <a:pt x="58687" y="12870"/>
                    <a:pt x="89758" y="0"/>
                    <a:pt x="122155" y="0"/>
                  </a:cubicBezTo>
                  <a:close/>
                </a:path>
              </a:pathLst>
            </a:custGeom>
            <a:solidFill>
              <a:srgbClr val="FFFFFF">
                <a:alpha val="49804"/>
              </a:srgbClr>
            </a:solidFill>
            <a:ln w="28575" cap="rnd">
              <a:solidFill>
                <a:srgbClr val="000000">
                  <a:alpha val="49804"/>
                </a:srgbClr>
              </a:solidFill>
              <a:prstDash val="solid"/>
              <a:round/>
            </a:ln>
          </p:spPr>
          <p:txBody>
            <a:bodyPr/>
            <a:lstStyle/>
            <a:p>
              <a:endParaRPr lang="it-IT"/>
            </a:p>
          </p:txBody>
        </p:sp>
        <p:sp>
          <p:nvSpPr>
            <p:cNvPr id="11" name="TextBox 11"/>
            <p:cNvSpPr txBox="1"/>
            <p:nvPr/>
          </p:nvSpPr>
          <p:spPr>
            <a:xfrm>
              <a:off x="0" y="-47625"/>
              <a:ext cx="506456" cy="291935"/>
            </a:xfrm>
            <a:prstGeom prst="rect">
              <a:avLst/>
            </a:prstGeom>
          </p:spPr>
          <p:txBody>
            <a:bodyPr lIns="43106" tIns="43106" rIns="43106" bIns="43106" rtlCol="0" anchor="ctr"/>
            <a:lstStyle/>
            <a:p>
              <a:pPr algn="r">
                <a:lnSpc>
                  <a:spcPts val="3359"/>
                </a:lnSpc>
              </a:pPr>
              <a:endParaRPr/>
            </a:p>
          </p:txBody>
        </p:sp>
      </p:grpSp>
      <p:sp>
        <p:nvSpPr>
          <p:cNvPr id="12" name="AutoShape 12"/>
          <p:cNvSpPr/>
          <p:nvPr/>
        </p:nvSpPr>
        <p:spPr>
          <a:xfrm flipV="1">
            <a:off x="6864340" y="7466030"/>
            <a:ext cx="535431" cy="9181"/>
          </a:xfrm>
          <a:prstGeom prst="line">
            <a:avLst/>
          </a:prstGeom>
          <a:ln w="38100" cap="flat">
            <a:solidFill>
              <a:srgbClr val="000000"/>
            </a:solidFill>
            <a:prstDash val="solid"/>
            <a:headEnd type="none" w="sm" len="sm"/>
            <a:tailEnd type="triangle" w="lg" len="med"/>
          </a:ln>
        </p:spPr>
        <p:txBody>
          <a:bodyPr/>
          <a:lstStyle/>
          <a:p>
            <a:endParaRPr lang="it-IT"/>
          </a:p>
        </p:txBody>
      </p:sp>
      <p:grpSp>
        <p:nvGrpSpPr>
          <p:cNvPr id="13" name="Group 13"/>
          <p:cNvGrpSpPr/>
          <p:nvPr/>
        </p:nvGrpSpPr>
        <p:grpSpPr>
          <a:xfrm>
            <a:off x="7409622" y="6972346"/>
            <a:ext cx="2084880" cy="1005729"/>
            <a:chOff x="0" y="0"/>
            <a:chExt cx="506456" cy="244310"/>
          </a:xfrm>
        </p:grpSpPr>
        <p:sp>
          <p:nvSpPr>
            <p:cNvPr id="14" name="Freeform 14"/>
            <p:cNvSpPr/>
            <p:nvPr/>
          </p:nvSpPr>
          <p:spPr>
            <a:xfrm>
              <a:off x="0" y="0"/>
              <a:ext cx="506456" cy="244310"/>
            </a:xfrm>
            <a:custGeom>
              <a:avLst/>
              <a:gdLst/>
              <a:ahLst/>
              <a:cxnLst/>
              <a:rect l="l" t="t" r="r" b="b"/>
              <a:pathLst>
                <a:path w="506456" h="244310">
                  <a:moveTo>
                    <a:pt x="122155" y="0"/>
                  </a:moveTo>
                  <a:lnTo>
                    <a:pt x="384301" y="0"/>
                  </a:lnTo>
                  <a:cubicBezTo>
                    <a:pt x="416698" y="0"/>
                    <a:pt x="447769" y="12870"/>
                    <a:pt x="470677" y="35778"/>
                  </a:cubicBezTo>
                  <a:cubicBezTo>
                    <a:pt x="493586" y="58687"/>
                    <a:pt x="506456" y="89758"/>
                    <a:pt x="506456" y="122155"/>
                  </a:cubicBezTo>
                  <a:lnTo>
                    <a:pt x="506456" y="122155"/>
                  </a:lnTo>
                  <a:cubicBezTo>
                    <a:pt x="506456" y="154553"/>
                    <a:pt x="493586" y="185623"/>
                    <a:pt x="470677" y="208532"/>
                  </a:cubicBezTo>
                  <a:cubicBezTo>
                    <a:pt x="447769" y="231440"/>
                    <a:pt x="416698" y="244310"/>
                    <a:pt x="384301" y="244310"/>
                  </a:cubicBezTo>
                  <a:lnTo>
                    <a:pt x="122155" y="244310"/>
                  </a:lnTo>
                  <a:cubicBezTo>
                    <a:pt x="89758" y="244310"/>
                    <a:pt x="58687" y="231440"/>
                    <a:pt x="35778" y="208532"/>
                  </a:cubicBezTo>
                  <a:cubicBezTo>
                    <a:pt x="12870" y="185623"/>
                    <a:pt x="0" y="154553"/>
                    <a:pt x="0" y="122155"/>
                  </a:cubicBezTo>
                  <a:lnTo>
                    <a:pt x="0" y="122155"/>
                  </a:lnTo>
                  <a:cubicBezTo>
                    <a:pt x="0" y="89758"/>
                    <a:pt x="12870" y="58687"/>
                    <a:pt x="35778" y="35778"/>
                  </a:cubicBezTo>
                  <a:cubicBezTo>
                    <a:pt x="58687" y="12870"/>
                    <a:pt x="89758" y="0"/>
                    <a:pt x="122155" y="0"/>
                  </a:cubicBezTo>
                  <a:close/>
                </a:path>
              </a:pathLst>
            </a:custGeom>
            <a:solidFill>
              <a:srgbClr val="FFFFFF">
                <a:alpha val="49804"/>
              </a:srgbClr>
            </a:solidFill>
            <a:ln w="28575" cap="rnd">
              <a:solidFill>
                <a:srgbClr val="000000">
                  <a:alpha val="49804"/>
                </a:srgbClr>
              </a:solidFill>
              <a:prstDash val="solid"/>
              <a:round/>
            </a:ln>
          </p:spPr>
          <p:txBody>
            <a:bodyPr/>
            <a:lstStyle/>
            <a:p>
              <a:endParaRPr lang="it-IT"/>
            </a:p>
          </p:txBody>
        </p:sp>
        <p:sp>
          <p:nvSpPr>
            <p:cNvPr id="15" name="TextBox 15"/>
            <p:cNvSpPr txBox="1"/>
            <p:nvPr/>
          </p:nvSpPr>
          <p:spPr>
            <a:xfrm>
              <a:off x="0" y="-47625"/>
              <a:ext cx="506456" cy="291935"/>
            </a:xfrm>
            <a:prstGeom prst="rect">
              <a:avLst/>
            </a:prstGeom>
          </p:spPr>
          <p:txBody>
            <a:bodyPr lIns="43106" tIns="43106" rIns="43106" bIns="43106" rtlCol="0" anchor="ctr"/>
            <a:lstStyle/>
            <a:p>
              <a:pPr algn="r">
                <a:lnSpc>
                  <a:spcPts val="3359"/>
                </a:lnSpc>
              </a:pPr>
              <a:endParaRPr/>
            </a:p>
          </p:txBody>
        </p:sp>
      </p:grpSp>
      <p:sp>
        <p:nvSpPr>
          <p:cNvPr id="16" name="AutoShape 16"/>
          <p:cNvSpPr/>
          <p:nvPr/>
        </p:nvSpPr>
        <p:spPr>
          <a:xfrm flipV="1">
            <a:off x="9494829" y="7494258"/>
            <a:ext cx="535431" cy="9181"/>
          </a:xfrm>
          <a:prstGeom prst="line">
            <a:avLst/>
          </a:prstGeom>
          <a:ln w="38100" cap="flat">
            <a:solidFill>
              <a:srgbClr val="000000"/>
            </a:solidFill>
            <a:prstDash val="solid"/>
            <a:headEnd type="none" w="sm" len="sm"/>
            <a:tailEnd type="triangle" w="lg" len="med"/>
          </a:ln>
        </p:spPr>
        <p:txBody>
          <a:bodyPr/>
          <a:lstStyle/>
          <a:p>
            <a:endParaRPr lang="it-IT"/>
          </a:p>
        </p:txBody>
      </p:sp>
      <p:grpSp>
        <p:nvGrpSpPr>
          <p:cNvPr id="17" name="Group 17"/>
          <p:cNvGrpSpPr/>
          <p:nvPr/>
        </p:nvGrpSpPr>
        <p:grpSpPr>
          <a:xfrm>
            <a:off x="10040111" y="7000574"/>
            <a:ext cx="2084880" cy="1005729"/>
            <a:chOff x="0" y="0"/>
            <a:chExt cx="506456" cy="244310"/>
          </a:xfrm>
        </p:grpSpPr>
        <p:sp>
          <p:nvSpPr>
            <p:cNvPr id="18" name="Freeform 18"/>
            <p:cNvSpPr/>
            <p:nvPr/>
          </p:nvSpPr>
          <p:spPr>
            <a:xfrm>
              <a:off x="0" y="0"/>
              <a:ext cx="506456" cy="244310"/>
            </a:xfrm>
            <a:custGeom>
              <a:avLst/>
              <a:gdLst/>
              <a:ahLst/>
              <a:cxnLst/>
              <a:rect l="l" t="t" r="r" b="b"/>
              <a:pathLst>
                <a:path w="506456" h="244310">
                  <a:moveTo>
                    <a:pt x="122155" y="0"/>
                  </a:moveTo>
                  <a:lnTo>
                    <a:pt x="384301" y="0"/>
                  </a:lnTo>
                  <a:cubicBezTo>
                    <a:pt x="416698" y="0"/>
                    <a:pt x="447769" y="12870"/>
                    <a:pt x="470677" y="35778"/>
                  </a:cubicBezTo>
                  <a:cubicBezTo>
                    <a:pt x="493586" y="58687"/>
                    <a:pt x="506456" y="89758"/>
                    <a:pt x="506456" y="122155"/>
                  </a:cubicBezTo>
                  <a:lnTo>
                    <a:pt x="506456" y="122155"/>
                  </a:lnTo>
                  <a:cubicBezTo>
                    <a:pt x="506456" y="154553"/>
                    <a:pt x="493586" y="185623"/>
                    <a:pt x="470677" y="208532"/>
                  </a:cubicBezTo>
                  <a:cubicBezTo>
                    <a:pt x="447769" y="231440"/>
                    <a:pt x="416698" y="244310"/>
                    <a:pt x="384301" y="244310"/>
                  </a:cubicBezTo>
                  <a:lnTo>
                    <a:pt x="122155" y="244310"/>
                  </a:lnTo>
                  <a:cubicBezTo>
                    <a:pt x="89758" y="244310"/>
                    <a:pt x="58687" y="231440"/>
                    <a:pt x="35778" y="208532"/>
                  </a:cubicBezTo>
                  <a:cubicBezTo>
                    <a:pt x="12870" y="185623"/>
                    <a:pt x="0" y="154553"/>
                    <a:pt x="0" y="122155"/>
                  </a:cubicBezTo>
                  <a:lnTo>
                    <a:pt x="0" y="122155"/>
                  </a:lnTo>
                  <a:cubicBezTo>
                    <a:pt x="0" y="89758"/>
                    <a:pt x="12870" y="58687"/>
                    <a:pt x="35778" y="35778"/>
                  </a:cubicBezTo>
                  <a:cubicBezTo>
                    <a:pt x="58687" y="12870"/>
                    <a:pt x="89758" y="0"/>
                    <a:pt x="122155" y="0"/>
                  </a:cubicBezTo>
                  <a:close/>
                </a:path>
              </a:pathLst>
            </a:custGeom>
            <a:solidFill>
              <a:srgbClr val="FFFFFF">
                <a:alpha val="49804"/>
              </a:srgbClr>
            </a:solidFill>
            <a:ln w="28575" cap="rnd">
              <a:solidFill>
                <a:srgbClr val="000000">
                  <a:alpha val="49804"/>
                </a:srgbClr>
              </a:solidFill>
              <a:prstDash val="solid"/>
              <a:round/>
            </a:ln>
          </p:spPr>
          <p:txBody>
            <a:bodyPr/>
            <a:lstStyle/>
            <a:p>
              <a:endParaRPr lang="it-IT"/>
            </a:p>
          </p:txBody>
        </p:sp>
        <p:sp>
          <p:nvSpPr>
            <p:cNvPr id="19" name="TextBox 19"/>
            <p:cNvSpPr txBox="1"/>
            <p:nvPr/>
          </p:nvSpPr>
          <p:spPr>
            <a:xfrm>
              <a:off x="0" y="-47625"/>
              <a:ext cx="506456" cy="291935"/>
            </a:xfrm>
            <a:prstGeom prst="rect">
              <a:avLst/>
            </a:prstGeom>
          </p:spPr>
          <p:txBody>
            <a:bodyPr lIns="43106" tIns="43106" rIns="43106" bIns="43106" rtlCol="0" anchor="ctr"/>
            <a:lstStyle/>
            <a:p>
              <a:pPr algn="r">
                <a:lnSpc>
                  <a:spcPts val="3359"/>
                </a:lnSpc>
              </a:pPr>
              <a:endParaRPr/>
            </a:p>
          </p:txBody>
        </p:sp>
      </p:grpSp>
      <p:sp>
        <p:nvSpPr>
          <p:cNvPr id="20" name="AutoShape 20"/>
          <p:cNvSpPr/>
          <p:nvPr/>
        </p:nvSpPr>
        <p:spPr>
          <a:xfrm flipV="1">
            <a:off x="12134843" y="7522486"/>
            <a:ext cx="535431" cy="9181"/>
          </a:xfrm>
          <a:prstGeom prst="line">
            <a:avLst/>
          </a:prstGeom>
          <a:ln w="38100" cap="flat">
            <a:solidFill>
              <a:srgbClr val="000000"/>
            </a:solidFill>
            <a:prstDash val="solid"/>
            <a:headEnd type="none" w="sm" len="sm"/>
            <a:tailEnd type="triangle" w="lg" len="med"/>
          </a:ln>
        </p:spPr>
        <p:txBody>
          <a:bodyPr/>
          <a:lstStyle/>
          <a:p>
            <a:endParaRPr lang="it-IT"/>
          </a:p>
        </p:txBody>
      </p:sp>
      <p:grpSp>
        <p:nvGrpSpPr>
          <p:cNvPr id="21" name="Group 21"/>
          <p:cNvGrpSpPr/>
          <p:nvPr/>
        </p:nvGrpSpPr>
        <p:grpSpPr>
          <a:xfrm>
            <a:off x="12680125" y="7019622"/>
            <a:ext cx="2084880" cy="1005729"/>
            <a:chOff x="0" y="0"/>
            <a:chExt cx="506456" cy="244310"/>
          </a:xfrm>
        </p:grpSpPr>
        <p:sp>
          <p:nvSpPr>
            <p:cNvPr id="22" name="Freeform 22"/>
            <p:cNvSpPr/>
            <p:nvPr/>
          </p:nvSpPr>
          <p:spPr>
            <a:xfrm>
              <a:off x="0" y="0"/>
              <a:ext cx="506456" cy="244310"/>
            </a:xfrm>
            <a:custGeom>
              <a:avLst/>
              <a:gdLst/>
              <a:ahLst/>
              <a:cxnLst/>
              <a:rect l="l" t="t" r="r" b="b"/>
              <a:pathLst>
                <a:path w="506456" h="244310">
                  <a:moveTo>
                    <a:pt x="122155" y="0"/>
                  </a:moveTo>
                  <a:lnTo>
                    <a:pt x="384301" y="0"/>
                  </a:lnTo>
                  <a:cubicBezTo>
                    <a:pt x="416698" y="0"/>
                    <a:pt x="447769" y="12870"/>
                    <a:pt x="470677" y="35778"/>
                  </a:cubicBezTo>
                  <a:cubicBezTo>
                    <a:pt x="493586" y="58687"/>
                    <a:pt x="506456" y="89758"/>
                    <a:pt x="506456" y="122155"/>
                  </a:cubicBezTo>
                  <a:lnTo>
                    <a:pt x="506456" y="122155"/>
                  </a:lnTo>
                  <a:cubicBezTo>
                    <a:pt x="506456" y="154553"/>
                    <a:pt x="493586" y="185623"/>
                    <a:pt x="470677" y="208532"/>
                  </a:cubicBezTo>
                  <a:cubicBezTo>
                    <a:pt x="447769" y="231440"/>
                    <a:pt x="416698" y="244310"/>
                    <a:pt x="384301" y="244310"/>
                  </a:cubicBezTo>
                  <a:lnTo>
                    <a:pt x="122155" y="244310"/>
                  </a:lnTo>
                  <a:cubicBezTo>
                    <a:pt x="89758" y="244310"/>
                    <a:pt x="58687" y="231440"/>
                    <a:pt x="35778" y="208532"/>
                  </a:cubicBezTo>
                  <a:cubicBezTo>
                    <a:pt x="12870" y="185623"/>
                    <a:pt x="0" y="154553"/>
                    <a:pt x="0" y="122155"/>
                  </a:cubicBezTo>
                  <a:lnTo>
                    <a:pt x="0" y="122155"/>
                  </a:lnTo>
                  <a:cubicBezTo>
                    <a:pt x="0" y="89758"/>
                    <a:pt x="12870" y="58687"/>
                    <a:pt x="35778" y="35778"/>
                  </a:cubicBezTo>
                  <a:cubicBezTo>
                    <a:pt x="58687" y="12870"/>
                    <a:pt x="89758" y="0"/>
                    <a:pt x="122155" y="0"/>
                  </a:cubicBezTo>
                  <a:close/>
                </a:path>
              </a:pathLst>
            </a:custGeom>
            <a:solidFill>
              <a:srgbClr val="FFFFFF">
                <a:alpha val="49804"/>
              </a:srgbClr>
            </a:solidFill>
            <a:ln w="28575" cap="rnd">
              <a:solidFill>
                <a:srgbClr val="000000">
                  <a:alpha val="49804"/>
                </a:srgbClr>
              </a:solidFill>
              <a:prstDash val="solid"/>
              <a:round/>
            </a:ln>
          </p:spPr>
          <p:txBody>
            <a:bodyPr/>
            <a:lstStyle/>
            <a:p>
              <a:endParaRPr lang="it-IT"/>
            </a:p>
          </p:txBody>
        </p:sp>
        <p:sp>
          <p:nvSpPr>
            <p:cNvPr id="23" name="TextBox 23"/>
            <p:cNvSpPr txBox="1"/>
            <p:nvPr/>
          </p:nvSpPr>
          <p:spPr>
            <a:xfrm>
              <a:off x="0" y="-47625"/>
              <a:ext cx="506456" cy="291935"/>
            </a:xfrm>
            <a:prstGeom prst="rect">
              <a:avLst/>
            </a:prstGeom>
          </p:spPr>
          <p:txBody>
            <a:bodyPr lIns="43106" tIns="43106" rIns="43106" bIns="43106" rtlCol="0" anchor="ctr"/>
            <a:lstStyle/>
            <a:p>
              <a:pPr algn="r">
                <a:lnSpc>
                  <a:spcPts val="3359"/>
                </a:lnSpc>
              </a:pPr>
              <a:endParaRPr/>
            </a:p>
          </p:txBody>
        </p:sp>
      </p:grpSp>
      <p:sp>
        <p:nvSpPr>
          <p:cNvPr id="24" name="AutoShape 24"/>
          <p:cNvSpPr/>
          <p:nvPr/>
        </p:nvSpPr>
        <p:spPr>
          <a:xfrm flipH="1" flipV="1">
            <a:off x="2447032" y="7715529"/>
            <a:ext cx="0" cy="904181"/>
          </a:xfrm>
          <a:prstGeom prst="line">
            <a:avLst/>
          </a:prstGeom>
          <a:ln w="19050" cap="rnd">
            <a:solidFill>
              <a:srgbClr val="000000"/>
            </a:solidFill>
            <a:prstDash val="solid"/>
            <a:headEnd type="none" w="sm" len="sm"/>
            <a:tailEnd type="none" w="sm" len="sm"/>
          </a:ln>
        </p:spPr>
        <p:txBody>
          <a:bodyPr/>
          <a:lstStyle/>
          <a:p>
            <a:endParaRPr lang="it-IT"/>
          </a:p>
        </p:txBody>
      </p:sp>
      <p:sp>
        <p:nvSpPr>
          <p:cNvPr id="25" name="AutoShape 25"/>
          <p:cNvSpPr/>
          <p:nvPr/>
        </p:nvSpPr>
        <p:spPr>
          <a:xfrm>
            <a:off x="2456557" y="8619710"/>
            <a:ext cx="359970" cy="0"/>
          </a:xfrm>
          <a:prstGeom prst="line">
            <a:avLst/>
          </a:prstGeom>
          <a:ln w="19050" cap="rnd">
            <a:solidFill>
              <a:srgbClr val="000000"/>
            </a:solidFill>
            <a:prstDash val="solid"/>
            <a:headEnd type="none" w="sm" len="sm"/>
            <a:tailEnd type="triangle" w="lg" len="med"/>
          </a:ln>
        </p:spPr>
        <p:txBody>
          <a:bodyPr/>
          <a:lstStyle/>
          <a:p>
            <a:endParaRPr lang="it-IT"/>
          </a:p>
        </p:txBody>
      </p:sp>
      <p:sp>
        <p:nvSpPr>
          <p:cNvPr id="26" name="TextBox 26"/>
          <p:cNvSpPr txBox="1"/>
          <p:nvPr/>
        </p:nvSpPr>
        <p:spPr>
          <a:xfrm>
            <a:off x="1166399" y="1273769"/>
            <a:ext cx="2542217" cy="22186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DICOM </a:t>
            </a:r>
          </a:p>
        </p:txBody>
      </p:sp>
      <p:sp>
        <p:nvSpPr>
          <p:cNvPr id="27" name="TextBox 2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5</a:t>
            </a:r>
          </a:p>
        </p:txBody>
      </p:sp>
      <p:sp>
        <p:nvSpPr>
          <p:cNvPr id="28" name="TextBox 28"/>
          <p:cNvSpPr txBox="1"/>
          <p:nvPr/>
        </p:nvSpPr>
        <p:spPr>
          <a:xfrm>
            <a:off x="3385909" y="1436751"/>
            <a:ext cx="12217185" cy="788934"/>
          </a:xfrm>
          <a:prstGeom prst="rect">
            <a:avLst/>
          </a:prstGeom>
        </p:spPr>
        <p:txBody>
          <a:bodyPr wrap="square" lIns="0" tIns="0" rIns="0" bIns="0" rtlCol="0" anchor="t">
            <a:spAutoFit/>
          </a:bodyPr>
          <a:lstStyle/>
          <a:p>
            <a:pPr algn="ctr">
              <a:lnSpc>
                <a:spcPts val="6559"/>
              </a:lnSpc>
              <a:spcBef>
                <a:spcPct val="0"/>
              </a:spcBef>
            </a:pPr>
            <a:r>
              <a:rPr lang="en-US" sz="4099" i="1" dirty="0">
                <a:solidFill>
                  <a:srgbClr val="000000"/>
                </a:solidFill>
                <a:latin typeface="DM Serif Display Italics"/>
                <a:ea typeface="DM Serif Display Italics"/>
                <a:cs typeface="DM Serif Display Italics"/>
                <a:sym typeface="DM Serif Display Italics"/>
              </a:rPr>
              <a:t>(Digital Imaging and Communication in Medicine)</a:t>
            </a:r>
          </a:p>
        </p:txBody>
      </p:sp>
      <p:sp>
        <p:nvSpPr>
          <p:cNvPr id="29" name="TextBox 29"/>
          <p:cNvSpPr txBox="1"/>
          <p:nvPr/>
        </p:nvSpPr>
        <p:spPr>
          <a:xfrm>
            <a:off x="1166399" y="2590724"/>
            <a:ext cx="16092901" cy="976630"/>
          </a:xfrm>
          <a:prstGeom prst="rect">
            <a:avLst/>
          </a:prstGeom>
        </p:spPr>
        <p:txBody>
          <a:bodyPr lIns="0" tIns="0" rIns="0" bIns="0" rtlCol="0" anchor="t">
            <a:spAutoFit/>
          </a:bodyPr>
          <a:lstStyle/>
          <a:p>
            <a:pPr algn="l">
              <a:lnSpc>
                <a:spcPts val="3920"/>
              </a:lnSpc>
              <a:spcBef>
                <a:spcPct val="0"/>
              </a:spcBef>
            </a:pPr>
            <a:r>
              <a:rPr lang="en-US" sz="2800" i="1" spc="280">
                <a:solidFill>
                  <a:srgbClr val="000000"/>
                </a:solidFill>
                <a:latin typeface="Open Sauce Italics"/>
                <a:ea typeface="Open Sauce Italics"/>
                <a:cs typeface="Open Sauce Italics"/>
                <a:sym typeface="Open Sauce Italics"/>
              </a:rPr>
              <a:t>International standard for the storage, management, and transmission of medical imaging information.</a:t>
            </a:r>
          </a:p>
        </p:txBody>
      </p:sp>
      <p:sp>
        <p:nvSpPr>
          <p:cNvPr id="30" name="TextBox 30"/>
          <p:cNvSpPr txBox="1"/>
          <p:nvPr/>
        </p:nvSpPr>
        <p:spPr>
          <a:xfrm>
            <a:off x="4767590" y="7191070"/>
            <a:ext cx="2084880" cy="481330"/>
          </a:xfrm>
          <a:prstGeom prst="rect">
            <a:avLst/>
          </a:prstGeom>
        </p:spPr>
        <p:txBody>
          <a:bodyPr lIns="0" tIns="0" rIns="0" bIns="0" rtlCol="0" anchor="t">
            <a:spAutoFit/>
          </a:bodyPr>
          <a:lstStyle/>
          <a:p>
            <a:pPr algn="ctr">
              <a:lnSpc>
                <a:spcPts val="3919"/>
              </a:lnSpc>
            </a:pPr>
            <a:r>
              <a:rPr lang="en-US" sz="2799">
                <a:solidFill>
                  <a:srgbClr val="000000"/>
                </a:solidFill>
                <a:latin typeface="Open Sans"/>
                <a:ea typeface="Open Sans"/>
                <a:cs typeface="Open Sans"/>
                <a:sym typeface="Open Sans"/>
              </a:rPr>
              <a:t>Patient</a:t>
            </a:r>
          </a:p>
        </p:txBody>
      </p:sp>
      <p:sp>
        <p:nvSpPr>
          <p:cNvPr id="31" name="TextBox 31"/>
          <p:cNvSpPr txBox="1"/>
          <p:nvPr/>
        </p:nvSpPr>
        <p:spPr>
          <a:xfrm>
            <a:off x="7409622" y="7191070"/>
            <a:ext cx="2084880" cy="481330"/>
          </a:xfrm>
          <a:prstGeom prst="rect">
            <a:avLst/>
          </a:prstGeom>
        </p:spPr>
        <p:txBody>
          <a:bodyPr lIns="0" tIns="0" rIns="0" bIns="0" rtlCol="0" anchor="t">
            <a:spAutoFit/>
          </a:bodyPr>
          <a:lstStyle/>
          <a:p>
            <a:pPr algn="ctr">
              <a:lnSpc>
                <a:spcPts val="3919"/>
              </a:lnSpc>
            </a:pPr>
            <a:r>
              <a:rPr lang="en-US" sz="2799">
                <a:solidFill>
                  <a:srgbClr val="000000"/>
                </a:solidFill>
                <a:latin typeface="Open Sans"/>
                <a:ea typeface="Open Sans"/>
                <a:cs typeface="Open Sans"/>
                <a:sym typeface="Open Sans"/>
              </a:rPr>
              <a:t>Study</a:t>
            </a:r>
          </a:p>
        </p:txBody>
      </p:sp>
      <p:sp>
        <p:nvSpPr>
          <p:cNvPr id="32" name="TextBox 32"/>
          <p:cNvSpPr txBox="1"/>
          <p:nvPr/>
        </p:nvSpPr>
        <p:spPr>
          <a:xfrm>
            <a:off x="10040111" y="7196790"/>
            <a:ext cx="2084880" cy="481330"/>
          </a:xfrm>
          <a:prstGeom prst="rect">
            <a:avLst/>
          </a:prstGeom>
        </p:spPr>
        <p:txBody>
          <a:bodyPr lIns="0" tIns="0" rIns="0" bIns="0" rtlCol="0" anchor="t">
            <a:spAutoFit/>
          </a:bodyPr>
          <a:lstStyle/>
          <a:p>
            <a:pPr algn="ctr">
              <a:lnSpc>
                <a:spcPts val="3919"/>
              </a:lnSpc>
            </a:pPr>
            <a:r>
              <a:rPr lang="en-US" sz="2799">
                <a:solidFill>
                  <a:srgbClr val="000000"/>
                </a:solidFill>
                <a:latin typeface="Open Sans"/>
                <a:ea typeface="Open Sans"/>
                <a:cs typeface="Open Sans"/>
                <a:sym typeface="Open Sans"/>
              </a:rPr>
              <a:t>Series </a:t>
            </a:r>
          </a:p>
        </p:txBody>
      </p:sp>
      <p:sp>
        <p:nvSpPr>
          <p:cNvPr id="33" name="TextBox 33"/>
          <p:cNvSpPr txBox="1"/>
          <p:nvPr/>
        </p:nvSpPr>
        <p:spPr>
          <a:xfrm>
            <a:off x="12680125" y="7234199"/>
            <a:ext cx="2084880" cy="481330"/>
          </a:xfrm>
          <a:prstGeom prst="rect">
            <a:avLst/>
          </a:prstGeom>
        </p:spPr>
        <p:txBody>
          <a:bodyPr lIns="0" tIns="0" rIns="0" bIns="0" rtlCol="0" anchor="t">
            <a:spAutoFit/>
          </a:bodyPr>
          <a:lstStyle/>
          <a:p>
            <a:pPr algn="ctr">
              <a:lnSpc>
                <a:spcPts val="3919"/>
              </a:lnSpc>
            </a:pPr>
            <a:r>
              <a:rPr lang="en-US" sz="2799">
                <a:solidFill>
                  <a:srgbClr val="000000"/>
                </a:solidFill>
                <a:latin typeface="Open Sans"/>
                <a:ea typeface="Open Sans"/>
                <a:cs typeface="Open Sans"/>
                <a:sym typeface="Open Sans"/>
              </a:rPr>
              <a:t>Image</a:t>
            </a:r>
          </a:p>
        </p:txBody>
      </p:sp>
      <p:sp>
        <p:nvSpPr>
          <p:cNvPr id="34" name="TextBox 34"/>
          <p:cNvSpPr txBox="1"/>
          <p:nvPr/>
        </p:nvSpPr>
        <p:spPr>
          <a:xfrm>
            <a:off x="2966994" y="8402479"/>
            <a:ext cx="8903494" cy="396363"/>
          </a:xfrm>
          <a:prstGeom prst="rect">
            <a:avLst/>
          </a:prstGeom>
        </p:spPr>
        <p:txBody>
          <a:bodyPr lIns="0" tIns="0" rIns="0" bIns="0" rtlCol="0" anchor="t">
            <a:spAutoFit/>
          </a:bodyPr>
          <a:lstStyle/>
          <a:p>
            <a:pPr algn="ctr">
              <a:lnSpc>
                <a:spcPts val="3353"/>
              </a:lnSpc>
            </a:pPr>
            <a:r>
              <a:rPr lang="en-US" sz="2395">
                <a:solidFill>
                  <a:srgbClr val="000000"/>
                </a:solidFill>
                <a:latin typeface="Open Sans"/>
                <a:ea typeface="Open Sans"/>
                <a:cs typeface="Open Sans"/>
                <a:sym typeface="Open Sans"/>
              </a:rPr>
              <a:t>It enables structured storage; each level has a unique identifier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028700" y="2669193"/>
            <a:ext cx="12128766" cy="5805404"/>
          </a:xfrm>
          <a:prstGeom prst="rect">
            <a:avLst/>
          </a:prstGeom>
        </p:spPr>
        <p:txBody>
          <a:bodyPr lIns="0" tIns="0" rIns="0" bIns="0" rtlCol="0" anchor="t">
            <a:spAutoFit/>
          </a:bodyPr>
          <a:lstStyle/>
          <a:p>
            <a:pPr algn="ctr">
              <a:lnSpc>
                <a:spcPts val="4480"/>
              </a:lnSpc>
              <a:spcBef>
                <a:spcPct val="0"/>
              </a:spcBef>
            </a:pPr>
            <a:endParaRPr/>
          </a:p>
          <a:p>
            <a:pPr marL="604521" lvl="1" indent="-302261" algn="l">
              <a:lnSpc>
                <a:spcPts val="4480"/>
              </a:lnSpc>
              <a:spcBef>
                <a:spcPct val="0"/>
              </a:spcBef>
              <a:buFont typeface="Arial"/>
              <a:buChar char="•"/>
            </a:pPr>
            <a:r>
              <a:rPr lang="en-US" sz="2800">
                <a:solidFill>
                  <a:srgbClr val="000000"/>
                </a:solidFill>
                <a:latin typeface="Open Sauce"/>
                <a:ea typeface="Open Sauce"/>
                <a:cs typeface="Open Sauce"/>
                <a:sym typeface="Open Sauce"/>
              </a:rPr>
              <a:t>It was developed to </a:t>
            </a:r>
            <a:r>
              <a:rPr lang="en-US" sz="2800" b="1" i="1">
                <a:solidFill>
                  <a:srgbClr val="000000"/>
                </a:solidFill>
                <a:latin typeface="Open Sauce Bold Italics"/>
                <a:ea typeface="Open Sauce Bold Italics"/>
                <a:cs typeface="Open Sauce Bold Italics"/>
                <a:sym typeface="Open Sauce Bold Italics"/>
              </a:rPr>
              <a:t>simplify the storage and analysis of medical imaging data for research applications</a:t>
            </a:r>
            <a:r>
              <a:rPr lang="en-US" sz="2800">
                <a:solidFill>
                  <a:srgbClr val="000000"/>
                </a:solidFill>
                <a:latin typeface="Open Sauce"/>
                <a:ea typeface="Open Sauce"/>
                <a:cs typeface="Open Sauce"/>
                <a:sym typeface="Open Sauce"/>
              </a:rPr>
              <a:t>.</a:t>
            </a:r>
          </a:p>
          <a:p>
            <a:pPr algn="l">
              <a:lnSpc>
                <a:spcPts val="4480"/>
              </a:lnSpc>
              <a:spcBef>
                <a:spcPct val="0"/>
              </a:spcBef>
            </a:pPr>
            <a:endParaRPr lang="en-US" sz="2800">
              <a:solidFill>
                <a:srgbClr val="000000"/>
              </a:solidFill>
              <a:latin typeface="Open Sauce"/>
              <a:ea typeface="Open Sauce"/>
              <a:cs typeface="Open Sauce"/>
              <a:sym typeface="Open Sauce"/>
            </a:endParaRPr>
          </a:p>
          <a:p>
            <a:pPr marL="604521" lvl="1" indent="-302261" algn="l">
              <a:lnSpc>
                <a:spcPts val="4480"/>
              </a:lnSpc>
              <a:spcBef>
                <a:spcPct val="0"/>
              </a:spcBef>
              <a:buFont typeface="Arial"/>
              <a:buChar char="•"/>
            </a:pPr>
            <a:r>
              <a:rPr lang="en-US" sz="2800">
                <a:solidFill>
                  <a:srgbClr val="000000"/>
                </a:solidFill>
                <a:latin typeface="Open Sauce"/>
                <a:ea typeface="Open Sauce"/>
                <a:cs typeface="Open Sauce"/>
                <a:sym typeface="Open Sauce"/>
              </a:rPr>
              <a:t>It </a:t>
            </a:r>
            <a:r>
              <a:rPr lang="en-US" sz="2800" b="1" i="1">
                <a:solidFill>
                  <a:srgbClr val="000000"/>
                </a:solidFill>
                <a:latin typeface="Open Sauce Bold Italics"/>
                <a:ea typeface="Open Sauce Bold Italics"/>
                <a:cs typeface="Open Sauce Bold Italics"/>
                <a:sym typeface="Open Sauce Bold Italics"/>
              </a:rPr>
              <a:t>represents medical images as complete 3D or 4D volumes</a:t>
            </a:r>
            <a:r>
              <a:rPr lang="en-US" sz="2800">
                <a:solidFill>
                  <a:srgbClr val="000000"/>
                </a:solidFill>
                <a:latin typeface="Open Sauce"/>
                <a:ea typeface="Open Sauce"/>
                <a:cs typeface="Open Sauce"/>
                <a:sym typeface="Open Sauce"/>
              </a:rPr>
              <a:t>, enabling efficient quantitative and temporal analysis.</a:t>
            </a:r>
          </a:p>
          <a:p>
            <a:pPr algn="l">
              <a:lnSpc>
                <a:spcPts val="4480"/>
              </a:lnSpc>
              <a:spcBef>
                <a:spcPct val="0"/>
              </a:spcBef>
            </a:pPr>
            <a:endParaRPr lang="en-US" sz="2800">
              <a:solidFill>
                <a:srgbClr val="000000"/>
              </a:solidFill>
              <a:latin typeface="Open Sauce"/>
              <a:ea typeface="Open Sauce"/>
              <a:cs typeface="Open Sauce"/>
              <a:sym typeface="Open Sauce"/>
            </a:endParaRPr>
          </a:p>
          <a:p>
            <a:pPr marL="604521" lvl="1" indent="-302261" algn="l">
              <a:lnSpc>
                <a:spcPts val="4480"/>
              </a:lnSpc>
              <a:spcBef>
                <a:spcPct val="0"/>
              </a:spcBef>
              <a:buFont typeface="Arial"/>
              <a:buChar char="•"/>
            </a:pPr>
            <a:r>
              <a:rPr lang="en-US" sz="2800">
                <a:solidFill>
                  <a:srgbClr val="000000"/>
                </a:solidFill>
                <a:latin typeface="Open Sauce"/>
                <a:ea typeface="Open Sauce"/>
                <a:cs typeface="Open Sauce"/>
                <a:sym typeface="Open Sauce"/>
              </a:rPr>
              <a:t>It includes </a:t>
            </a:r>
            <a:r>
              <a:rPr lang="en-US" sz="2800" b="1" i="1">
                <a:solidFill>
                  <a:srgbClr val="000000"/>
                </a:solidFill>
                <a:latin typeface="Open Sauce Bold Italics"/>
                <a:ea typeface="Open Sauce Bold Italics"/>
                <a:cs typeface="Open Sauce Bold Italics"/>
                <a:sym typeface="Open Sauce Bold Italics"/>
              </a:rPr>
              <a:t>metadata</a:t>
            </a:r>
            <a:r>
              <a:rPr lang="en-US" sz="2800">
                <a:solidFill>
                  <a:srgbClr val="000000"/>
                </a:solidFill>
                <a:latin typeface="Open Sauce"/>
                <a:ea typeface="Open Sauce"/>
                <a:cs typeface="Open Sauce"/>
                <a:sym typeface="Open Sauce"/>
              </a:rPr>
              <a:t> describing voxel dimensions, spatial orientation, and anatomical positioning.</a:t>
            </a:r>
          </a:p>
          <a:p>
            <a:pPr algn="ctr">
              <a:lnSpc>
                <a:spcPts val="3025"/>
              </a:lnSpc>
              <a:spcBef>
                <a:spcPct val="0"/>
              </a:spcBef>
            </a:pPr>
            <a:endParaRPr lang="en-US" sz="2800">
              <a:solidFill>
                <a:srgbClr val="000000"/>
              </a:solidFill>
              <a:latin typeface="Open Sauce"/>
              <a:ea typeface="Open Sauce"/>
              <a:cs typeface="Open Sauce"/>
              <a:sym typeface="Open Sauce"/>
            </a:endParaRPr>
          </a:p>
          <a:p>
            <a:pPr algn="ctr">
              <a:lnSpc>
                <a:spcPts val="3025"/>
              </a:lnSpc>
              <a:spcBef>
                <a:spcPct val="0"/>
              </a:spcBef>
            </a:pPr>
            <a:endParaRPr lang="en-US" sz="2800">
              <a:solidFill>
                <a:srgbClr val="000000"/>
              </a:solidFill>
              <a:latin typeface="Open Sauce"/>
              <a:ea typeface="Open Sauce"/>
              <a:cs typeface="Open Sauce"/>
              <a:sym typeface="Open Sauce"/>
            </a:endParaRPr>
          </a:p>
        </p:txBody>
      </p:sp>
      <p:sp>
        <p:nvSpPr>
          <p:cNvPr id="5" name="Freeform 5"/>
          <p:cNvSpPr/>
          <p:nvPr/>
        </p:nvSpPr>
        <p:spPr>
          <a:xfrm>
            <a:off x="14255319" y="2297718"/>
            <a:ext cx="3003981" cy="3545239"/>
          </a:xfrm>
          <a:custGeom>
            <a:avLst/>
            <a:gdLst/>
            <a:ahLst/>
            <a:cxnLst/>
            <a:rect l="l" t="t" r="r" b="b"/>
            <a:pathLst>
              <a:path w="3003981" h="3545239">
                <a:moveTo>
                  <a:pt x="0" y="0"/>
                </a:moveTo>
                <a:lnTo>
                  <a:pt x="3003981" y="0"/>
                </a:lnTo>
                <a:lnTo>
                  <a:pt x="3003981" y="3545239"/>
                </a:lnTo>
                <a:lnTo>
                  <a:pt x="0" y="3545239"/>
                </a:lnTo>
                <a:lnTo>
                  <a:pt x="0" y="0"/>
                </a:lnTo>
                <a:close/>
              </a:path>
            </a:pathLst>
          </a:custGeom>
          <a:blipFill>
            <a:blip r:embed="rId3"/>
            <a:stretch>
              <a:fillRect/>
            </a:stretch>
          </a:blipFill>
        </p:spPr>
        <p:txBody>
          <a:bodyPr/>
          <a:lstStyle/>
          <a:p>
            <a:endParaRPr lang="it-IT"/>
          </a:p>
        </p:txBody>
      </p:sp>
      <p:sp>
        <p:nvSpPr>
          <p:cNvPr id="6" name="Freeform 6"/>
          <p:cNvSpPr/>
          <p:nvPr/>
        </p:nvSpPr>
        <p:spPr>
          <a:xfrm>
            <a:off x="11881777" y="5976307"/>
            <a:ext cx="3578698" cy="3075231"/>
          </a:xfrm>
          <a:custGeom>
            <a:avLst/>
            <a:gdLst/>
            <a:ahLst/>
            <a:cxnLst/>
            <a:rect l="l" t="t" r="r" b="b"/>
            <a:pathLst>
              <a:path w="3578698" h="3075231">
                <a:moveTo>
                  <a:pt x="0" y="0"/>
                </a:moveTo>
                <a:lnTo>
                  <a:pt x="3578697" y="0"/>
                </a:lnTo>
                <a:lnTo>
                  <a:pt x="3578697" y="3075231"/>
                </a:lnTo>
                <a:lnTo>
                  <a:pt x="0" y="3075231"/>
                </a:lnTo>
                <a:lnTo>
                  <a:pt x="0" y="0"/>
                </a:lnTo>
                <a:close/>
              </a:path>
            </a:pathLst>
          </a:custGeom>
          <a:blipFill>
            <a:blip r:embed="rId4"/>
            <a:stretch>
              <a:fillRect/>
            </a:stretch>
          </a:blipFill>
        </p:spPr>
        <p:txBody>
          <a:bodyPr/>
          <a:lstStyle/>
          <a:p>
            <a:endParaRPr lang="it-IT"/>
          </a:p>
        </p:txBody>
      </p:sp>
      <p:sp>
        <p:nvSpPr>
          <p:cNvPr id="7" name="TextBox 7"/>
          <p:cNvSpPr txBox="1"/>
          <p:nvPr/>
        </p:nvSpPr>
        <p:spPr>
          <a:xfrm>
            <a:off x="1166399" y="1212504"/>
            <a:ext cx="2079732" cy="1085214"/>
          </a:xfrm>
          <a:prstGeom prst="rect">
            <a:avLst/>
          </a:prstGeom>
        </p:spPr>
        <p:txBody>
          <a:bodyPr lIns="0" tIns="0" rIns="0" bIns="0" rtlCol="0" anchor="t">
            <a:spAutoFit/>
          </a:bodyPr>
          <a:lstStyle/>
          <a:p>
            <a:pPr algn="l">
              <a:lnSpc>
                <a:spcPts val="8960"/>
              </a:lnSpc>
            </a:pPr>
            <a:r>
              <a:rPr lang="en-US" sz="6400">
                <a:solidFill>
                  <a:srgbClr val="000000"/>
                </a:solidFill>
                <a:latin typeface="DM Serif Display"/>
                <a:ea typeface="DM Serif Display"/>
                <a:cs typeface="DM Serif Display"/>
                <a:sym typeface="DM Serif Display"/>
              </a:rPr>
              <a:t>NIfTI </a:t>
            </a:r>
          </a:p>
        </p:txBody>
      </p:sp>
      <p:sp>
        <p:nvSpPr>
          <p:cNvPr id="8" name="TextBox 8"/>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6</a:t>
            </a:r>
          </a:p>
        </p:txBody>
      </p:sp>
      <p:sp>
        <p:nvSpPr>
          <p:cNvPr id="9" name="TextBox 9"/>
          <p:cNvSpPr txBox="1"/>
          <p:nvPr/>
        </p:nvSpPr>
        <p:spPr>
          <a:xfrm>
            <a:off x="2743200" y="1360644"/>
            <a:ext cx="11689925" cy="788934"/>
          </a:xfrm>
          <a:prstGeom prst="rect">
            <a:avLst/>
          </a:prstGeom>
        </p:spPr>
        <p:txBody>
          <a:bodyPr wrap="square" lIns="0" tIns="0" rIns="0" bIns="0" rtlCol="0" anchor="t">
            <a:spAutoFit/>
          </a:bodyPr>
          <a:lstStyle/>
          <a:p>
            <a:pPr algn="ctr">
              <a:lnSpc>
                <a:spcPts val="6559"/>
              </a:lnSpc>
              <a:spcBef>
                <a:spcPct val="0"/>
              </a:spcBef>
            </a:pPr>
            <a:r>
              <a:rPr lang="en-US" sz="4099" i="1" dirty="0">
                <a:solidFill>
                  <a:srgbClr val="000000"/>
                </a:solidFill>
                <a:latin typeface="DM Serif Display Italics"/>
                <a:ea typeface="DM Serif Display Italics"/>
                <a:cs typeface="DM Serif Display Italics"/>
                <a:sym typeface="DM Serif Display Italics"/>
              </a:rPr>
              <a:t>(Neuroimaging Informatic Technology Initiative)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AutoShape 4"/>
          <p:cNvSpPr/>
          <p:nvPr/>
        </p:nvSpPr>
        <p:spPr>
          <a:xfrm flipH="1" flipV="1">
            <a:off x="9134475" y="2966335"/>
            <a:ext cx="9525" cy="6291965"/>
          </a:xfrm>
          <a:prstGeom prst="line">
            <a:avLst/>
          </a:prstGeom>
          <a:ln w="19050" cap="rnd">
            <a:solidFill>
              <a:srgbClr val="000000"/>
            </a:solidFill>
            <a:prstDash val="solid"/>
            <a:headEnd type="none" w="sm" len="sm"/>
            <a:tailEnd type="none" w="sm" len="sm"/>
          </a:ln>
        </p:spPr>
        <p:txBody>
          <a:bodyPr/>
          <a:lstStyle/>
          <a:p>
            <a:endParaRPr lang="it-IT"/>
          </a:p>
        </p:txBody>
      </p:sp>
      <p:sp>
        <p:nvSpPr>
          <p:cNvPr id="5" name="Freeform 5"/>
          <p:cNvSpPr/>
          <p:nvPr/>
        </p:nvSpPr>
        <p:spPr>
          <a:xfrm>
            <a:off x="2530050" y="6083300"/>
            <a:ext cx="2324587" cy="2367240"/>
          </a:xfrm>
          <a:custGeom>
            <a:avLst/>
            <a:gdLst/>
            <a:ahLst/>
            <a:cxnLst/>
            <a:rect l="l" t="t" r="r" b="b"/>
            <a:pathLst>
              <a:path w="2324587" h="2367240">
                <a:moveTo>
                  <a:pt x="0" y="0"/>
                </a:moveTo>
                <a:lnTo>
                  <a:pt x="2324587" y="0"/>
                </a:lnTo>
                <a:lnTo>
                  <a:pt x="2324587" y="2367240"/>
                </a:lnTo>
                <a:lnTo>
                  <a:pt x="0" y="2367240"/>
                </a:lnTo>
                <a:lnTo>
                  <a:pt x="0" y="0"/>
                </a:lnTo>
                <a:close/>
              </a:path>
            </a:pathLst>
          </a:custGeom>
          <a:blipFill>
            <a:blip r:embed="rId3"/>
            <a:stretch>
              <a:fillRect/>
            </a:stretch>
          </a:blipFill>
        </p:spPr>
        <p:txBody>
          <a:bodyPr/>
          <a:lstStyle/>
          <a:p>
            <a:endParaRPr lang="it-IT"/>
          </a:p>
        </p:txBody>
      </p:sp>
      <p:sp>
        <p:nvSpPr>
          <p:cNvPr id="6" name="Freeform 6"/>
          <p:cNvSpPr/>
          <p:nvPr/>
        </p:nvSpPr>
        <p:spPr>
          <a:xfrm>
            <a:off x="3695285" y="6445250"/>
            <a:ext cx="2318705" cy="2332974"/>
          </a:xfrm>
          <a:custGeom>
            <a:avLst/>
            <a:gdLst/>
            <a:ahLst/>
            <a:cxnLst/>
            <a:rect l="l" t="t" r="r" b="b"/>
            <a:pathLst>
              <a:path w="2318705" h="2332974">
                <a:moveTo>
                  <a:pt x="0" y="0"/>
                </a:moveTo>
                <a:lnTo>
                  <a:pt x="2318705" y="0"/>
                </a:lnTo>
                <a:lnTo>
                  <a:pt x="2318705" y="2332974"/>
                </a:lnTo>
                <a:lnTo>
                  <a:pt x="0" y="2332974"/>
                </a:lnTo>
                <a:lnTo>
                  <a:pt x="0" y="0"/>
                </a:lnTo>
                <a:close/>
              </a:path>
            </a:pathLst>
          </a:custGeom>
          <a:blipFill>
            <a:blip r:embed="rId4"/>
            <a:stretch>
              <a:fillRect/>
            </a:stretch>
          </a:blipFill>
        </p:spPr>
        <p:txBody>
          <a:bodyPr/>
          <a:lstStyle/>
          <a:p>
            <a:endParaRPr lang="it-IT"/>
          </a:p>
        </p:txBody>
      </p:sp>
      <p:sp>
        <p:nvSpPr>
          <p:cNvPr id="7" name="Freeform 7"/>
          <p:cNvSpPr/>
          <p:nvPr/>
        </p:nvSpPr>
        <p:spPr>
          <a:xfrm>
            <a:off x="4988831" y="6897106"/>
            <a:ext cx="2258945" cy="2283089"/>
          </a:xfrm>
          <a:custGeom>
            <a:avLst/>
            <a:gdLst/>
            <a:ahLst/>
            <a:cxnLst/>
            <a:rect l="l" t="t" r="r" b="b"/>
            <a:pathLst>
              <a:path w="2258945" h="2283089">
                <a:moveTo>
                  <a:pt x="0" y="0"/>
                </a:moveTo>
                <a:lnTo>
                  <a:pt x="2258945" y="0"/>
                </a:lnTo>
                <a:lnTo>
                  <a:pt x="2258945" y="2283089"/>
                </a:lnTo>
                <a:lnTo>
                  <a:pt x="0" y="2283089"/>
                </a:lnTo>
                <a:lnTo>
                  <a:pt x="0" y="0"/>
                </a:lnTo>
                <a:close/>
              </a:path>
            </a:pathLst>
          </a:custGeom>
          <a:blipFill>
            <a:blip r:embed="rId5"/>
            <a:stretch>
              <a:fillRect b="-3065"/>
            </a:stretch>
          </a:blipFill>
        </p:spPr>
        <p:txBody>
          <a:bodyPr/>
          <a:lstStyle/>
          <a:p>
            <a:endParaRPr lang="it-IT"/>
          </a:p>
        </p:txBody>
      </p:sp>
      <p:sp>
        <p:nvSpPr>
          <p:cNvPr id="8" name="Freeform 8"/>
          <p:cNvSpPr/>
          <p:nvPr/>
        </p:nvSpPr>
        <p:spPr>
          <a:xfrm>
            <a:off x="10954462" y="6083300"/>
            <a:ext cx="2165799" cy="2165799"/>
          </a:xfrm>
          <a:custGeom>
            <a:avLst/>
            <a:gdLst/>
            <a:ahLst/>
            <a:cxnLst/>
            <a:rect l="l" t="t" r="r" b="b"/>
            <a:pathLst>
              <a:path w="2165799" h="2165799">
                <a:moveTo>
                  <a:pt x="0" y="0"/>
                </a:moveTo>
                <a:lnTo>
                  <a:pt x="2165799" y="0"/>
                </a:lnTo>
                <a:lnTo>
                  <a:pt x="2165799" y="2165799"/>
                </a:lnTo>
                <a:lnTo>
                  <a:pt x="0" y="2165799"/>
                </a:lnTo>
                <a:lnTo>
                  <a:pt x="0" y="0"/>
                </a:lnTo>
                <a:close/>
              </a:path>
            </a:pathLst>
          </a:custGeom>
          <a:blipFill>
            <a:blip r:embed="rId6"/>
            <a:stretch>
              <a:fillRect/>
            </a:stretch>
          </a:blipFill>
        </p:spPr>
        <p:txBody>
          <a:bodyPr/>
          <a:lstStyle/>
          <a:p>
            <a:endParaRPr lang="it-IT"/>
          </a:p>
        </p:txBody>
      </p:sp>
      <p:sp>
        <p:nvSpPr>
          <p:cNvPr id="9" name="Freeform 9"/>
          <p:cNvSpPr/>
          <p:nvPr/>
        </p:nvSpPr>
        <p:spPr>
          <a:xfrm>
            <a:off x="12037361" y="6537307"/>
            <a:ext cx="2130120" cy="2148860"/>
          </a:xfrm>
          <a:custGeom>
            <a:avLst/>
            <a:gdLst/>
            <a:ahLst/>
            <a:cxnLst/>
            <a:rect l="l" t="t" r="r" b="b"/>
            <a:pathLst>
              <a:path w="2130120" h="2148860">
                <a:moveTo>
                  <a:pt x="0" y="0"/>
                </a:moveTo>
                <a:lnTo>
                  <a:pt x="2130120" y="0"/>
                </a:lnTo>
                <a:lnTo>
                  <a:pt x="2130120" y="2148860"/>
                </a:lnTo>
                <a:lnTo>
                  <a:pt x="0" y="2148860"/>
                </a:lnTo>
                <a:lnTo>
                  <a:pt x="0" y="0"/>
                </a:lnTo>
                <a:close/>
              </a:path>
            </a:pathLst>
          </a:custGeom>
          <a:blipFill>
            <a:blip r:embed="rId7"/>
            <a:stretch>
              <a:fillRect/>
            </a:stretch>
          </a:blipFill>
        </p:spPr>
        <p:txBody>
          <a:bodyPr/>
          <a:lstStyle/>
          <a:p>
            <a:endParaRPr lang="it-IT"/>
          </a:p>
        </p:txBody>
      </p:sp>
      <p:sp>
        <p:nvSpPr>
          <p:cNvPr id="10" name="Freeform 10"/>
          <p:cNvSpPr/>
          <p:nvPr/>
        </p:nvSpPr>
        <p:spPr>
          <a:xfrm>
            <a:off x="13581367" y="6964221"/>
            <a:ext cx="2096631" cy="2148860"/>
          </a:xfrm>
          <a:custGeom>
            <a:avLst/>
            <a:gdLst/>
            <a:ahLst/>
            <a:cxnLst/>
            <a:rect l="l" t="t" r="r" b="b"/>
            <a:pathLst>
              <a:path w="2096631" h="2148860">
                <a:moveTo>
                  <a:pt x="0" y="0"/>
                </a:moveTo>
                <a:lnTo>
                  <a:pt x="2096631" y="0"/>
                </a:lnTo>
                <a:lnTo>
                  <a:pt x="2096631" y="2148860"/>
                </a:lnTo>
                <a:lnTo>
                  <a:pt x="0" y="2148860"/>
                </a:lnTo>
                <a:lnTo>
                  <a:pt x="0" y="0"/>
                </a:lnTo>
                <a:close/>
              </a:path>
            </a:pathLst>
          </a:custGeom>
          <a:blipFill>
            <a:blip r:embed="rId8"/>
            <a:stretch>
              <a:fillRect/>
            </a:stretch>
          </a:blipFill>
        </p:spPr>
        <p:txBody>
          <a:bodyPr/>
          <a:lstStyle/>
          <a:p>
            <a:endParaRPr lang="it-IT"/>
          </a:p>
        </p:txBody>
      </p:sp>
      <p:sp>
        <p:nvSpPr>
          <p:cNvPr id="11" name="TextBox 11"/>
          <p:cNvSpPr txBox="1"/>
          <p:nvPr/>
        </p:nvSpPr>
        <p:spPr>
          <a:xfrm>
            <a:off x="1166399" y="1233825"/>
            <a:ext cx="7445029"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Proposed Datasets</a:t>
            </a:r>
          </a:p>
        </p:txBody>
      </p:sp>
      <p:sp>
        <p:nvSpPr>
          <p:cNvPr id="12" name="TextBox 12"/>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7</a:t>
            </a:r>
          </a:p>
        </p:txBody>
      </p:sp>
      <p:sp>
        <p:nvSpPr>
          <p:cNvPr id="13" name="TextBox 13"/>
          <p:cNvSpPr txBox="1"/>
          <p:nvPr/>
        </p:nvSpPr>
        <p:spPr>
          <a:xfrm>
            <a:off x="3429090" y="2590415"/>
            <a:ext cx="2851094" cy="618491"/>
          </a:xfrm>
          <a:prstGeom prst="rect">
            <a:avLst/>
          </a:prstGeom>
        </p:spPr>
        <p:txBody>
          <a:bodyPr lIns="0" tIns="0" rIns="0" bIns="0" rtlCol="0" anchor="t">
            <a:spAutoFit/>
          </a:bodyPr>
          <a:lstStyle/>
          <a:p>
            <a:pPr marL="0" lvl="0" indent="0" algn="l">
              <a:lnSpc>
                <a:spcPts val="5119"/>
              </a:lnSpc>
              <a:spcBef>
                <a:spcPct val="0"/>
              </a:spcBef>
            </a:pPr>
            <a:r>
              <a:rPr lang="en-US" sz="3199" b="1">
                <a:solidFill>
                  <a:srgbClr val="000000"/>
                </a:solidFill>
                <a:latin typeface="Open Sauce Bold"/>
                <a:ea typeface="Open Sauce Bold"/>
                <a:cs typeface="Open Sauce Bold"/>
                <a:sym typeface="Open Sauce Bold"/>
              </a:rPr>
              <a:t>CPTAC-LUAD</a:t>
            </a:r>
          </a:p>
        </p:txBody>
      </p:sp>
      <p:sp>
        <p:nvSpPr>
          <p:cNvPr id="14" name="TextBox 14"/>
          <p:cNvSpPr txBox="1"/>
          <p:nvPr/>
        </p:nvSpPr>
        <p:spPr>
          <a:xfrm>
            <a:off x="1166399" y="3494656"/>
            <a:ext cx="6230892" cy="2219960"/>
          </a:xfrm>
          <a:prstGeom prst="rect">
            <a:avLst/>
          </a:prstGeom>
        </p:spPr>
        <p:txBody>
          <a:bodyPr lIns="0" tIns="0" rIns="0" bIns="0" rtlCol="0" anchor="t">
            <a:spAutoFit/>
          </a:bodyPr>
          <a:lstStyle/>
          <a:p>
            <a:pPr marL="604519" lvl="1" indent="-302260" algn="l">
              <a:lnSpc>
                <a:spcPts val="4479"/>
              </a:lnSpc>
              <a:buFont typeface="Arial"/>
              <a:buChar char="•"/>
            </a:pPr>
            <a:r>
              <a:rPr lang="en-US" sz="2799" i="1">
                <a:solidFill>
                  <a:srgbClr val="000000"/>
                </a:solidFill>
                <a:latin typeface="Open Sauce Italics"/>
                <a:ea typeface="Open Sauce Italics"/>
                <a:cs typeface="Open Sauce Italics"/>
                <a:sym typeface="Open Sauce Italics"/>
              </a:rPr>
              <a:t>DICOM files</a:t>
            </a:r>
          </a:p>
          <a:p>
            <a:pPr marL="604519" lvl="1" indent="-302260" algn="l">
              <a:lnSpc>
                <a:spcPts val="4479"/>
              </a:lnSpc>
              <a:buFont typeface="Arial"/>
              <a:buChar char="•"/>
            </a:pPr>
            <a:r>
              <a:rPr lang="en-US" sz="2799">
                <a:solidFill>
                  <a:srgbClr val="000000"/>
                </a:solidFill>
                <a:latin typeface="Open Sauce"/>
                <a:ea typeface="Open Sauce"/>
                <a:cs typeface="Open Sauce"/>
                <a:sym typeface="Open Sauce"/>
              </a:rPr>
              <a:t>CT, PET and MRI of various patients diagnosed with Lung Adenocarcinoma</a:t>
            </a:r>
          </a:p>
        </p:txBody>
      </p:sp>
      <p:sp>
        <p:nvSpPr>
          <p:cNvPr id="15" name="TextBox 15"/>
          <p:cNvSpPr txBox="1"/>
          <p:nvPr/>
        </p:nvSpPr>
        <p:spPr>
          <a:xfrm>
            <a:off x="11755727" y="2590415"/>
            <a:ext cx="3830797" cy="618491"/>
          </a:xfrm>
          <a:prstGeom prst="rect">
            <a:avLst/>
          </a:prstGeom>
        </p:spPr>
        <p:txBody>
          <a:bodyPr lIns="0" tIns="0" rIns="0" bIns="0" rtlCol="0" anchor="t">
            <a:spAutoFit/>
          </a:bodyPr>
          <a:lstStyle/>
          <a:p>
            <a:pPr marL="0" lvl="0" indent="0" algn="l">
              <a:lnSpc>
                <a:spcPts val="5119"/>
              </a:lnSpc>
              <a:spcBef>
                <a:spcPct val="0"/>
              </a:spcBef>
            </a:pPr>
            <a:r>
              <a:rPr lang="en-US" sz="3199" b="1">
                <a:solidFill>
                  <a:srgbClr val="000000"/>
                </a:solidFill>
                <a:latin typeface="Open Sauce Bold"/>
                <a:ea typeface="Open Sauce Bold"/>
                <a:cs typeface="Open Sauce Bold"/>
                <a:sym typeface="Open Sauce Bold"/>
              </a:rPr>
              <a:t>BraTS-TCGA-GBM</a:t>
            </a:r>
          </a:p>
        </p:txBody>
      </p:sp>
      <p:sp>
        <p:nvSpPr>
          <p:cNvPr id="16" name="TextBox 16"/>
          <p:cNvSpPr txBox="1"/>
          <p:nvPr/>
        </p:nvSpPr>
        <p:spPr>
          <a:xfrm>
            <a:off x="9892393" y="3494656"/>
            <a:ext cx="6847674" cy="2219961"/>
          </a:xfrm>
          <a:prstGeom prst="rect">
            <a:avLst/>
          </a:prstGeom>
        </p:spPr>
        <p:txBody>
          <a:bodyPr lIns="0" tIns="0" rIns="0" bIns="0" rtlCol="0" anchor="t">
            <a:spAutoFit/>
          </a:bodyPr>
          <a:lstStyle/>
          <a:p>
            <a:pPr marL="604515" lvl="1" indent="-302257" algn="l">
              <a:lnSpc>
                <a:spcPts val="4479"/>
              </a:lnSpc>
              <a:buFont typeface="Arial"/>
              <a:buChar char="•"/>
            </a:pPr>
            <a:r>
              <a:rPr lang="en-US" sz="2799" i="1">
                <a:solidFill>
                  <a:srgbClr val="000000"/>
                </a:solidFill>
                <a:latin typeface="Open Sauce Italics"/>
                <a:ea typeface="Open Sauce Italics"/>
                <a:cs typeface="Open Sauce Italics"/>
                <a:sym typeface="Open Sauce Italics"/>
              </a:rPr>
              <a:t>NIfTI files</a:t>
            </a:r>
          </a:p>
          <a:p>
            <a:pPr marL="604515" lvl="1" indent="-302257" algn="l">
              <a:lnSpc>
                <a:spcPts val="4479"/>
              </a:lnSpc>
              <a:buFont typeface="Arial"/>
              <a:buChar char="•"/>
            </a:pPr>
            <a:r>
              <a:rPr lang="en-US" sz="2799">
                <a:solidFill>
                  <a:srgbClr val="000000"/>
                </a:solidFill>
                <a:latin typeface="Open Sauce"/>
                <a:ea typeface="Open Sauce"/>
                <a:cs typeface="Open Sauce"/>
                <a:sym typeface="Open Sauce"/>
              </a:rPr>
              <a:t>multiumodal MRI, expert tumour segmentations, and radiomic features for Glioblastoma research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0429424"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Management overview</a:t>
            </a:r>
          </a:p>
        </p:txBody>
      </p:sp>
      <p:sp>
        <p:nvSpPr>
          <p:cNvPr id="5" name="TextBox 5"/>
          <p:cNvSpPr txBox="1"/>
          <p:nvPr/>
        </p:nvSpPr>
        <p:spPr>
          <a:xfrm>
            <a:off x="13671125" y="9142095"/>
            <a:ext cx="3450476" cy="273660"/>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6" name="TextBox 6"/>
          <p:cNvSpPr txBox="1"/>
          <p:nvPr/>
        </p:nvSpPr>
        <p:spPr>
          <a:xfrm>
            <a:off x="1924993" y="2727749"/>
            <a:ext cx="1960252"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7ED957"/>
                </a:solidFill>
                <a:latin typeface="Open Sauce Bold"/>
                <a:ea typeface="Open Sauce Bold"/>
                <a:cs typeface="Open Sauce Bold"/>
                <a:sym typeface="Open Sauce Bold"/>
              </a:rPr>
              <a:t>Data sources</a:t>
            </a:r>
          </a:p>
        </p:txBody>
      </p:sp>
      <p:sp>
        <p:nvSpPr>
          <p:cNvPr id="7" name="AutoShape 7"/>
          <p:cNvSpPr/>
          <p:nvPr/>
        </p:nvSpPr>
        <p:spPr>
          <a:xfrm>
            <a:off x="1175924" y="5715000"/>
            <a:ext cx="15936153" cy="0"/>
          </a:xfrm>
          <a:prstGeom prst="line">
            <a:avLst/>
          </a:prstGeom>
          <a:ln w="38100" cap="flat">
            <a:solidFill>
              <a:srgbClr val="000000"/>
            </a:solidFill>
            <a:prstDash val="solid"/>
            <a:headEnd type="none" w="sm" len="sm"/>
            <a:tailEnd type="none" w="sm" len="sm"/>
          </a:ln>
        </p:spPr>
        <p:txBody>
          <a:bodyPr/>
          <a:lstStyle/>
          <a:p>
            <a:endParaRPr lang="it-IT"/>
          </a:p>
        </p:txBody>
      </p:sp>
      <p:sp>
        <p:nvSpPr>
          <p:cNvPr id="8" name="AutoShape 8"/>
          <p:cNvSpPr/>
          <p:nvPr/>
        </p:nvSpPr>
        <p:spPr>
          <a:xfrm>
            <a:off x="1747424" y="3785659"/>
            <a:ext cx="0" cy="1940701"/>
          </a:xfrm>
          <a:prstGeom prst="line">
            <a:avLst/>
          </a:prstGeom>
          <a:ln w="38100" cap="rnd">
            <a:solidFill>
              <a:srgbClr val="000000"/>
            </a:solidFill>
            <a:prstDash val="solid"/>
            <a:headEnd type="oval" w="lg" len="lg"/>
            <a:tailEnd type="none" w="sm" len="sm"/>
          </a:ln>
        </p:spPr>
        <p:txBody>
          <a:bodyPr/>
          <a:lstStyle/>
          <a:p>
            <a:endParaRPr lang="it-IT"/>
          </a:p>
        </p:txBody>
      </p:sp>
      <p:sp>
        <p:nvSpPr>
          <p:cNvPr id="9" name="TextBox 9"/>
          <p:cNvSpPr txBox="1"/>
          <p:nvPr/>
        </p:nvSpPr>
        <p:spPr>
          <a:xfrm>
            <a:off x="4041842" y="7200931"/>
            <a:ext cx="1683978"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7ED957"/>
                </a:solidFill>
                <a:latin typeface="Open Sauce Bold"/>
                <a:ea typeface="Open Sauce Bold"/>
                <a:cs typeface="Open Sauce Bold"/>
                <a:sym typeface="Open Sauce Bold"/>
              </a:rPr>
              <a:t>Data access</a:t>
            </a:r>
          </a:p>
        </p:txBody>
      </p:sp>
      <p:sp>
        <p:nvSpPr>
          <p:cNvPr id="10" name="AutoShape 10"/>
          <p:cNvSpPr/>
          <p:nvPr/>
        </p:nvSpPr>
        <p:spPr>
          <a:xfrm>
            <a:off x="3885245" y="5688189"/>
            <a:ext cx="0" cy="1940701"/>
          </a:xfrm>
          <a:prstGeom prst="line">
            <a:avLst/>
          </a:prstGeom>
          <a:ln w="38100" cap="rnd">
            <a:solidFill>
              <a:srgbClr val="000000"/>
            </a:solidFill>
            <a:prstDash val="solid"/>
            <a:headEnd type="none" w="sm" len="sm"/>
            <a:tailEnd type="oval" w="lg" len="lg"/>
          </a:ln>
        </p:spPr>
        <p:txBody>
          <a:bodyPr/>
          <a:lstStyle/>
          <a:p>
            <a:endParaRPr lang="it-IT"/>
          </a:p>
        </p:txBody>
      </p:sp>
      <p:sp>
        <p:nvSpPr>
          <p:cNvPr id="11" name="TextBox 11"/>
          <p:cNvSpPr txBox="1"/>
          <p:nvPr/>
        </p:nvSpPr>
        <p:spPr>
          <a:xfrm>
            <a:off x="6179663" y="2727749"/>
            <a:ext cx="2066680"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4AAD"/>
                </a:solidFill>
                <a:latin typeface="Open Sauce Bold"/>
                <a:ea typeface="Open Sauce Bold"/>
                <a:cs typeface="Open Sauce Bold"/>
                <a:sym typeface="Open Sauce Bold"/>
              </a:rPr>
              <a:t>Data modeling</a:t>
            </a:r>
          </a:p>
        </p:txBody>
      </p:sp>
      <p:sp>
        <p:nvSpPr>
          <p:cNvPr id="12" name="AutoShape 12"/>
          <p:cNvSpPr/>
          <p:nvPr/>
        </p:nvSpPr>
        <p:spPr>
          <a:xfrm>
            <a:off x="6023066" y="3785659"/>
            <a:ext cx="0" cy="1940701"/>
          </a:xfrm>
          <a:prstGeom prst="line">
            <a:avLst/>
          </a:prstGeom>
          <a:ln w="38100" cap="rnd">
            <a:solidFill>
              <a:srgbClr val="000000"/>
            </a:solidFill>
            <a:prstDash val="solid"/>
            <a:headEnd type="oval" w="lg" len="lg"/>
            <a:tailEnd type="none" w="sm" len="sm"/>
          </a:ln>
        </p:spPr>
        <p:txBody>
          <a:bodyPr/>
          <a:lstStyle/>
          <a:p>
            <a:endParaRPr lang="it-IT"/>
          </a:p>
        </p:txBody>
      </p:sp>
      <p:sp>
        <p:nvSpPr>
          <p:cNvPr id="13" name="TextBox 13"/>
          <p:cNvSpPr txBox="1"/>
          <p:nvPr/>
        </p:nvSpPr>
        <p:spPr>
          <a:xfrm>
            <a:off x="8246343" y="7200931"/>
            <a:ext cx="3168645"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7ED957"/>
                </a:solidFill>
                <a:latin typeface="Open Sauce Bold"/>
                <a:ea typeface="Open Sauce Bold"/>
                <a:cs typeface="Open Sauce Bold"/>
                <a:sym typeface="Open Sauce Bold"/>
              </a:rPr>
              <a:t>Data transformation</a:t>
            </a:r>
          </a:p>
        </p:txBody>
      </p:sp>
      <p:sp>
        <p:nvSpPr>
          <p:cNvPr id="14" name="AutoShape 14"/>
          <p:cNvSpPr/>
          <p:nvPr/>
        </p:nvSpPr>
        <p:spPr>
          <a:xfrm>
            <a:off x="8038816" y="5688189"/>
            <a:ext cx="0" cy="1940701"/>
          </a:xfrm>
          <a:prstGeom prst="line">
            <a:avLst/>
          </a:prstGeom>
          <a:ln w="38100" cap="rnd">
            <a:solidFill>
              <a:srgbClr val="000000"/>
            </a:solidFill>
            <a:prstDash val="solid"/>
            <a:headEnd type="none" w="sm" len="sm"/>
            <a:tailEnd type="oval" w="lg" len="lg"/>
          </a:ln>
        </p:spPr>
        <p:txBody>
          <a:bodyPr/>
          <a:lstStyle/>
          <a:p>
            <a:endParaRPr lang="it-IT"/>
          </a:p>
        </p:txBody>
      </p:sp>
      <p:sp>
        <p:nvSpPr>
          <p:cNvPr id="15" name="TextBox 15"/>
          <p:cNvSpPr txBox="1"/>
          <p:nvPr/>
        </p:nvSpPr>
        <p:spPr>
          <a:xfrm>
            <a:off x="10519154" y="2727749"/>
            <a:ext cx="2406447"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4AAD"/>
                </a:solidFill>
                <a:latin typeface="Open Sauce Bold"/>
                <a:ea typeface="Open Sauce Bold"/>
                <a:cs typeface="Open Sauce Bold"/>
                <a:sym typeface="Open Sauce Bold"/>
              </a:rPr>
              <a:t>Data exploration</a:t>
            </a:r>
          </a:p>
        </p:txBody>
      </p:sp>
      <p:sp>
        <p:nvSpPr>
          <p:cNvPr id="16" name="AutoShape 16"/>
          <p:cNvSpPr/>
          <p:nvPr/>
        </p:nvSpPr>
        <p:spPr>
          <a:xfrm>
            <a:off x="10377434" y="3774299"/>
            <a:ext cx="0" cy="1940701"/>
          </a:xfrm>
          <a:prstGeom prst="line">
            <a:avLst/>
          </a:prstGeom>
          <a:ln w="38100" cap="rnd">
            <a:solidFill>
              <a:srgbClr val="000000"/>
            </a:solidFill>
            <a:prstDash val="solid"/>
            <a:headEnd type="oval" w="lg" len="lg"/>
            <a:tailEnd type="none" w="sm" len="sm"/>
          </a:ln>
        </p:spPr>
        <p:txBody>
          <a:bodyPr/>
          <a:lstStyle/>
          <a:p>
            <a:endParaRPr lang="it-IT"/>
          </a:p>
        </p:txBody>
      </p:sp>
      <p:sp>
        <p:nvSpPr>
          <p:cNvPr id="17" name="TextBox 17"/>
          <p:cNvSpPr txBox="1"/>
          <p:nvPr/>
        </p:nvSpPr>
        <p:spPr>
          <a:xfrm>
            <a:off x="15401126" y="2727749"/>
            <a:ext cx="2624033"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7ED957"/>
                </a:solidFill>
                <a:latin typeface="Open Sauce Bold"/>
                <a:ea typeface="Open Sauce Bold"/>
                <a:cs typeface="Open Sauce Bold"/>
                <a:sym typeface="Open Sauce Bold"/>
              </a:rPr>
              <a:t>Data provisioning</a:t>
            </a:r>
          </a:p>
        </p:txBody>
      </p:sp>
      <p:sp>
        <p:nvSpPr>
          <p:cNvPr id="18" name="AutoShape 18"/>
          <p:cNvSpPr/>
          <p:nvPr/>
        </p:nvSpPr>
        <p:spPr>
          <a:xfrm>
            <a:off x="15201659" y="3747489"/>
            <a:ext cx="0" cy="1940701"/>
          </a:xfrm>
          <a:prstGeom prst="line">
            <a:avLst/>
          </a:prstGeom>
          <a:ln w="38100" cap="rnd">
            <a:solidFill>
              <a:srgbClr val="000000"/>
            </a:solidFill>
            <a:prstDash val="solid"/>
            <a:headEnd type="oval" w="lg" len="lg"/>
            <a:tailEnd type="none" w="sm" len="sm"/>
          </a:ln>
        </p:spPr>
        <p:txBody>
          <a:bodyPr/>
          <a:lstStyle/>
          <a:p>
            <a:endParaRPr lang="it-IT"/>
          </a:p>
        </p:txBody>
      </p:sp>
      <p:sp>
        <p:nvSpPr>
          <p:cNvPr id="19" name="TextBox 19"/>
          <p:cNvSpPr txBox="1"/>
          <p:nvPr/>
        </p:nvSpPr>
        <p:spPr>
          <a:xfrm>
            <a:off x="12925601" y="7200931"/>
            <a:ext cx="1818550"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7ED957"/>
                </a:solidFill>
                <a:latin typeface="Open Sauce Bold"/>
                <a:ea typeface="Open Sauce Bold"/>
                <a:cs typeface="Open Sauce Bold"/>
                <a:sym typeface="Open Sauce Bold"/>
              </a:rPr>
              <a:t>Data storage</a:t>
            </a:r>
          </a:p>
        </p:txBody>
      </p:sp>
      <p:sp>
        <p:nvSpPr>
          <p:cNvPr id="20" name="AutoShape 20"/>
          <p:cNvSpPr/>
          <p:nvPr/>
        </p:nvSpPr>
        <p:spPr>
          <a:xfrm>
            <a:off x="12716051" y="5688189"/>
            <a:ext cx="0" cy="1940701"/>
          </a:xfrm>
          <a:prstGeom prst="line">
            <a:avLst/>
          </a:prstGeom>
          <a:ln w="38100" cap="rnd">
            <a:solidFill>
              <a:srgbClr val="000000"/>
            </a:solidFill>
            <a:prstDash val="solid"/>
            <a:headEnd type="none" w="sm" len="sm"/>
            <a:tailEnd type="oval" w="lg" len="lg"/>
          </a:ln>
        </p:spPr>
        <p:txBody>
          <a:bodyPr/>
          <a:lstStyle/>
          <a:p>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graphicFrame>
        <p:nvGraphicFramePr>
          <p:cNvPr id="4" name="Object 4"/>
          <p:cNvGraphicFramePr/>
          <p:nvPr>
            <p:extLst>
              <p:ext uri="{D42A27DB-BD31-4B8C-83A1-F6EECF244321}">
                <p14:modId xmlns:p14="http://schemas.microsoft.com/office/powerpoint/2010/main" val="3264974490"/>
              </p:ext>
            </p:extLst>
          </p:nvPr>
        </p:nvGraphicFramePr>
        <p:xfrm>
          <a:off x="8273130" y="-495296"/>
          <a:ext cx="7977600" cy="11812970"/>
        </p:xfrm>
        <a:graphic>
          <a:graphicData uri="http://schemas.openxmlformats.org/presentationml/2006/ole">
            <mc:AlternateContent xmlns:mc="http://schemas.openxmlformats.org/markup-compatibility/2006">
              <mc:Choice xmlns:v="urn:schemas-microsoft-com:vml" Requires="v">
                <p:oleObj name="Worksheet" r:id="rId3" imgW="8115300" imgH="13068300" progId="Excel.Sheet.12">
                  <p:embed/>
                </p:oleObj>
              </mc:Choice>
              <mc:Fallback>
                <p:oleObj name="Worksheet" r:id="rId3" imgW="8115300" imgH="13068300" progId="Excel.Sheet.12">
                  <p:embed/>
                  <p:pic>
                    <p:nvPicPr>
                      <p:cNvPr id="0" name=""/>
                      <p:cNvPicPr/>
                      <p:nvPr/>
                    </p:nvPicPr>
                    <p:blipFill>
                      <a:blip r:embed="rId4"/>
                      <a:stretch>
                        <a:fillRect/>
                      </a:stretch>
                    </p:blipFill>
                    <p:spPr>
                      <a:xfrm>
                        <a:off x="8273130" y="-495296"/>
                        <a:ext cx="7977600" cy="11812970"/>
                      </a:xfrm>
                      <a:prstGeom prst="rect">
                        <a:avLst/>
                      </a:prstGeom>
                    </p:spPr>
                  </p:pic>
                </p:oleObj>
              </mc:Fallback>
            </mc:AlternateContent>
          </a:graphicData>
        </a:graphic>
      </p:graphicFrame>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9</a:t>
            </a:r>
          </a:p>
        </p:txBody>
      </p:sp>
      <p:sp>
        <p:nvSpPr>
          <p:cNvPr id="6" name="TextBox 6"/>
          <p:cNvSpPr txBox="1"/>
          <p:nvPr/>
        </p:nvSpPr>
        <p:spPr>
          <a:xfrm>
            <a:off x="1166399" y="3681065"/>
            <a:ext cx="7106731" cy="4939526"/>
          </a:xfrm>
          <a:prstGeom prst="rect">
            <a:avLst/>
          </a:prstGeom>
        </p:spPr>
        <p:txBody>
          <a:bodyPr lIns="0" tIns="0" rIns="0" bIns="0" rtlCol="0" anchor="t">
            <a:spAutoFit/>
          </a:bodyPr>
          <a:lstStyle/>
          <a:p>
            <a:pPr algn="just">
              <a:lnSpc>
                <a:spcPts val="3919"/>
              </a:lnSpc>
            </a:pPr>
            <a:r>
              <a:rPr lang="en-US" sz="2799" b="1">
                <a:solidFill>
                  <a:srgbClr val="000000"/>
                </a:solidFill>
                <a:latin typeface="Open Sans Bold"/>
                <a:ea typeface="Open Sans Bold"/>
                <a:cs typeface="Open Sans Bold"/>
                <a:sym typeface="Open Sans Bold"/>
              </a:rPr>
              <a:t>Remote data sources - TCIA archive</a:t>
            </a:r>
          </a:p>
          <a:p>
            <a:pPr algn="just">
              <a:lnSpc>
                <a:spcPts val="3919"/>
              </a:lnSpc>
            </a:pPr>
            <a:endParaRPr lang="en-US" sz="2799" b="1">
              <a:solidFill>
                <a:srgbClr val="000000"/>
              </a:solidFill>
              <a:latin typeface="Open Sans Bold"/>
              <a:ea typeface="Open Sans Bold"/>
              <a:cs typeface="Open Sans Bold"/>
              <a:sym typeface="Open Sans Bold"/>
            </a:endParaRPr>
          </a:p>
          <a:p>
            <a:pPr algn="just">
              <a:lnSpc>
                <a:spcPts val="3919"/>
              </a:lnSpc>
            </a:pPr>
            <a:r>
              <a:rPr lang="en-US" sz="2799">
                <a:solidFill>
                  <a:srgbClr val="000000"/>
                </a:solidFill>
                <a:latin typeface="Open Sans"/>
                <a:ea typeface="Open Sans"/>
                <a:cs typeface="Open Sans"/>
                <a:sym typeface="Open Sans"/>
              </a:rPr>
              <a:t>Metadata concerns:</a:t>
            </a:r>
          </a:p>
          <a:p>
            <a:pPr marL="604519" lvl="1" indent="-302260" algn="just">
              <a:lnSpc>
                <a:spcPts val="3919"/>
              </a:lnSpc>
              <a:buFont typeface="Arial"/>
              <a:buChar char="•"/>
            </a:pPr>
            <a:r>
              <a:rPr lang="en-US" sz="2799" i="1">
                <a:solidFill>
                  <a:srgbClr val="000000"/>
                </a:solidFill>
                <a:latin typeface="Open Sans Italics"/>
                <a:ea typeface="Open Sans Italics"/>
                <a:cs typeface="Open Sans Italics"/>
                <a:sym typeface="Open Sans Italics"/>
              </a:rPr>
              <a:t>Collections</a:t>
            </a:r>
          </a:p>
          <a:p>
            <a:pPr marL="604519" lvl="1" indent="-302260" algn="just">
              <a:lnSpc>
                <a:spcPts val="3919"/>
              </a:lnSpc>
              <a:buFont typeface="Arial"/>
              <a:buChar char="•"/>
            </a:pPr>
            <a:r>
              <a:rPr lang="en-US" sz="2799" i="1">
                <a:solidFill>
                  <a:srgbClr val="000000"/>
                </a:solidFill>
                <a:latin typeface="Open Sans Italics"/>
                <a:ea typeface="Open Sans Italics"/>
                <a:cs typeface="Open Sans Italics"/>
                <a:sym typeface="Open Sans Italics"/>
              </a:rPr>
              <a:t>Studies</a:t>
            </a:r>
          </a:p>
          <a:p>
            <a:pPr marL="604519" lvl="1" indent="-302260" algn="just">
              <a:lnSpc>
                <a:spcPts val="3919"/>
              </a:lnSpc>
              <a:buFont typeface="Arial"/>
              <a:buChar char="•"/>
            </a:pPr>
            <a:r>
              <a:rPr lang="en-US" sz="2799" i="1">
                <a:solidFill>
                  <a:srgbClr val="000000"/>
                </a:solidFill>
                <a:latin typeface="Open Sans Italics"/>
                <a:ea typeface="Open Sans Italics"/>
                <a:cs typeface="Open Sans Italics"/>
                <a:sym typeface="Open Sans Italics"/>
              </a:rPr>
              <a:t>Series</a:t>
            </a:r>
          </a:p>
          <a:p>
            <a:pPr marL="604519" lvl="1" indent="-302260" algn="just">
              <a:lnSpc>
                <a:spcPts val="3919"/>
              </a:lnSpc>
              <a:buFont typeface="Arial"/>
              <a:buChar char="•"/>
            </a:pPr>
            <a:r>
              <a:rPr lang="en-US" sz="2799" i="1">
                <a:solidFill>
                  <a:srgbClr val="000000"/>
                </a:solidFill>
                <a:latin typeface="Open Sans Italics"/>
                <a:ea typeface="Open Sans Italics"/>
                <a:cs typeface="Open Sans Italics"/>
                <a:sym typeface="Open Sans Italics"/>
              </a:rPr>
              <a:t>Patients</a:t>
            </a:r>
          </a:p>
          <a:p>
            <a:pPr algn="just">
              <a:lnSpc>
                <a:spcPts val="3919"/>
              </a:lnSpc>
            </a:pPr>
            <a:endParaRPr lang="en-US" sz="2799" i="1">
              <a:solidFill>
                <a:srgbClr val="000000"/>
              </a:solidFill>
              <a:latin typeface="Open Sans Italics"/>
              <a:ea typeface="Open Sans Italics"/>
              <a:cs typeface="Open Sans Italics"/>
              <a:sym typeface="Open Sans Italics"/>
            </a:endParaRPr>
          </a:p>
          <a:p>
            <a:pPr algn="just">
              <a:lnSpc>
                <a:spcPts val="3919"/>
              </a:lnSpc>
            </a:pPr>
            <a:r>
              <a:rPr lang="en-US" sz="2799">
                <a:solidFill>
                  <a:srgbClr val="000000"/>
                </a:solidFill>
                <a:latin typeface="Open Sans"/>
                <a:ea typeface="Open Sans"/>
                <a:cs typeface="Open Sans"/>
                <a:sym typeface="Open Sans"/>
              </a:rPr>
              <a:t>Metadata format: JSON API response</a:t>
            </a:r>
          </a:p>
          <a:p>
            <a:pPr algn="l">
              <a:lnSpc>
                <a:spcPts val="3919"/>
              </a:lnSpc>
            </a:pPr>
            <a:endParaRPr lang="en-US" sz="2799">
              <a:solidFill>
                <a:srgbClr val="000000"/>
              </a:solidFill>
              <a:latin typeface="Open Sans"/>
              <a:ea typeface="Open Sans"/>
              <a:cs typeface="Open Sans"/>
              <a:sym typeface="Open Sans"/>
            </a:endParaRPr>
          </a:p>
        </p:txBody>
      </p:sp>
      <p:sp>
        <p:nvSpPr>
          <p:cNvPr id="7" name="TextBox 7"/>
          <p:cNvSpPr txBox="1"/>
          <p:nvPr/>
        </p:nvSpPr>
        <p:spPr>
          <a:xfrm>
            <a:off x="1166399" y="1233825"/>
            <a:ext cx="5174733" cy="221864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sources: </a:t>
            </a:r>
          </a:p>
          <a:p>
            <a:pPr algn="l">
              <a:lnSpc>
                <a:spcPts val="8959"/>
              </a:lnSpc>
            </a:pPr>
            <a:r>
              <a:rPr lang="en-US" sz="6399">
                <a:solidFill>
                  <a:srgbClr val="000000"/>
                </a:solidFill>
                <a:latin typeface="DM Serif Display"/>
                <a:ea typeface="DM Serif Display"/>
                <a:cs typeface="DM Serif Display"/>
                <a:sym typeface="DM Serif Display"/>
              </a:rPr>
              <a:t>metadata</a:t>
            </a:r>
          </a:p>
        </p:txBody>
      </p:sp>
      <p:sp>
        <p:nvSpPr>
          <p:cNvPr id="8" name="TextBox 8"/>
          <p:cNvSpPr txBox="1"/>
          <p:nvPr/>
        </p:nvSpPr>
        <p:spPr>
          <a:xfrm>
            <a:off x="10507060" y="8847138"/>
            <a:ext cx="4224263" cy="431799"/>
          </a:xfrm>
          <a:prstGeom prst="rect">
            <a:avLst/>
          </a:prstGeom>
        </p:spPr>
        <p:txBody>
          <a:bodyPr lIns="0" tIns="0" rIns="0" bIns="0" rtlCol="0" anchor="t">
            <a:spAutoFit/>
          </a:bodyPr>
          <a:lstStyle/>
          <a:p>
            <a:pPr algn="ctr">
              <a:lnSpc>
                <a:spcPts val="3500"/>
              </a:lnSpc>
            </a:pPr>
            <a:r>
              <a:rPr lang="en-US" sz="2500" i="1" dirty="0">
                <a:solidFill>
                  <a:srgbClr val="000000"/>
                </a:solidFill>
                <a:latin typeface="Open Sans Italics"/>
                <a:ea typeface="Open Sans Italics"/>
                <a:cs typeface="Open Sans Italics"/>
                <a:sym typeface="Open Sans Italics"/>
              </a:rPr>
              <a:t>View of one series’ metadata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graphicFrame>
        <p:nvGraphicFramePr>
          <p:cNvPr id="4" name="Object 4"/>
          <p:cNvGraphicFramePr/>
          <p:nvPr>
            <p:extLst>
              <p:ext uri="{D42A27DB-BD31-4B8C-83A1-F6EECF244321}">
                <p14:modId xmlns:p14="http://schemas.microsoft.com/office/powerpoint/2010/main" val="2749881607"/>
              </p:ext>
            </p:extLst>
          </p:nvPr>
        </p:nvGraphicFramePr>
        <p:xfrm>
          <a:off x="5623869" y="723900"/>
          <a:ext cx="8549331" cy="11591679"/>
        </p:xfrm>
        <a:graphic>
          <a:graphicData uri="http://schemas.openxmlformats.org/presentationml/2006/ole">
            <mc:AlternateContent xmlns:mc="http://schemas.openxmlformats.org/markup-compatibility/2006">
              <mc:Choice xmlns:v="urn:schemas-microsoft-com:vml" Requires="v">
                <p:oleObj name="Worksheet" r:id="rId3" imgW="8928100" imgH="11887200" progId="Excel.Sheet.12">
                  <p:embed/>
                </p:oleObj>
              </mc:Choice>
              <mc:Fallback>
                <p:oleObj name="Worksheet" r:id="rId3" imgW="8928100" imgH="11887200" progId="Excel.Sheet.12">
                  <p:embed/>
                  <p:pic>
                    <p:nvPicPr>
                      <p:cNvPr id="0" name=""/>
                      <p:cNvPicPr/>
                      <p:nvPr/>
                    </p:nvPicPr>
                    <p:blipFill>
                      <a:blip r:embed="rId4"/>
                      <a:stretch>
                        <a:fillRect/>
                      </a:stretch>
                    </p:blipFill>
                    <p:spPr>
                      <a:xfrm>
                        <a:off x="5623869" y="723900"/>
                        <a:ext cx="8549331" cy="11591679"/>
                      </a:xfrm>
                      <a:prstGeom prst="rect">
                        <a:avLst/>
                      </a:prstGeom>
                    </p:spPr>
                  </p:pic>
                </p:oleObj>
              </mc:Fallback>
            </mc:AlternateContent>
          </a:graphicData>
        </a:graphic>
      </p:graphicFrame>
      <p:graphicFrame>
        <p:nvGraphicFramePr>
          <p:cNvPr id="5" name="Object 5"/>
          <p:cNvGraphicFramePr/>
          <p:nvPr>
            <p:extLst>
              <p:ext uri="{D42A27DB-BD31-4B8C-83A1-F6EECF244321}">
                <p14:modId xmlns:p14="http://schemas.microsoft.com/office/powerpoint/2010/main" val="3073123537"/>
              </p:ext>
            </p:extLst>
          </p:nvPr>
        </p:nvGraphicFramePr>
        <p:xfrm>
          <a:off x="10744200" y="-266700"/>
          <a:ext cx="10972800" cy="8796338"/>
        </p:xfrm>
        <a:graphic>
          <a:graphicData uri="http://schemas.openxmlformats.org/presentationml/2006/ole">
            <mc:AlternateContent xmlns:mc="http://schemas.openxmlformats.org/markup-compatibility/2006">
              <mc:Choice xmlns:v="urn:schemas-microsoft-com:vml" Requires="v">
                <p:oleObj name="Worksheet" r:id="rId5" imgW="12509500" imgH="9588500" progId="Excel.Sheet.12">
                  <p:embed/>
                </p:oleObj>
              </mc:Choice>
              <mc:Fallback>
                <p:oleObj name="Worksheet" r:id="rId5" imgW="12509500" imgH="9588500" progId="Excel.Sheet.12">
                  <p:embed/>
                  <p:pic>
                    <p:nvPicPr>
                      <p:cNvPr id="0" name=""/>
                      <p:cNvPicPr/>
                      <p:nvPr/>
                    </p:nvPicPr>
                    <p:blipFill>
                      <a:blip r:embed="rId6"/>
                      <a:stretch>
                        <a:fillRect/>
                      </a:stretch>
                    </p:blipFill>
                    <p:spPr>
                      <a:xfrm>
                        <a:off x="10744200" y="-266700"/>
                        <a:ext cx="10972800" cy="8796338"/>
                      </a:xfrm>
                      <a:prstGeom prst="rect">
                        <a:avLst/>
                      </a:prstGeom>
                    </p:spPr>
                  </p:pic>
                </p:oleObj>
              </mc:Fallback>
            </mc:AlternateContent>
          </a:graphicData>
        </a:graphic>
      </p:graphicFrame>
      <p:sp>
        <p:nvSpPr>
          <p:cNvPr id="6" name="TextBox 6"/>
          <p:cNvSpPr txBox="1"/>
          <p:nvPr/>
        </p:nvSpPr>
        <p:spPr>
          <a:xfrm>
            <a:off x="13671125" y="9142095"/>
            <a:ext cx="3450476" cy="273660"/>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10</a:t>
            </a:r>
          </a:p>
        </p:txBody>
      </p:sp>
      <p:sp>
        <p:nvSpPr>
          <p:cNvPr id="7" name="TextBox 7"/>
          <p:cNvSpPr txBox="1"/>
          <p:nvPr/>
        </p:nvSpPr>
        <p:spPr>
          <a:xfrm>
            <a:off x="1166399" y="1233825"/>
            <a:ext cx="11197417" cy="221864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sources: </a:t>
            </a:r>
          </a:p>
          <a:p>
            <a:pPr algn="l">
              <a:lnSpc>
                <a:spcPts val="8959"/>
              </a:lnSpc>
            </a:pPr>
            <a:r>
              <a:rPr lang="en-US" sz="6399">
                <a:solidFill>
                  <a:srgbClr val="000000"/>
                </a:solidFill>
                <a:latin typeface="DM Serif Display"/>
                <a:ea typeface="DM Serif Display"/>
                <a:cs typeface="DM Serif Display"/>
                <a:sym typeface="DM Serif Display"/>
              </a:rPr>
              <a:t>metadata</a:t>
            </a:r>
          </a:p>
        </p:txBody>
      </p:sp>
      <p:sp>
        <p:nvSpPr>
          <p:cNvPr id="8" name="TextBox 8"/>
          <p:cNvSpPr txBox="1"/>
          <p:nvPr/>
        </p:nvSpPr>
        <p:spPr>
          <a:xfrm>
            <a:off x="12664132" y="8094528"/>
            <a:ext cx="3561705" cy="869999"/>
          </a:xfrm>
          <a:prstGeom prst="rect">
            <a:avLst/>
          </a:prstGeom>
        </p:spPr>
        <p:txBody>
          <a:bodyPr lIns="0" tIns="0" rIns="0" bIns="0" rtlCol="0" anchor="t">
            <a:spAutoFit/>
          </a:bodyPr>
          <a:lstStyle/>
          <a:p>
            <a:pPr algn="ctr">
              <a:lnSpc>
                <a:spcPts val="3500"/>
              </a:lnSpc>
            </a:pPr>
            <a:r>
              <a:rPr lang="en-US" sz="2500" i="1" dirty="0">
                <a:solidFill>
                  <a:srgbClr val="000000"/>
                </a:solidFill>
                <a:latin typeface="Open Sans Italics"/>
                <a:ea typeface="Open Sans Italics"/>
                <a:cs typeface="Open Sans Italics"/>
                <a:sym typeface="Open Sans Italics"/>
              </a:rPr>
              <a:t>View of one record of the </a:t>
            </a:r>
          </a:p>
          <a:p>
            <a:pPr algn="l">
              <a:lnSpc>
                <a:spcPts val="3500"/>
              </a:lnSpc>
            </a:pPr>
            <a:r>
              <a:rPr lang="en-US" sz="2500" i="1" dirty="0">
                <a:solidFill>
                  <a:srgbClr val="000000"/>
                </a:solidFill>
                <a:latin typeface="Open Sans Italics"/>
                <a:ea typeface="Open Sans Italics"/>
                <a:cs typeface="Open Sans Italics"/>
                <a:sym typeface="Open Sans Italics"/>
              </a:rPr>
              <a:t>collection’s metadata</a:t>
            </a:r>
          </a:p>
        </p:txBody>
      </p:sp>
      <p:sp>
        <p:nvSpPr>
          <p:cNvPr id="9" name="TextBox 9"/>
          <p:cNvSpPr txBox="1"/>
          <p:nvPr/>
        </p:nvSpPr>
        <p:spPr>
          <a:xfrm>
            <a:off x="1058192" y="3823970"/>
            <a:ext cx="4809207" cy="4968989"/>
          </a:xfrm>
          <a:prstGeom prst="rect">
            <a:avLst/>
          </a:prstGeom>
        </p:spPr>
        <p:txBody>
          <a:bodyPr wrap="square" lIns="0" tIns="0" rIns="0" bIns="0" rtlCol="0" anchor="t">
            <a:spAutoFit/>
          </a:bodyPr>
          <a:lstStyle/>
          <a:p>
            <a:pPr algn="l">
              <a:lnSpc>
                <a:spcPts val="3920"/>
              </a:lnSpc>
            </a:pPr>
            <a:r>
              <a:rPr lang="en-US" sz="2800" b="1" dirty="0">
                <a:solidFill>
                  <a:srgbClr val="000000"/>
                </a:solidFill>
                <a:latin typeface="Open Sans Bold"/>
                <a:ea typeface="Open Sans Bold"/>
                <a:cs typeface="Open Sans Bold"/>
                <a:sym typeface="Open Sans Bold"/>
              </a:rPr>
              <a:t>Local data sources </a:t>
            </a:r>
          </a:p>
          <a:p>
            <a:pPr algn="l">
              <a:lnSpc>
                <a:spcPts val="3920"/>
              </a:lnSpc>
            </a:pPr>
            <a:r>
              <a:rPr lang="en-US" sz="2800" b="1" dirty="0">
                <a:solidFill>
                  <a:srgbClr val="000000"/>
                </a:solidFill>
                <a:latin typeface="Open Sans Bold"/>
                <a:ea typeface="Open Sans Bold"/>
                <a:cs typeface="Open Sans Bold"/>
                <a:sym typeface="Open Sans Bold"/>
              </a:rPr>
              <a:t>- Zip files</a:t>
            </a:r>
          </a:p>
          <a:p>
            <a:pPr algn="l">
              <a:lnSpc>
                <a:spcPts val="3920"/>
              </a:lnSpc>
            </a:pPr>
            <a:endParaRPr lang="en-US" sz="2800" b="1" dirty="0">
              <a:solidFill>
                <a:srgbClr val="000000"/>
              </a:solidFill>
              <a:latin typeface="Open Sans Bold"/>
              <a:ea typeface="Open Sans Bold"/>
              <a:cs typeface="Open Sans Bold"/>
              <a:sym typeface="Open Sans Bold"/>
            </a:endParaRPr>
          </a:p>
          <a:p>
            <a:pPr algn="l">
              <a:lnSpc>
                <a:spcPts val="3920"/>
              </a:lnSpc>
            </a:pPr>
            <a:r>
              <a:rPr lang="en-US" sz="2800" dirty="0">
                <a:solidFill>
                  <a:srgbClr val="000000"/>
                </a:solidFill>
                <a:latin typeface="Open Sans"/>
                <a:ea typeface="Open Sans"/>
                <a:cs typeface="Open Sans"/>
                <a:sym typeface="Open Sans"/>
              </a:rPr>
              <a:t>Metadata concerns:</a:t>
            </a:r>
          </a:p>
          <a:p>
            <a:pPr marL="604523" lvl="1" indent="-302261" algn="l">
              <a:lnSpc>
                <a:spcPts val="3920"/>
              </a:lnSpc>
              <a:buFont typeface="Arial"/>
              <a:buChar char="•"/>
            </a:pPr>
            <a:r>
              <a:rPr lang="en-US" sz="2800" i="1" dirty="0">
                <a:solidFill>
                  <a:srgbClr val="000000"/>
                </a:solidFill>
                <a:latin typeface="Open Sans Italics"/>
                <a:ea typeface="Open Sans Italics"/>
                <a:cs typeface="Open Sans Italics"/>
                <a:sym typeface="Open Sans Italics"/>
              </a:rPr>
              <a:t>Collection</a:t>
            </a:r>
          </a:p>
          <a:p>
            <a:pPr marL="604523" lvl="1" indent="-302261" algn="l">
              <a:lnSpc>
                <a:spcPts val="3920"/>
              </a:lnSpc>
              <a:buFont typeface="Arial"/>
              <a:buChar char="•"/>
            </a:pPr>
            <a:r>
              <a:rPr lang="en-US" sz="2800" i="1" dirty="0">
                <a:solidFill>
                  <a:srgbClr val="000000"/>
                </a:solidFill>
                <a:latin typeface="Open Sans Italics"/>
                <a:ea typeface="Open Sans Italics"/>
                <a:cs typeface="Open Sans Italics"/>
                <a:sym typeface="Open Sans Italics"/>
              </a:rPr>
              <a:t>Studies</a:t>
            </a:r>
          </a:p>
          <a:p>
            <a:pPr marL="604523" lvl="1" indent="-302261" algn="l">
              <a:lnSpc>
                <a:spcPts val="3920"/>
              </a:lnSpc>
              <a:buFont typeface="Arial"/>
              <a:buChar char="•"/>
            </a:pPr>
            <a:r>
              <a:rPr lang="en-US" sz="2800" i="1" dirty="0">
                <a:solidFill>
                  <a:srgbClr val="000000"/>
                </a:solidFill>
                <a:latin typeface="Open Sans Italics"/>
                <a:ea typeface="Open Sans Italics"/>
                <a:cs typeface="Open Sans Italics"/>
                <a:sym typeface="Open Sans Italics"/>
              </a:rPr>
              <a:t>Series</a:t>
            </a:r>
          </a:p>
          <a:p>
            <a:pPr marL="604523" lvl="1" indent="-302261" algn="l">
              <a:lnSpc>
                <a:spcPts val="3920"/>
              </a:lnSpc>
              <a:buFont typeface="Arial"/>
              <a:buChar char="•"/>
            </a:pPr>
            <a:r>
              <a:rPr lang="en-US" sz="2800" i="1" dirty="0">
                <a:solidFill>
                  <a:srgbClr val="000000"/>
                </a:solidFill>
                <a:latin typeface="Open Sans Italics"/>
                <a:ea typeface="Open Sans Italics"/>
                <a:cs typeface="Open Sans Italics"/>
                <a:sym typeface="Open Sans Italics"/>
              </a:rPr>
              <a:t>Patients</a:t>
            </a:r>
          </a:p>
          <a:p>
            <a:pPr algn="l">
              <a:lnSpc>
                <a:spcPts val="3920"/>
              </a:lnSpc>
            </a:pPr>
            <a:endParaRPr lang="en-US" sz="2800" i="1" dirty="0">
              <a:solidFill>
                <a:srgbClr val="000000"/>
              </a:solidFill>
              <a:latin typeface="Open Sans Italics"/>
              <a:ea typeface="Open Sans Italics"/>
              <a:cs typeface="Open Sans Italics"/>
              <a:sym typeface="Open Sans Italics"/>
            </a:endParaRPr>
          </a:p>
          <a:p>
            <a:pPr algn="l">
              <a:lnSpc>
                <a:spcPts val="3920"/>
              </a:lnSpc>
            </a:pPr>
            <a:r>
              <a:rPr lang="en-US" sz="2800" dirty="0">
                <a:solidFill>
                  <a:srgbClr val="000000"/>
                </a:solidFill>
                <a:latin typeface="Open Sans"/>
                <a:ea typeface="Open Sans"/>
                <a:cs typeface="Open Sans"/>
                <a:sym typeface="Open Sans"/>
              </a:rPr>
              <a:t>Metadata format: tabular file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8246706"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access: metadata</a:t>
            </a:r>
          </a:p>
        </p:txBody>
      </p:sp>
      <p:sp>
        <p:nvSpPr>
          <p:cNvPr id="5" name="AutoShape 5"/>
          <p:cNvSpPr/>
          <p:nvPr/>
        </p:nvSpPr>
        <p:spPr>
          <a:xfrm>
            <a:off x="9760067" y="2319066"/>
            <a:ext cx="19050" cy="7096740"/>
          </a:xfrm>
          <a:prstGeom prst="line">
            <a:avLst/>
          </a:prstGeom>
          <a:ln w="38100" cap="flat">
            <a:solidFill>
              <a:srgbClr val="000000"/>
            </a:solidFill>
            <a:prstDash val="solid"/>
            <a:headEnd type="none" w="sm" len="sm"/>
            <a:tailEnd type="none" w="sm" len="sm"/>
          </a:ln>
        </p:spPr>
        <p:txBody>
          <a:bodyPr/>
          <a:lstStyle/>
          <a:p>
            <a:endParaRPr lang="it-IT"/>
          </a:p>
        </p:txBody>
      </p:sp>
      <p:sp>
        <p:nvSpPr>
          <p:cNvPr id="6" name="Freeform 6"/>
          <p:cNvSpPr/>
          <p:nvPr/>
        </p:nvSpPr>
        <p:spPr>
          <a:xfrm>
            <a:off x="11619375" y="5839692"/>
            <a:ext cx="4103499" cy="3191291"/>
          </a:xfrm>
          <a:custGeom>
            <a:avLst/>
            <a:gdLst/>
            <a:ahLst/>
            <a:cxnLst/>
            <a:rect l="l" t="t" r="r" b="b"/>
            <a:pathLst>
              <a:path w="4103499" h="3191291">
                <a:moveTo>
                  <a:pt x="0" y="0"/>
                </a:moveTo>
                <a:lnTo>
                  <a:pt x="4103499" y="0"/>
                </a:lnTo>
                <a:lnTo>
                  <a:pt x="4103499" y="3191291"/>
                </a:lnTo>
                <a:lnTo>
                  <a:pt x="0" y="3191291"/>
                </a:lnTo>
                <a:lnTo>
                  <a:pt x="0" y="0"/>
                </a:lnTo>
                <a:close/>
              </a:path>
            </a:pathLst>
          </a:custGeom>
          <a:blipFill>
            <a:blip r:embed="rId4"/>
            <a:stretch>
              <a:fillRect l="-254299" t="-77081" r="-232025"/>
            </a:stretch>
          </a:blipFill>
        </p:spPr>
        <p:txBody>
          <a:bodyPr/>
          <a:lstStyle/>
          <a:p>
            <a:endParaRPr lang="it-IT"/>
          </a:p>
        </p:txBody>
      </p:sp>
      <p:graphicFrame>
        <p:nvGraphicFramePr>
          <p:cNvPr id="7" name="Object 7"/>
          <p:cNvGraphicFramePr/>
          <p:nvPr>
            <p:extLst>
              <p:ext uri="{D42A27DB-BD31-4B8C-83A1-F6EECF244321}">
                <p14:modId xmlns:p14="http://schemas.microsoft.com/office/powerpoint/2010/main" val="3375815653"/>
              </p:ext>
            </p:extLst>
          </p:nvPr>
        </p:nvGraphicFramePr>
        <p:xfrm>
          <a:off x="845343" y="5835198"/>
          <a:ext cx="10616038" cy="3697626"/>
        </p:xfrm>
        <a:graphic>
          <a:graphicData uri="http://schemas.openxmlformats.org/presentationml/2006/ole">
            <mc:AlternateContent xmlns:mc="http://schemas.openxmlformats.org/markup-compatibility/2006">
              <mc:Choice xmlns:v="urn:schemas-microsoft-com:vml" Requires="v">
                <p:oleObj name="Worksheet" r:id="rId5" imgW="12103100" imgH="5257800" progId="Excel.Sheet.12">
                  <p:embed/>
                </p:oleObj>
              </mc:Choice>
              <mc:Fallback>
                <p:oleObj name="Worksheet" r:id="rId5" imgW="12103100" imgH="5257800" progId="Excel.Sheet.12">
                  <p:embed/>
                  <p:pic>
                    <p:nvPicPr>
                      <p:cNvPr id="0" name=""/>
                      <p:cNvPicPr/>
                      <p:nvPr/>
                    </p:nvPicPr>
                    <p:blipFill>
                      <a:blip r:embed="rId6"/>
                      <a:stretch>
                        <a:fillRect/>
                      </a:stretch>
                    </p:blipFill>
                    <p:spPr>
                      <a:xfrm>
                        <a:off x="845343" y="5835198"/>
                        <a:ext cx="10616038" cy="3697626"/>
                      </a:xfrm>
                      <a:prstGeom prst="rect">
                        <a:avLst/>
                      </a:prstGeom>
                    </p:spPr>
                  </p:pic>
                </p:oleObj>
              </mc:Fallback>
            </mc:AlternateContent>
          </a:graphicData>
        </a:graphic>
      </p:graphicFrame>
      <p:sp>
        <p:nvSpPr>
          <p:cNvPr id="8" name="TextBox 8"/>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11</a:t>
            </a:r>
          </a:p>
        </p:txBody>
      </p:sp>
      <p:sp>
        <p:nvSpPr>
          <p:cNvPr id="9" name="TextBox 9"/>
          <p:cNvSpPr txBox="1"/>
          <p:nvPr/>
        </p:nvSpPr>
        <p:spPr>
          <a:xfrm>
            <a:off x="1166399" y="2709540"/>
            <a:ext cx="7249418" cy="608915"/>
          </a:xfrm>
          <a:prstGeom prst="rect">
            <a:avLst/>
          </a:prstGeom>
        </p:spPr>
        <p:txBody>
          <a:bodyPr lIns="0" tIns="0" rIns="0" bIns="0" rtlCol="0" anchor="t">
            <a:spAutoFit/>
          </a:bodyPr>
          <a:lstStyle/>
          <a:p>
            <a:pPr algn="ctr">
              <a:lnSpc>
                <a:spcPts val="5120"/>
              </a:lnSpc>
              <a:spcBef>
                <a:spcPct val="0"/>
              </a:spcBef>
            </a:pPr>
            <a:r>
              <a:rPr lang="en-US" sz="3200" b="1" dirty="0">
                <a:solidFill>
                  <a:srgbClr val="000000"/>
                </a:solidFill>
                <a:latin typeface="Open Sauce Bold"/>
                <a:ea typeface="Open Sauce Bold"/>
                <a:cs typeface="Open Sauce Bold"/>
                <a:sym typeface="Open Sauce Bold"/>
              </a:rPr>
              <a:t>Remote data sources - TCIA archive</a:t>
            </a:r>
          </a:p>
        </p:txBody>
      </p:sp>
      <p:sp>
        <p:nvSpPr>
          <p:cNvPr id="10" name="TextBox 10"/>
          <p:cNvSpPr txBox="1"/>
          <p:nvPr/>
        </p:nvSpPr>
        <p:spPr>
          <a:xfrm>
            <a:off x="10543501" y="2811410"/>
            <a:ext cx="6255248" cy="608915"/>
          </a:xfrm>
          <a:prstGeom prst="rect">
            <a:avLst/>
          </a:prstGeom>
        </p:spPr>
        <p:txBody>
          <a:bodyPr lIns="0" tIns="0" rIns="0" bIns="0" rtlCol="0" anchor="t">
            <a:spAutoFit/>
          </a:bodyPr>
          <a:lstStyle/>
          <a:p>
            <a:pPr algn="ctr">
              <a:lnSpc>
                <a:spcPts val="5120"/>
              </a:lnSpc>
              <a:spcBef>
                <a:spcPct val="0"/>
              </a:spcBef>
            </a:pPr>
            <a:r>
              <a:rPr lang="en-US" sz="3200" b="1" dirty="0">
                <a:solidFill>
                  <a:srgbClr val="000000"/>
                </a:solidFill>
                <a:latin typeface="Open Sauce Bold"/>
                <a:ea typeface="Open Sauce Bold"/>
                <a:cs typeface="Open Sauce Bold"/>
                <a:sym typeface="Open Sauce Bold"/>
              </a:rPr>
              <a:t>Local data sources - Zip files</a:t>
            </a:r>
          </a:p>
        </p:txBody>
      </p:sp>
      <p:sp>
        <p:nvSpPr>
          <p:cNvPr id="11" name="TextBox 11"/>
          <p:cNvSpPr txBox="1"/>
          <p:nvPr/>
        </p:nvSpPr>
        <p:spPr>
          <a:xfrm>
            <a:off x="1401042" y="4139119"/>
            <a:ext cx="8691818" cy="1964179"/>
          </a:xfrm>
          <a:prstGeom prst="rect">
            <a:avLst/>
          </a:prstGeom>
        </p:spPr>
        <p:txBody>
          <a:bodyPr lIns="0" tIns="0" rIns="0" bIns="0" rtlCol="0" anchor="t">
            <a:spAutoFit/>
          </a:bodyPr>
          <a:lstStyle/>
          <a:p>
            <a:pPr algn="l">
              <a:lnSpc>
                <a:spcPts val="3915"/>
              </a:lnSpc>
            </a:pPr>
            <a:r>
              <a:rPr lang="en-US" sz="2796" dirty="0">
                <a:solidFill>
                  <a:srgbClr val="000000"/>
                </a:solidFill>
                <a:latin typeface="Open Sans"/>
                <a:ea typeface="Open Sans"/>
                <a:cs typeface="Open Sans"/>
                <a:sym typeface="Open Sans"/>
              </a:rPr>
              <a:t>Metadata is accessed through REST APIs.</a:t>
            </a:r>
          </a:p>
          <a:p>
            <a:pPr algn="l">
              <a:lnSpc>
                <a:spcPts val="3915"/>
              </a:lnSpc>
            </a:pPr>
            <a:endParaRPr lang="en-US" sz="2796" dirty="0">
              <a:solidFill>
                <a:srgbClr val="000000"/>
              </a:solidFill>
              <a:latin typeface="Open Sans"/>
              <a:ea typeface="Open Sans"/>
              <a:cs typeface="Open Sans"/>
              <a:sym typeface="Open Sans"/>
            </a:endParaRPr>
          </a:p>
          <a:p>
            <a:pPr algn="l">
              <a:lnSpc>
                <a:spcPts val="3915"/>
              </a:lnSpc>
            </a:pPr>
            <a:r>
              <a:rPr lang="en-US" sz="2796" dirty="0">
                <a:solidFill>
                  <a:srgbClr val="000000"/>
                </a:solidFill>
                <a:latin typeface="Open Sans"/>
                <a:ea typeface="Open Sans"/>
                <a:cs typeface="Open Sans"/>
                <a:sym typeface="Open Sans"/>
              </a:rPr>
              <a:t>Based on the data we are interested in, there are different endpoints to access.</a:t>
            </a:r>
          </a:p>
        </p:txBody>
      </p:sp>
      <p:sp>
        <p:nvSpPr>
          <p:cNvPr id="12" name="TextBox 12"/>
          <p:cNvSpPr txBox="1"/>
          <p:nvPr/>
        </p:nvSpPr>
        <p:spPr>
          <a:xfrm>
            <a:off x="10722592" y="3900008"/>
            <a:ext cx="7249418" cy="1967428"/>
          </a:xfrm>
          <a:prstGeom prst="rect">
            <a:avLst/>
          </a:prstGeom>
        </p:spPr>
        <p:txBody>
          <a:bodyPr lIns="0" tIns="0" rIns="0" bIns="0" rtlCol="0" anchor="t">
            <a:spAutoFit/>
          </a:bodyPr>
          <a:lstStyle/>
          <a:p>
            <a:pPr algn="l">
              <a:lnSpc>
                <a:spcPts val="3920"/>
              </a:lnSpc>
            </a:pPr>
            <a:r>
              <a:rPr lang="en-US" sz="2800" dirty="0">
                <a:solidFill>
                  <a:srgbClr val="000000"/>
                </a:solidFill>
                <a:latin typeface="Open Sans"/>
                <a:ea typeface="Open Sans"/>
                <a:cs typeface="Open Sans"/>
                <a:sym typeface="Open Sans"/>
              </a:rPr>
              <a:t>Metadata:</a:t>
            </a:r>
          </a:p>
          <a:p>
            <a:pPr marL="604523" lvl="1" indent="-302261" algn="l">
              <a:lnSpc>
                <a:spcPts val="3920"/>
              </a:lnSpc>
              <a:buFont typeface="Arial"/>
              <a:buChar char="•"/>
            </a:pPr>
            <a:r>
              <a:rPr lang="en-US" sz="2800" dirty="0">
                <a:solidFill>
                  <a:srgbClr val="000000"/>
                </a:solidFill>
                <a:latin typeface="Open Sans"/>
                <a:ea typeface="Open Sans"/>
                <a:cs typeface="Open Sans"/>
                <a:sym typeface="Open Sans"/>
              </a:rPr>
              <a:t>Accessed by opening the file and browsing the table</a:t>
            </a:r>
          </a:p>
          <a:p>
            <a:pPr algn="l">
              <a:lnSpc>
                <a:spcPts val="3920"/>
              </a:lnSpc>
            </a:pPr>
            <a:endParaRPr lang="en-US" sz="2800" dirty="0">
              <a:solidFill>
                <a:srgbClr val="000000"/>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dirty="0"/>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5784456" y="1159893"/>
            <a:ext cx="11337146" cy="7620327"/>
          </a:xfrm>
          <a:custGeom>
            <a:avLst/>
            <a:gdLst/>
            <a:ahLst/>
            <a:cxnLst/>
            <a:rect l="l" t="t" r="r" b="b"/>
            <a:pathLst>
              <a:path w="11337146" h="7620327">
                <a:moveTo>
                  <a:pt x="0" y="0"/>
                </a:moveTo>
                <a:lnTo>
                  <a:pt x="11337145" y="0"/>
                </a:lnTo>
                <a:lnTo>
                  <a:pt x="11337145" y="7620327"/>
                </a:lnTo>
                <a:lnTo>
                  <a:pt x="0" y="7620327"/>
                </a:lnTo>
                <a:lnTo>
                  <a:pt x="0" y="0"/>
                </a:lnTo>
                <a:close/>
              </a:path>
            </a:pathLst>
          </a:custGeom>
          <a:blipFill>
            <a:blip r:embed="rId3"/>
            <a:stretch>
              <a:fillRect/>
            </a:stretch>
          </a:blipFill>
        </p:spPr>
        <p:txBody>
          <a:bodyPr/>
          <a:lstStyle/>
          <a:p>
            <a:endParaRPr lang="it-IT"/>
          </a:p>
        </p:txBody>
      </p:sp>
      <p:sp>
        <p:nvSpPr>
          <p:cNvPr id="5" name="TextBox 5"/>
          <p:cNvSpPr txBox="1"/>
          <p:nvPr/>
        </p:nvSpPr>
        <p:spPr>
          <a:xfrm>
            <a:off x="1166399" y="914400"/>
            <a:ext cx="4755756" cy="3352165"/>
          </a:xfrm>
          <a:prstGeom prst="rect">
            <a:avLst/>
          </a:prstGeom>
        </p:spPr>
        <p:txBody>
          <a:bodyPr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Foundation: data modeling</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12</a:t>
            </a:r>
          </a:p>
        </p:txBody>
      </p:sp>
      <p:sp>
        <p:nvSpPr>
          <p:cNvPr id="7" name="TextBox 7"/>
          <p:cNvSpPr txBox="1"/>
          <p:nvPr/>
        </p:nvSpPr>
        <p:spPr>
          <a:xfrm>
            <a:off x="1028700" y="4209415"/>
            <a:ext cx="4164441" cy="4968989"/>
          </a:xfrm>
          <a:prstGeom prst="rect">
            <a:avLst/>
          </a:prstGeom>
        </p:spPr>
        <p:txBody>
          <a:bodyPr lIns="0" tIns="0" rIns="0" bIns="0" rtlCol="0" anchor="t">
            <a:spAutoFit/>
          </a:bodyPr>
          <a:lstStyle/>
          <a:p>
            <a:pPr marL="302259" lvl="1" algn="l">
              <a:lnSpc>
                <a:spcPts val="3919"/>
              </a:lnSpc>
            </a:pPr>
            <a:r>
              <a:rPr lang="en-US" sz="2799" dirty="0">
                <a:solidFill>
                  <a:srgbClr val="000000"/>
                </a:solidFill>
                <a:latin typeface="Open Sans"/>
                <a:ea typeface="Open Sans"/>
                <a:cs typeface="Open Sans"/>
                <a:sym typeface="Open Sans"/>
              </a:rPr>
              <a:t>1) Attribute criteria:</a:t>
            </a:r>
          </a:p>
          <a:p>
            <a:pPr marL="1209039" lvl="2" indent="-403013" algn="l">
              <a:lnSpc>
                <a:spcPts val="3919"/>
              </a:lnSpc>
              <a:buFont typeface="Arial"/>
              <a:buChar char="⚬"/>
            </a:pPr>
            <a:r>
              <a:rPr lang="en-US" sz="2799" i="1" dirty="0">
                <a:solidFill>
                  <a:srgbClr val="000000"/>
                </a:solidFill>
                <a:latin typeface="Open Sans Italics"/>
                <a:ea typeface="Open Sans Italics"/>
                <a:cs typeface="Open Sans Italics"/>
                <a:sym typeface="Open Sans Italics"/>
              </a:rPr>
              <a:t>Exploratory</a:t>
            </a:r>
            <a:r>
              <a:rPr lang="en-US" sz="2799" dirty="0">
                <a:solidFill>
                  <a:srgbClr val="000000"/>
                </a:solidFill>
                <a:latin typeface="Open Sans"/>
                <a:ea typeface="Open Sans"/>
                <a:cs typeface="Open Sans"/>
                <a:sym typeface="Open Sans"/>
              </a:rPr>
              <a:t>: discover the collection and its potential uses.</a:t>
            </a:r>
          </a:p>
          <a:p>
            <a:pPr marL="1209039" lvl="2" indent="-403013" algn="l">
              <a:lnSpc>
                <a:spcPts val="3919"/>
              </a:lnSpc>
              <a:buFont typeface="Arial"/>
              <a:buChar char="⚬"/>
            </a:pPr>
            <a:r>
              <a:rPr lang="en-US" sz="2799" i="1" dirty="0">
                <a:solidFill>
                  <a:srgbClr val="000000"/>
                </a:solidFill>
                <a:latin typeface="Open Sans Italics"/>
                <a:ea typeface="Open Sans Italics"/>
                <a:cs typeface="Open Sans Italics"/>
                <a:sym typeface="Open Sans Italics"/>
              </a:rPr>
              <a:t>Analytical</a:t>
            </a:r>
            <a:r>
              <a:rPr lang="en-US" sz="2799" dirty="0">
                <a:solidFill>
                  <a:srgbClr val="000000"/>
                </a:solidFill>
                <a:latin typeface="Open Sans"/>
                <a:ea typeface="Open Sans"/>
                <a:cs typeface="Open Sans"/>
                <a:sym typeface="Open Sans"/>
              </a:rPr>
              <a:t>: support analysis of imaging data.</a:t>
            </a:r>
          </a:p>
          <a:p>
            <a:pPr marL="1209039" lvl="2" indent="-403013" algn="l">
              <a:lnSpc>
                <a:spcPts val="3919"/>
              </a:lnSpc>
              <a:buFont typeface="Arial"/>
              <a:buChar char="⚬"/>
            </a:pPr>
            <a:endParaRPr lang="en-US" sz="2799" dirty="0">
              <a:solidFill>
                <a:srgbClr val="000000"/>
              </a:solidFill>
              <a:latin typeface="Open Sans"/>
              <a:ea typeface="Open Sans"/>
              <a:cs typeface="Open Sans"/>
              <a:sym typeface="Open Sans"/>
            </a:endParaRPr>
          </a:p>
          <a:p>
            <a:pPr marL="806026" lvl="2" algn="l">
              <a:lnSpc>
                <a:spcPts val="3919"/>
              </a:lnSpc>
            </a:pPr>
            <a:endParaRPr lang="en-US" sz="2799" dirty="0">
              <a:solidFill>
                <a:srgbClr val="000000"/>
              </a:solidFill>
              <a:latin typeface="Open Sans"/>
              <a:ea typeface="Open Sans"/>
              <a:cs typeface="Open Sans"/>
              <a:sym typeface="Open Sans"/>
            </a:endParaRPr>
          </a:p>
        </p:txBody>
      </p:sp>
      <p:sp>
        <p:nvSpPr>
          <p:cNvPr id="9" name="CasellaDiTesto 8">
            <a:extLst>
              <a:ext uri="{FF2B5EF4-FFF2-40B4-BE49-F238E27FC236}">
                <a16:creationId xmlns:a16="http://schemas.microsoft.com/office/drawing/2014/main" id="{A2EE509A-1F4A-3DFA-7FA4-3463C5BC27B4}"/>
              </a:ext>
            </a:extLst>
          </p:cNvPr>
          <p:cNvSpPr txBox="1"/>
          <p:nvPr/>
        </p:nvSpPr>
        <p:spPr>
          <a:xfrm>
            <a:off x="1385681" y="8141494"/>
            <a:ext cx="4164441" cy="1231106"/>
          </a:xfrm>
          <a:prstGeom prst="rect">
            <a:avLst/>
          </a:prstGeom>
          <a:noFill/>
        </p:spPr>
        <p:txBody>
          <a:bodyPr wrap="square" rtlCol="0">
            <a:spAutoFit/>
          </a:bodyPr>
          <a:lstStyle/>
          <a:p>
            <a:r>
              <a:rPr lang="en-US" sz="2800" dirty="0">
                <a:solidFill>
                  <a:srgbClr val="000000"/>
                </a:solidFill>
                <a:latin typeface="Open Sans"/>
                <a:ea typeface="Open Sans"/>
                <a:cs typeface="Open Sans"/>
                <a:sym typeface="Open Sans"/>
              </a:rPr>
              <a:t>2) Independent mapping tables</a:t>
            </a:r>
          </a:p>
          <a:p>
            <a:endParaRPr lang="it-IT"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996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1439942"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transformation: metadata</a:t>
            </a:r>
          </a:p>
        </p:txBody>
      </p:sp>
      <p:sp>
        <p:nvSpPr>
          <p:cNvPr id="5" name="AutoShape 5"/>
          <p:cNvSpPr/>
          <p:nvPr/>
        </p:nvSpPr>
        <p:spPr>
          <a:xfrm flipH="1">
            <a:off x="9379411" y="4633169"/>
            <a:ext cx="0" cy="3605796"/>
          </a:xfrm>
          <a:prstGeom prst="line">
            <a:avLst/>
          </a:prstGeom>
          <a:ln w="38100" cap="flat">
            <a:solidFill>
              <a:srgbClr val="000000"/>
            </a:solidFill>
            <a:prstDash val="solid"/>
            <a:headEnd type="none" w="sm" len="sm"/>
            <a:tailEnd type="none" w="sm" len="sm"/>
          </a:ln>
        </p:spPr>
        <p:txBody>
          <a:bodyPr/>
          <a:lstStyle/>
          <a:p>
            <a:endParaRPr lang="it-IT"/>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13</a:t>
            </a:r>
          </a:p>
        </p:txBody>
      </p:sp>
      <p:sp>
        <p:nvSpPr>
          <p:cNvPr id="7" name="TextBox 7"/>
          <p:cNvSpPr txBox="1"/>
          <p:nvPr/>
        </p:nvSpPr>
        <p:spPr>
          <a:xfrm>
            <a:off x="1573988" y="4696780"/>
            <a:ext cx="6986997" cy="534035"/>
          </a:xfrm>
          <a:prstGeom prst="rect">
            <a:avLst/>
          </a:prstGeom>
        </p:spPr>
        <p:txBody>
          <a:bodyPr wrap="square" lIns="0" tIns="0" rIns="0" bIns="0" rtlCol="0" anchor="t">
            <a:spAutoFit/>
          </a:bodyPr>
          <a:lstStyle/>
          <a:p>
            <a:pPr algn="ctr">
              <a:lnSpc>
                <a:spcPts val="4479"/>
              </a:lnSpc>
              <a:spcBef>
                <a:spcPct val="0"/>
              </a:spcBef>
            </a:pPr>
            <a:r>
              <a:rPr lang="en-US" sz="2799" b="1" dirty="0">
                <a:solidFill>
                  <a:srgbClr val="000000"/>
                </a:solidFill>
                <a:latin typeface="Open Sauce Bold"/>
                <a:ea typeface="Open Sauce Bold"/>
                <a:cs typeface="Open Sauce Bold"/>
                <a:sym typeface="Open Sauce Bold"/>
              </a:rPr>
              <a:t>Remote data sources - TCIA archive</a:t>
            </a:r>
          </a:p>
        </p:txBody>
      </p:sp>
      <p:sp>
        <p:nvSpPr>
          <p:cNvPr id="8" name="TextBox 8"/>
          <p:cNvSpPr txBox="1"/>
          <p:nvPr/>
        </p:nvSpPr>
        <p:spPr>
          <a:xfrm>
            <a:off x="10237174" y="4736868"/>
            <a:ext cx="6255248" cy="534035"/>
          </a:xfrm>
          <a:prstGeom prst="rect">
            <a:avLst/>
          </a:prstGeom>
        </p:spPr>
        <p:txBody>
          <a:bodyPr lIns="0" tIns="0" rIns="0" bIns="0" rtlCol="0" anchor="t">
            <a:spAutoFit/>
          </a:bodyPr>
          <a:lstStyle/>
          <a:p>
            <a:pPr algn="ctr">
              <a:lnSpc>
                <a:spcPts val="4479"/>
              </a:lnSpc>
              <a:spcBef>
                <a:spcPct val="0"/>
              </a:spcBef>
            </a:pPr>
            <a:r>
              <a:rPr lang="en-US" sz="2799" b="1" dirty="0">
                <a:solidFill>
                  <a:srgbClr val="000000"/>
                </a:solidFill>
                <a:latin typeface="Open Sauce Bold"/>
                <a:ea typeface="Open Sauce Bold"/>
                <a:cs typeface="Open Sauce Bold"/>
                <a:sym typeface="Open Sauce Bold"/>
              </a:rPr>
              <a:t>Local data sources - Zip files</a:t>
            </a:r>
          </a:p>
        </p:txBody>
      </p:sp>
      <p:sp>
        <p:nvSpPr>
          <p:cNvPr id="9" name="TextBox 9"/>
          <p:cNvSpPr txBox="1"/>
          <p:nvPr/>
        </p:nvSpPr>
        <p:spPr>
          <a:xfrm>
            <a:off x="1166399" y="2634429"/>
            <a:ext cx="8869507" cy="1481455"/>
          </a:xfrm>
          <a:prstGeom prst="rect">
            <a:avLst/>
          </a:prstGeom>
        </p:spPr>
        <p:txBody>
          <a:bodyPr lIns="0" tIns="0" rIns="0" bIns="0" rtlCol="0" anchor="t">
            <a:spAutoFit/>
          </a:bodyPr>
          <a:lstStyle/>
          <a:p>
            <a:pPr algn="l">
              <a:lnSpc>
                <a:spcPts val="3919"/>
              </a:lnSpc>
            </a:pPr>
            <a:r>
              <a:rPr lang="en-US" sz="2799" i="1" dirty="0">
                <a:solidFill>
                  <a:srgbClr val="000000"/>
                </a:solidFill>
                <a:latin typeface="Open Sauce"/>
                <a:ea typeface="Open Sauce"/>
                <a:cs typeface="Open Sauce"/>
                <a:sym typeface="Open Sauce"/>
              </a:rPr>
              <a:t>Data transformation:</a:t>
            </a:r>
          </a:p>
          <a:p>
            <a:pPr marL="604519" lvl="1" indent="-302260" algn="l">
              <a:lnSpc>
                <a:spcPts val="3919"/>
              </a:lnSpc>
              <a:buAutoNum type="arabicPeriod"/>
            </a:pPr>
            <a:r>
              <a:rPr lang="en-US" sz="2799" i="1" dirty="0">
                <a:solidFill>
                  <a:srgbClr val="000000"/>
                </a:solidFill>
                <a:latin typeface="Open Sauce"/>
                <a:ea typeface="Open Sauce"/>
                <a:cs typeface="Open Sauce"/>
                <a:sym typeface="Open Sauce"/>
              </a:rPr>
              <a:t> Align metadata with our internal data model</a:t>
            </a:r>
          </a:p>
          <a:p>
            <a:pPr marL="604519" lvl="1" indent="-302260" algn="l">
              <a:lnSpc>
                <a:spcPts val="3919"/>
              </a:lnSpc>
              <a:buAutoNum type="arabicPeriod"/>
            </a:pPr>
            <a:r>
              <a:rPr lang="en-US" sz="2799" i="1" dirty="0">
                <a:solidFill>
                  <a:srgbClr val="000000"/>
                </a:solidFill>
                <a:latin typeface="Open Sauce"/>
                <a:ea typeface="Open Sauce"/>
                <a:cs typeface="Open Sauce"/>
                <a:sym typeface="Open Sauce"/>
              </a:rPr>
              <a:t> Handle missing values</a:t>
            </a:r>
          </a:p>
        </p:txBody>
      </p:sp>
      <p:sp>
        <p:nvSpPr>
          <p:cNvPr id="10" name="TextBox 10"/>
          <p:cNvSpPr txBox="1"/>
          <p:nvPr/>
        </p:nvSpPr>
        <p:spPr>
          <a:xfrm>
            <a:off x="1097337" y="5720956"/>
            <a:ext cx="7940300" cy="490855"/>
          </a:xfrm>
          <a:prstGeom prst="rect">
            <a:avLst/>
          </a:prstGeom>
        </p:spPr>
        <p:txBody>
          <a:bodyPr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Fixed naming</a:t>
            </a:r>
          </a:p>
        </p:txBody>
      </p:sp>
      <p:grpSp>
        <p:nvGrpSpPr>
          <p:cNvPr id="11" name="Group 11"/>
          <p:cNvGrpSpPr/>
          <p:nvPr/>
        </p:nvGrpSpPr>
        <p:grpSpPr>
          <a:xfrm>
            <a:off x="4661118" y="6272532"/>
            <a:ext cx="675463" cy="914570"/>
            <a:chOff x="0" y="0"/>
            <a:chExt cx="600300" cy="812800"/>
          </a:xfrm>
        </p:grpSpPr>
        <p:sp>
          <p:nvSpPr>
            <p:cNvPr id="12" name="Freeform 12"/>
            <p:cNvSpPr/>
            <p:nvPr/>
          </p:nvSpPr>
          <p:spPr>
            <a:xfrm>
              <a:off x="0" y="0"/>
              <a:ext cx="600300" cy="812800"/>
            </a:xfrm>
            <a:custGeom>
              <a:avLst/>
              <a:gdLst/>
              <a:ahLst/>
              <a:cxnLst/>
              <a:rect l="l" t="t" r="r" b="b"/>
              <a:pathLst>
                <a:path w="600300" h="812800">
                  <a:moveTo>
                    <a:pt x="300150" y="812800"/>
                  </a:moveTo>
                  <a:lnTo>
                    <a:pt x="0" y="406400"/>
                  </a:lnTo>
                  <a:lnTo>
                    <a:pt x="203200" y="406400"/>
                  </a:lnTo>
                  <a:lnTo>
                    <a:pt x="203200" y="0"/>
                  </a:lnTo>
                  <a:lnTo>
                    <a:pt x="397100" y="0"/>
                  </a:lnTo>
                  <a:lnTo>
                    <a:pt x="397100" y="406400"/>
                  </a:lnTo>
                  <a:lnTo>
                    <a:pt x="600300" y="406400"/>
                  </a:lnTo>
                  <a:lnTo>
                    <a:pt x="300150" y="812800"/>
                  </a:lnTo>
                  <a:close/>
                </a:path>
              </a:pathLst>
            </a:custGeom>
            <a:solidFill>
              <a:srgbClr val="000000"/>
            </a:solidFill>
          </p:spPr>
          <p:txBody>
            <a:bodyPr/>
            <a:lstStyle/>
            <a:p>
              <a:endParaRPr lang="it-IT"/>
            </a:p>
          </p:txBody>
        </p:sp>
        <p:sp>
          <p:nvSpPr>
            <p:cNvPr id="13" name="TextBox 13"/>
            <p:cNvSpPr txBox="1"/>
            <p:nvPr/>
          </p:nvSpPr>
          <p:spPr>
            <a:xfrm>
              <a:off x="203200" y="-66675"/>
              <a:ext cx="193900" cy="777875"/>
            </a:xfrm>
            <a:prstGeom prst="rect">
              <a:avLst/>
            </a:prstGeom>
          </p:spPr>
          <p:txBody>
            <a:bodyPr lIns="50800" tIns="50800" rIns="50800" bIns="50800" rtlCol="0" anchor="ctr"/>
            <a:lstStyle/>
            <a:p>
              <a:pPr algn="ctr">
                <a:lnSpc>
                  <a:spcPts val="3919"/>
                </a:lnSpc>
              </a:pPr>
              <a:endParaRPr/>
            </a:p>
          </p:txBody>
        </p:sp>
      </p:grpSp>
      <p:sp>
        <p:nvSpPr>
          <p:cNvPr id="14" name="TextBox 14"/>
          <p:cNvSpPr txBox="1"/>
          <p:nvPr/>
        </p:nvSpPr>
        <p:spPr>
          <a:xfrm>
            <a:off x="1028700" y="7373603"/>
            <a:ext cx="7940300" cy="490855"/>
          </a:xfrm>
          <a:prstGeom prst="rect">
            <a:avLst/>
          </a:prstGeom>
        </p:spPr>
        <p:txBody>
          <a:bodyPr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Mapping defined a priori</a:t>
            </a:r>
          </a:p>
        </p:txBody>
      </p:sp>
      <p:sp>
        <p:nvSpPr>
          <p:cNvPr id="15" name="TextBox 15"/>
          <p:cNvSpPr txBox="1"/>
          <p:nvPr/>
        </p:nvSpPr>
        <p:spPr>
          <a:xfrm>
            <a:off x="9448048" y="5614737"/>
            <a:ext cx="7940300" cy="490855"/>
          </a:xfrm>
          <a:prstGeom prst="rect">
            <a:avLst/>
          </a:prstGeom>
        </p:spPr>
        <p:txBody>
          <a:bodyPr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Inconsistent attribute naming</a:t>
            </a:r>
          </a:p>
        </p:txBody>
      </p:sp>
      <p:grpSp>
        <p:nvGrpSpPr>
          <p:cNvPr id="16" name="Group 16"/>
          <p:cNvGrpSpPr/>
          <p:nvPr/>
        </p:nvGrpSpPr>
        <p:grpSpPr>
          <a:xfrm>
            <a:off x="13333393" y="6347555"/>
            <a:ext cx="675463" cy="914570"/>
            <a:chOff x="0" y="0"/>
            <a:chExt cx="600300" cy="812800"/>
          </a:xfrm>
        </p:grpSpPr>
        <p:sp>
          <p:nvSpPr>
            <p:cNvPr id="17" name="Freeform 17"/>
            <p:cNvSpPr/>
            <p:nvPr/>
          </p:nvSpPr>
          <p:spPr>
            <a:xfrm>
              <a:off x="0" y="0"/>
              <a:ext cx="600300" cy="812800"/>
            </a:xfrm>
            <a:custGeom>
              <a:avLst/>
              <a:gdLst/>
              <a:ahLst/>
              <a:cxnLst/>
              <a:rect l="l" t="t" r="r" b="b"/>
              <a:pathLst>
                <a:path w="600300" h="812800">
                  <a:moveTo>
                    <a:pt x="300150" y="812800"/>
                  </a:moveTo>
                  <a:lnTo>
                    <a:pt x="0" y="406400"/>
                  </a:lnTo>
                  <a:lnTo>
                    <a:pt x="203200" y="406400"/>
                  </a:lnTo>
                  <a:lnTo>
                    <a:pt x="203200" y="0"/>
                  </a:lnTo>
                  <a:lnTo>
                    <a:pt x="397100" y="0"/>
                  </a:lnTo>
                  <a:lnTo>
                    <a:pt x="397100" y="406400"/>
                  </a:lnTo>
                  <a:lnTo>
                    <a:pt x="600300" y="406400"/>
                  </a:lnTo>
                  <a:lnTo>
                    <a:pt x="300150" y="812800"/>
                  </a:lnTo>
                  <a:close/>
                </a:path>
              </a:pathLst>
            </a:custGeom>
            <a:solidFill>
              <a:srgbClr val="000000"/>
            </a:solidFill>
          </p:spPr>
          <p:txBody>
            <a:bodyPr/>
            <a:lstStyle/>
            <a:p>
              <a:endParaRPr lang="it-IT"/>
            </a:p>
          </p:txBody>
        </p:sp>
        <p:sp>
          <p:nvSpPr>
            <p:cNvPr id="18" name="TextBox 18"/>
            <p:cNvSpPr txBox="1"/>
            <p:nvPr/>
          </p:nvSpPr>
          <p:spPr>
            <a:xfrm>
              <a:off x="203200" y="-66675"/>
              <a:ext cx="193900" cy="777875"/>
            </a:xfrm>
            <a:prstGeom prst="rect">
              <a:avLst/>
            </a:prstGeom>
          </p:spPr>
          <p:txBody>
            <a:bodyPr lIns="50800" tIns="50800" rIns="50800" bIns="50800" rtlCol="0" anchor="ctr"/>
            <a:lstStyle/>
            <a:p>
              <a:pPr algn="ctr">
                <a:lnSpc>
                  <a:spcPts val="3919"/>
                </a:lnSpc>
              </a:pPr>
              <a:endParaRPr/>
            </a:p>
          </p:txBody>
        </p:sp>
      </p:grpSp>
      <p:sp>
        <p:nvSpPr>
          <p:cNvPr id="19" name="TextBox 19"/>
          <p:cNvSpPr txBox="1"/>
          <p:nvPr/>
        </p:nvSpPr>
        <p:spPr>
          <a:xfrm>
            <a:off x="9398461" y="7373603"/>
            <a:ext cx="7940300" cy="490855"/>
          </a:xfrm>
          <a:prstGeom prst="rect">
            <a:avLst/>
          </a:prstGeom>
        </p:spPr>
        <p:txBody>
          <a:bodyPr lIns="0" tIns="0" rIns="0" bIns="0" rtlCol="0" anchor="t">
            <a:spAutoFit/>
          </a:bodyPr>
          <a:lstStyle/>
          <a:p>
            <a:pPr algn="ctr">
              <a:lnSpc>
                <a:spcPts val="3919"/>
              </a:lnSpc>
            </a:pPr>
            <a:r>
              <a:rPr lang="en-US" sz="2799">
                <a:solidFill>
                  <a:srgbClr val="000000"/>
                </a:solidFill>
                <a:latin typeface="Open Sauce"/>
                <a:ea typeface="Open Sauce"/>
                <a:cs typeface="Open Sauce"/>
                <a:sym typeface="Open Sauce"/>
              </a:rPr>
              <a:t>Set of dynamic mapping rules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6371268"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Functionality: data exploration on-demand</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14</a:t>
            </a:r>
          </a:p>
        </p:txBody>
      </p:sp>
      <p:sp>
        <p:nvSpPr>
          <p:cNvPr id="6" name="TextBox 6"/>
          <p:cNvSpPr txBox="1"/>
          <p:nvPr/>
        </p:nvSpPr>
        <p:spPr>
          <a:xfrm>
            <a:off x="1166399" y="4681671"/>
            <a:ext cx="1843734"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0000"/>
                </a:solidFill>
                <a:latin typeface="Open Sauce Bold"/>
                <a:ea typeface="Open Sauce Bold"/>
                <a:cs typeface="Open Sauce Bold"/>
                <a:sym typeface="Open Sauce Bold"/>
              </a:rPr>
              <a:t>Data Sources</a:t>
            </a:r>
          </a:p>
        </p:txBody>
      </p:sp>
      <p:sp>
        <p:nvSpPr>
          <p:cNvPr id="7" name="TextBox 7"/>
          <p:cNvSpPr txBox="1"/>
          <p:nvPr/>
        </p:nvSpPr>
        <p:spPr>
          <a:xfrm>
            <a:off x="5418605" y="4681771"/>
            <a:ext cx="1592142" cy="1256566"/>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0000"/>
                </a:solidFill>
                <a:latin typeface="Open Sauce Bold"/>
                <a:ea typeface="Open Sauce Bold"/>
                <a:cs typeface="Open Sauce Bold"/>
                <a:sym typeface="Open Sauce Bold"/>
              </a:rPr>
              <a:t>Data Access</a:t>
            </a:r>
          </a:p>
        </p:txBody>
      </p:sp>
      <p:sp>
        <p:nvSpPr>
          <p:cNvPr id="8" name="TextBox 8"/>
          <p:cNvSpPr txBox="1"/>
          <p:nvPr/>
        </p:nvSpPr>
        <p:spPr>
          <a:xfrm>
            <a:off x="9487247" y="4681870"/>
            <a:ext cx="3119093" cy="1256566"/>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0000"/>
                </a:solidFill>
                <a:latin typeface="Open Sauce Bold"/>
                <a:ea typeface="Open Sauce Bold"/>
                <a:cs typeface="Open Sauce Bold"/>
                <a:sym typeface="Open Sauce Bold"/>
              </a:rPr>
              <a:t>Data Transformation</a:t>
            </a:r>
          </a:p>
        </p:txBody>
      </p:sp>
      <p:sp>
        <p:nvSpPr>
          <p:cNvPr id="9" name="TextBox 9"/>
          <p:cNvSpPr txBox="1"/>
          <p:nvPr/>
        </p:nvSpPr>
        <p:spPr>
          <a:xfrm>
            <a:off x="15396363" y="4681771"/>
            <a:ext cx="2548392" cy="12566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0000"/>
                </a:solidFill>
                <a:latin typeface="Open Sauce Bold"/>
                <a:ea typeface="Open Sauce Bold"/>
                <a:cs typeface="Open Sauce Bold"/>
                <a:sym typeface="Open Sauce Bold"/>
              </a:rPr>
              <a:t>Data Provisioning</a:t>
            </a:r>
          </a:p>
        </p:txBody>
      </p:sp>
      <p:sp>
        <p:nvSpPr>
          <p:cNvPr id="10" name="TextBox 10"/>
          <p:cNvSpPr txBox="1"/>
          <p:nvPr/>
        </p:nvSpPr>
        <p:spPr>
          <a:xfrm>
            <a:off x="1166399" y="2781642"/>
            <a:ext cx="8504414" cy="490855"/>
          </a:xfrm>
          <a:prstGeom prst="rect">
            <a:avLst/>
          </a:prstGeom>
        </p:spPr>
        <p:txBody>
          <a:bodyPr lIns="0" tIns="0" rIns="0" bIns="0" rtlCol="0" anchor="t">
            <a:spAutoFit/>
          </a:bodyPr>
          <a:lstStyle/>
          <a:p>
            <a:pPr algn="l">
              <a:lnSpc>
                <a:spcPts val="3919"/>
              </a:lnSpc>
            </a:pPr>
            <a:r>
              <a:rPr lang="en-US" sz="2799">
                <a:solidFill>
                  <a:srgbClr val="000000"/>
                </a:solidFill>
                <a:latin typeface="Open Sauce"/>
                <a:ea typeface="Open Sauce"/>
                <a:cs typeface="Open Sauce"/>
                <a:sym typeface="Open Sauce"/>
              </a:rPr>
              <a:t>Works for remote collections only.</a:t>
            </a:r>
          </a:p>
        </p:txBody>
      </p:sp>
      <p:sp>
        <p:nvSpPr>
          <p:cNvPr id="11" name="AutoShape 11"/>
          <p:cNvSpPr/>
          <p:nvPr/>
        </p:nvSpPr>
        <p:spPr>
          <a:xfrm>
            <a:off x="3010132" y="5371916"/>
            <a:ext cx="2145831" cy="50"/>
          </a:xfrm>
          <a:prstGeom prst="line">
            <a:avLst/>
          </a:prstGeom>
          <a:ln w="38100" cap="flat">
            <a:solidFill>
              <a:srgbClr val="000000"/>
            </a:solidFill>
            <a:prstDash val="solid"/>
            <a:headEnd type="none" w="sm" len="sm"/>
            <a:tailEnd type="none" w="sm" len="sm"/>
          </a:ln>
        </p:spPr>
        <p:txBody>
          <a:bodyPr/>
          <a:lstStyle/>
          <a:p>
            <a:endParaRPr lang="it-IT"/>
          </a:p>
        </p:txBody>
      </p:sp>
      <p:sp>
        <p:nvSpPr>
          <p:cNvPr id="12" name="AutoShape 12"/>
          <p:cNvSpPr/>
          <p:nvPr/>
        </p:nvSpPr>
        <p:spPr>
          <a:xfrm>
            <a:off x="7010747" y="5371966"/>
            <a:ext cx="2133253" cy="0"/>
          </a:xfrm>
          <a:prstGeom prst="line">
            <a:avLst/>
          </a:prstGeom>
          <a:ln w="38100" cap="flat">
            <a:solidFill>
              <a:srgbClr val="000000"/>
            </a:solidFill>
            <a:prstDash val="solid"/>
            <a:headEnd type="none" w="sm" len="sm"/>
            <a:tailEnd type="none" w="sm" len="sm"/>
          </a:ln>
        </p:spPr>
        <p:txBody>
          <a:bodyPr/>
          <a:lstStyle/>
          <a:p>
            <a:endParaRPr lang="it-IT"/>
          </a:p>
        </p:txBody>
      </p:sp>
      <p:sp>
        <p:nvSpPr>
          <p:cNvPr id="13" name="AutoShape 13"/>
          <p:cNvSpPr/>
          <p:nvPr/>
        </p:nvSpPr>
        <p:spPr>
          <a:xfrm>
            <a:off x="12606340" y="5372065"/>
            <a:ext cx="2530852" cy="0"/>
          </a:xfrm>
          <a:prstGeom prst="line">
            <a:avLst/>
          </a:prstGeom>
          <a:ln w="38100" cap="flat">
            <a:solidFill>
              <a:srgbClr val="000000"/>
            </a:solidFill>
            <a:prstDash val="solid"/>
            <a:headEnd type="none" w="sm" len="sm"/>
            <a:tailEnd type="none" w="sm" len="sm"/>
          </a:ln>
        </p:spPr>
        <p:txBody>
          <a:bodyPr/>
          <a:lstStyle/>
          <a:p>
            <a:endParaRPr lang="it-IT"/>
          </a:p>
        </p:txBody>
      </p:sp>
      <p:sp>
        <p:nvSpPr>
          <p:cNvPr id="14" name="AutoShape 14"/>
          <p:cNvSpPr/>
          <p:nvPr/>
        </p:nvSpPr>
        <p:spPr>
          <a:xfrm flipV="1">
            <a:off x="8949643" y="5372065"/>
            <a:ext cx="194357"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15" name="AutoShape 15"/>
          <p:cNvSpPr/>
          <p:nvPr/>
        </p:nvSpPr>
        <p:spPr>
          <a:xfrm flipH="1" flipV="1">
            <a:off x="8949643" y="5157218"/>
            <a:ext cx="194357"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16" name="AutoShape 16"/>
          <p:cNvSpPr/>
          <p:nvPr/>
        </p:nvSpPr>
        <p:spPr>
          <a:xfrm flipH="1" flipV="1">
            <a:off x="14928711" y="5144435"/>
            <a:ext cx="194357"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17" name="AutoShape 17"/>
          <p:cNvSpPr/>
          <p:nvPr/>
        </p:nvSpPr>
        <p:spPr>
          <a:xfrm flipV="1">
            <a:off x="14942423" y="5358841"/>
            <a:ext cx="194357"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18" name="TextBox 18"/>
          <p:cNvSpPr txBox="1"/>
          <p:nvPr/>
        </p:nvSpPr>
        <p:spPr>
          <a:xfrm>
            <a:off x="3210710" y="7404760"/>
            <a:ext cx="11866580" cy="490855"/>
          </a:xfrm>
          <a:prstGeom prst="rect">
            <a:avLst/>
          </a:prstGeom>
        </p:spPr>
        <p:txBody>
          <a:bodyPr lIns="0" tIns="0" rIns="0" bIns="0" rtlCol="0" anchor="t">
            <a:spAutoFit/>
          </a:bodyPr>
          <a:lstStyle/>
          <a:p>
            <a:pPr algn="ctr">
              <a:lnSpc>
                <a:spcPts val="3919"/>
              </a:lnSpc>
            </a:pPr>
            <a:r>
              <a:rPr lang="en-US" sz="2799" i="1">
                <a:solidFill>
                  <a:srgbClr val="000000"/>
                </a:solidFill>
                <a:latin typeface="Open Sauce Italics"/>
                <a:ea typeface="Open Sauce Italics"/>
                <a:cs typeface="Open Sauce Italics"/>
                <a:sym typeface="Open Sauce Italics"/>
              </a:rPr>
              <a:t>Same standardization procedure, but no storage</a:t>
            </a:r>
          </a:p>
        </p:txBody>
      </p:sp>
      <p:sp>
        <p:nvSpPr>
          <p:cNvPr id="19" name="AutoShape 19"/>
          <p:cNvSpPr/>
          <p:nvPr/>
        </p:nvSpPr>
        <p:spPr>
          <a:xfrm flipH="1" flipV="1">
            <a:off x="4962474" y="5170001"/>
            <a:ext cx="194357"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20" name="AutoShape 20"/>
          <p:cNvSpPr/>
          <p:nvPr/>
        </p:nvSpPr>
        <p:spPr>
          <a:xfrm flipV="1">
            <a:off x="4947894" y="5372407"/>
            <a:ext cx="194357" cy="201524"/>
          </a:xfrm>
          <a:prstGeom prst="line">
            <a:avLst/>
          </a:prstGeom>
          <a:ln w="38100" cap="flat">
            <a:solidFill>
              <a:srgbClr val="000000"/>
            </a:solidFill>
            <a:prstDash val="solid"/>
            <a:headEnd type="none" w="sm" len="sm"/>
            <a:tailEnd type="none" w="sm" len="sm"/>
          </a:ln>
        </p:spPr>
        <p:txBody>
          <a:bodyPr/>
          <a:lstStyle/>
          <a:p>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4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981425"/>
            <a:ext cx="11439942"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storage: metadata</a:t>
            </a:r>
          </a:p>
        </p:txBody>
      </p:sp>
      <p:sp>
        <p:nvSpPr>
          <p:cNvPr id="5" name="TextBox 5"/>
          <p:cNvSpPr txBox="1"/>
          <p:nvPr/>
        </p:nvSpPr>
        <p:spPr>
          <a:xfrm>
            <a:off x="1166399" y="2152340"/>
            <a:ext cx="16092901" cy="986155"/>
          </a:xfrm>
          <a:prstGeom prst="rect">
            <a:avLst/>
          </a:prstGeom>
        </p:spPr>
        <p:txBody>
          <a:bodyPr lIns="0" tIns="0" rIns="0" bIns="0" rtlCol="0" anchor="t">
            <a:spAutoFit/>
          </a:bodyPr>
          <a:lstStyle/>
          <a:p>
            <a:pPr algn="l">
              <a:lnSpc>
                <a:spcPts val="3919"/>
              </a:lnSpc>
            </a:pPr>
            <a:r>
              <a:rPr lang="en-US" sz="2799">
                <a:solidFill>
                  <a:srgbClr val="000000"/>
                </a:solidFill>
                <a:latin typeface="Open Sauce"/>
                <a:ea typeface="Open Sauce"/>
                <a:cs typeface="Open Sauce"/>
                <a:sym typeface="Open Sauce"/>
              </a:rPr>
              <a:t>Metadata is mapped to the internal data model; insertion order is enforced to respect foreign key dependencies.</a:t>
            </a:r>
          </a:p>
        </p:txBody>
      </p:sp>
      <p:sp>
        <p:nvSpPr>
          <p:cNvPr id="6" name="TextBox 6"/>
          <p:cNvSpPr txBox="1"/>
          <p:nvPr/>
        </p:nvSpPr>
        <p:spPr>
          <a:xfrm>
            <a:off x="2669462" y="3858567"/>
            <a:ext cx="3856434" cy="457626"/>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Collection dictionary</a:t>
            </a:r>
          </a:p>
        </p:txBody>
      </p:sp>
      <p:sp>
        <p:nvSpPr>
          <p:cNvPr id="7" name="TextBox 7"/>
          <p:cNvSpPr txBox="1"/>
          <p:nvPr/>
        </p:nvSpPr>
        <p:spPr>
          <a:xfrm>
            <a:off x="2207354" y="5447821"/>
            <a:ext cx="4780650" cy="457626"/>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List of patient dictionaries</a:t>
            </a:r>
          </a:p>
        </p:txBody>
      </p:sp>
      <p:sp>
        <p:nvSpPr>
          <p:cNvPr id="8" name="TextBox 8"/>
          <p:cNvSpPr txBox="1"/>
          <p:nvPr/>
        </p:nvSpPr>
        <p:spPr>
          <a:xfrm>
            <a:off x="2355808" y="7015001"/>
            <a:ext cx="4483742" cy="457626"/>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List of study dictionaries</a:t>
            </a:r>
          </a:p>
        </p:txBody>
      </p:sp>
      <p:sp>
        <p:nvSpPr>
          <p:cNvPr id="9" name="TextBox 9"/>
          <p:cNvSpPr txBox="1"/>
          <p:nvPr/>
        </p:nvSpPr>
        <p:spPr>
          <a:xfrm>
            <a:off x="2535724" y="8484461"/>
            <a:ext cx="4438425" cy="457626"/>
          </a:xfrm>
          <a:prstGeom prst="rect">
            <a:avLst/>
          </a:prstGeom>
        </p:spPr>
        <p:txBody>
          <a:bodyPr wrap="square"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List of series dictionaries</a:t>
            </a:r>
          </a:p>
        </p:txBody>
      </p:sp>
      <p:sp>
        <p:nvSpPr>
          <p:cNvPr id="10" name="TextBox 10"/>
          <p:cNvSpPr txBox="1"/>
          <p:nvPr/>
        </p:nvSpPr>
        <p:spPr>
          <a:xfrm>
            <a:off x="9742125" y="3801435"/>
            <a:ext cx="6441712" cy="490855"/>
          </a:xfrm>
          <a:prstGeom prst="rect">
            <a:avLst/>
          </a:prstGeom>
        </p:spPr>
        <p:txBody>
          <a:bodyPr lIns="0" tIns="0" rIns="0" bIns="0" rtlCol="0" anchor="t">
            <a:spAutoFit/>
          </a:bodyPr>
          <a:lstStyle/>
          <a:p>
            <a:pPr algn="ctr">
              <a:lnSpc>
                <a:spcPts val="3919"/>
              </a:lnSpc>
            </a:pPr>
            <a:r>
              <a:rPr lang="en-US" sz="2799">
                <a:solidFill>
                  <a:srgbClr val="000000"/>
                </a:solidFill>
                <a:latin typeface="Open Sauce"/>
                <a:ea typeface="Open Sauce"/>
                <a:cs typeface="Open Sauce"/>
                <a:sym typeface="Open Sauce"/>
              </a:rPr>
              <a:t>Collection object → collections table</a:t>
            </a:r>
          </a:p>
        </p:txBody>
      </p:sp>
      <p:sp>
        <p:nvSpPr>
          <p:cNvPr id="11" name="TextBox 11"/>
          <p:cNvSpPr txBox="1"/>
          <p:nvPr/>
        </p:nvSpPr>
        <p:spPr>
          <a:xfrm>
            <a:off x="9589935" y="6957851"/>
            <a:ext cx="6441712" cy="490855"/>
          </a:xfrm>
          <a:prstGeom prst="rect">
            <a:avLst/>
          </a:prstGeom>
        </p:spPr>
        <p:txBody>
          <a:bodyPr lIns="0" tIns="0" rIns="0" bIns="0" rtlCol="0" anchor="t">
            <a:spAutoFit/>
          </a:bodyPr>
          <a:lstStyle/>
          <a:p>
            <a:pPr algn="ctr">
              <a:lnSpc>
                <a:spcPts val="3919"/>
              </a:lnSpc>
            </a:pPr>
            <a:r>
              <a:rPr lang="en-US" sz="2799" dirty="0">
                <a:solidFill>
                  <a:srgbClr val="000000"/>
                </a:solidFill>
                <a:latin typeface="Open Sauce"/>
                <a:ea typeface="Open Sauce"/>
                <a:cs typeface="Open Sauce"/>
                <a:sym typeface="Open Sauce"/>
              </a:rPr>
              <a:t>Patient objects → patients table</a:t>
            </a:r>
          </a:p>
        </p:txBody>
      </p:sp>
      <p:sp>
        <p:nvSpPr>
          <p:cNvPr id="12" name="TextBox 12"/>
          <p:cNvSpPr txBox="1"/>
          <p:nvPr/>
        </p:nvSpPr>
        <p:spPr>
          <a:xfrm>
            <a:off x="9575561" y="5381146"/>
            <a:ext cx="6441712" cy="490855"/>
          </a:xfrm>
          <a:prstGeom prst="rect">
            <a:avLst/>
          </a:prstGeom>
        </p:spPr>
        <p:txBody>
          <a:bodyPr lIns="0" tIns="0" rIns="0" bIns="0" rtlCol="0" anchor="t">
            <a:spAutoFit/>
          </a:bodyPr>
          <a:lstStyle/>
          <a:p>
            <a:pPr algn="ctr">
              <a:lnSpc>
                <a:spcPts val="3919"/>
              </a:lnSpc>
            </a:pPr>
            <a:r>
              <a:rPr lang="en-US" sz="2799">
                <a:solidFill>
                  <a:srgbClr val="000000"/>
                </a:solidFill>
                <a:latin typeface="Open Sauce"/>
                <a:ea typeface="Open Sauce"/>
                <a:cs typeface="Open Sauce"/>
                <a:sym typeface="Open Sauce"/>
              </a:rPr>
              <a:t>Study objects → studies table</a:t>
            </a:r>
          </a:p>
        </p:txBody>
      </p:sp>
      <p:sp>
        <p:nvSpPr>
          <p:cNvPr id="13" name="TextBox 13"/>
          <p:cNvSpPr txBox="1"/>
          <p:nvPr/>
        </p:nvSpPr>
        <p:spPr>
          <a:xfrm>
            <a:off x="9589935" y="8512822"/>
            <a:ext cx="6441712" cy="490855"/>
          </a:xfrm>
          <a:prstGeom prst="rect">
            <a:avLst/>
          </a:prstGeom>
        </p:spPr>
        <p:txBody>
          <a:bodyPr lIns="0" tIns="0" rIns="0" bIns="0" rtlCol="0" anchor="t">
            <a:spAutoFit/>
          </a:bodyPr>
          <a:lstStyle/>
          <a:p>
            <a:pPr algn="ctr">
              <a:lnSpc>
                <a:spcPts val="3919"/>
              </a:lnSpc>
            </a:pPr>
            <a:r>
              <a:rPr lang="en-US" sz="2799">
                <a:solidFill>
                  <a:srgbClr val="000000"/>
                </a:solidFill>
                <a:latin typeface="Open Sauce"/>
                <a:ea typeface="Open Sauce"/>
                <a:cs typeface="Open Sauce"/>
                <a:sym typeface="Open Sauce"/>
              </a:rPr>
              <a:t>Series objects → series table</a:t>
            </a:r>
          </a:p>
        </p:txBody>
      </p:sp>
      <p:sp>
        <p:nvSpPr>
          <p:cNvPr id="14" name="AutoShape 14"/>
          <p:cNvSpPr/>
          <p:nvPr/>
        </p:nvSpPr>
        <p:spPr>
          <a:xfrm>
            <a:off x="1872773" y="3309945"/>
            <a:ext cx="14468766" cy="0"/>
          </a:xfrm>
          <a:prstGeom prst="line">
            <a:avLst/>
          </a:prstGeom>
          <a:ln w="38100" cap="flat">
            <a:solidFill>
              <a:srgbClr val="000000"/>
            </a:solidFill>
            <a:prstDash val="solid"/>
            <a:headEnd type="none" w="sm" len="sm"/>
            <a:tailEnd type="none" w="sm" len="sm"/>
          </a:ln>
        </p:spPr>
        <p:txBody>
          <a:bodyPr/>
          <a:lstStyle/>
          <a:p>
            <a:endParaRPr lang="it-IT"/>
          </a:p>
        </p:txBody>
      </p:sp>
      <p:sp>
        <p:nvSpPr>
          <p:cNvPr id="15" name="AutoShape 15"/>
          <p:cNvSpPr/>
          <p:nvPr/>
        </p:nvSpPr>
        <p:spPr>
          <a:xfrm>
            <a:off x="1872773" y="3309945"/>
            <a:ext cx="0" cy="6108375"/>
          </a:xfrm>
          <a:prstGeom prst="line">
            <a:avLst/>
          </a:prstGeom>
          <a:ln w="38100" cap="flat">
            <a:solidFill>
              <a:srgbClr val="000000"/>
            </a:solidFill>
            <a:prstDash val="solid"/>
            <a:headEnd type="none" w="sm" len="sm"/>
            <a:tailEnd type="none" w="sm" len="sm"/>
          </a:ln>
        </p:spPr>
        <p:txBody>
          <a:bodyPr/>
          <a:lstStyle/>
          <a:p>
            <a:endParaRPr lang="it-IT"/>
          </a:p>
        </p:txBody>
      </p:sp>
      <p:sp>
        <p:nvSpPr>
          <p:cNvPr id="16" name="AutoShape 16"/>
          <p:cNvSpPr/>
          <p:nvPr/>
        </p:nvSpPr>
        <p:spPr>
          <a:xfrm>
            <a:off x="1872773" y="9418320"/>
            <a:ext cx="14468766" cy="0"/>
          </a:xfrm>
          <a:prstGeom prst="line">
            <a:avLst/>
          </a:prstGeom>
          <a:ln w="38100" cap="flat">
            <a:solidFill>
              <a:srgbClr val="000000"/>
            </a:solidFill>
            <a:prstDash val="solid"/>
            <a:headEnd type="none" w="sm" len="sm"/>
            <a:tailEnd type="none" w="sm" len="sm"/>
          </a:ln>
        </p:spPr>
        <p:txBody>
          <a:bodyPr/>
          <a:lstStyle/>
          <a:p>
            <a:endParaRPr lang="it-IT"/>
          </a:p>
        </p:txBody>
      </p:sp>
      <p:sp>
        <p:nvSpPr>
          <p:cNvPr id="17" name="AutoShape 17"/>
          <p:cNvSpPr/>
          <p:nvPr/>
        </p:nvSpPr>
        <p:spPr>
          <a:xfrm>
            <a:off x="16341539" y="3309945"/>
            <a:ext cx="0" cy="6108375"/>
          </a:xfrm>
          <a:prstGeom prst="line">
            <a:avLst/>
          </a:prstGeom>
          <a:ln w="38100" cap="flat">
            <a:solidFill>
              <a:srgbClr val="000000"/>
            </a:solidFill>
            <a:prstDash val="solid"/>
            <a:headEnd type="none" w="sm" len="sm"/>
            <a:tailEnd type="none" w="sm" len="sm"/>
          </a:ln>
        </p:spPr>
        <p:txBody>
          <a:bodyPr/>
          <a:lstStyle/>
          <a:p>
            <a:endParaRPr lang="it-IT"/>
          </a:p>
        </p:txBody>
      </p:sp>
      <p:grpSp>
        <p:nvGrpSpPr>
          <p:cNvPr id="18" name="Group 18"/>
          <p:cNvGrpSpPr/>
          <p:nvPr/>
        </p:nvGrpSpPr>
        <p:grpSpPr>
          <a:xfrm rot="-5400000">
            <a:off x="8214616" y="3811582"/>
            <a:ext cx="623466" cy="736521"/>
            <a:chOff x="0" y="0"/>
            <a:chExt cx="590682" cy="697792"/>
          </a:xfrm>
        </p:grpSpPr>
        <p:sp>
          <p:nvSpPr>
            <p:cNvPr id="19" name="Freeform 19"/>
            <p:cNvSpPr/>
            <p:nvPr/>
          </p:nvSpPr>
          <p:spPr>
            <a:xfrm>
              <a:off x="0" y="0"/>
              <a:ext cx="590682" cy="697792"/>
            </a:xfrm>
            <a:custGeom>
              <a:avLst/>
              <a:gdLst/>
              <a:ahLst/>
              <a:cxnLst/>
              <a:rect l="l" t="t" r="r" b="b"/>
              <a:pathLst>
                <a:path w="590682" h="697792">
                  <a:moveTo>
                    <a:pt x="295341" y="697792"/>
                  </a:moveTo>
                  <a:lnTo>
                    <a:pt x="0" y="291392"/>
                  </a:lnTo>
                  <a:lnTo>
                    <a:pt x="203200" y="291392"/>
                  </a:lnTo>
                  <a:lnTo>
                    <a:pt x="203200" y="0"/>
                  </a:lnTo>
                  <a:lnTo>
                    <a:pt x="387482" y="0"/>
                  </a:lnTo>
                  <a:lnTo>
                    <a:pt x="387482" y="291392"/>
                  </a:lnTo>
                  <a:lnTo>
                    <a:pt x="590682" y="291392"/>
                  </a:lnTo>
                  <a:lnTo>
                    <a:pt x="295341" y="697792"/>
                  </a:lnTo>
                  <a:close/>
                </a:path>
              </a:pathLst>
            </a:custGeom>
            <a:solidFill>
              <a:srgbClr val="000000"/>
            </a:solidFill>
          </p:spPr>
          <p:txBody>
            <a:bodyPr/>
            <a:lstStyle/>
            <a:p>
              <a:endParaRPr lang="it-IT"/>
            </a:p>
          </p:txBody>
        </p:sp>
        <p:sp>
          <p:nvSpPr>
            <p:cNvPr id="20" name="TextBox 20"/>
            <p:cNvSpPr txBox="1"/>
            <p:nvPr/>
          </p:nvSpPr>
          <p:spPr>
            <a:xfrm>
              <a:off x="203200" y="-38100"/>
              <a:ext cx="184282" cy="634292"/>
            </a:xfrm>
            <a:prstGeom prst="rect">
              <a:avLst/>
            </a:prstGeom>
          </p:spPr>
          <p:txBody>
            <a:bodyPr lIns="50800" tIns="50800" rIns="50800" bIns="50800" rtlCol="0" anchor="ctr"/>
            <a:lstStyle/>
            <a:p>
              <a:pPr algn="ctr">
                <a:lnSpc>
                  <a:spcPts val="2239"/>
                </a:lnSpc>
              </a:pPr>
              <a:endParaRPr/>
            </a:p>
          </p:txBody>
        </p:sp>
      </p:grpSp>
      <p:grpSp>
        <p:nvGrpSpPr>
          <p:cNvPr id="21" name="Group 21"/>
          <p:cNvGrpSpPr/>
          <p:nvPr/>
        </p:nvGrpSpPr>
        <p:grpSpPr>
          <a:xfrm rot="-5400000">
            <a:off x="8214616" y="5391294"/>
            <a:ext cx="623466" cy="736521"/>
            <a:chOff x="0" y="0"/>
            <a:chExt cx="590682" cy="697792"/>
          </a:xfrm>
        </p:grpSpPr>
        <p:sp>
          <p:nvSpPr>
            <p:cNvPr id="22" name="Freeform 22"/>
            <p:cNvSpPr/>
            <p:nvPr/>
          </p:nvSpPr>
          <p:spPr>
            <a:xfrm>
              <a:off x="0" y="0"/>
              <a:ext cx="590682" cy="697792"/>
            </a:xfrm>
            <a:custGeom>
              <a:avLst/>
              <a:gdLst/>
              <a:ahLst/>
              <a:cxnLst/>
              <a:rect l="l" t="t" r="r" b="b"/>
              <a:pathLst>
                <a:path w="590682" h="697792">
                  <a:moveTo>
                    <a:pt x="295341" y="697792"/>
                  </a:moveTo>
                  <a:lnTo>
                    <a:pt x="0" y="291392"/>
                  </a:lnTo>
                  <a:lnTo>
                    <a:pt x="203200" y="291392"/>
                  </a:lnTo>
                  <a:lnTo>
                    <a:pt x="203200" y="0"/>
                  </a:lnTo>
                  <a:lnTo>
                    <a:pt x="387482" y="0"/>
                  </a:lnTo>
                  <a:lnTo>
                    <a:pt x="387482" y="291392"/>
                  </a:lnTo>
                  <a:lnTo>
                    <a:pt x="590682" y="291392"/>
                  </a:lnTo>
                  <a:lnTo>
                    <a:pt x="295341" y="697792"/>
                  </a:lnTo>
                  <a:close/>
                </a:path>
              </a:pathLst>
            </a:custGeom>
            <a:solidFill>
              <a:srgbClr val="000000"/>
            </a:solidFill>
          </p:spPr>
          <p:txBody>
            <a:bodyPr/>
            <a:lstStyle/>
            <a:p>
              <a:endParaRPr lang="it-IT"/>
            </a:p>
          </p:txBody>
        </p:sp>
        <p:sp>
          <p:nvSpPr>
            <p:cNvPr id="23" name="TextBox 23"/>
            <p:cNvSpPr txBox="1"/>
            <p:nvPr/>
          </p:nvSpPr>
          <p:spPr>
            <a:xfrm>
              <a:off x="203200" y="-38100"/>
              <a:ext cx="184282" cy="634292"/>
            </a:xfrm>
            <a:prstGeom prst="rect">
              <a:avLst/>
            </a:prstGeom>
          </p:spPr>
          <p:txBody>
            <a:bodyPr lIns="50800" tIns="50800" rIns="50800" bIns="50800" rtlCol="0" anchor="ctr"/>
            <a:lstStyle/>
            <a:p>
              <a:pPr algn="ctr">
                <a:lnSpc>
                  <a:spcPts val="2239"/>
                </a:lnSpc>
              </a:pPr>
              <a:endParaRPr/>
            </a:p>
          </p:txBody>
        </p:sp>
      </p:grpSp>
      <p:grpSp>
        <p:nvGrpSpPr>
          <p:cNvPr id="24" name="Group 24"/>
          <p:cNvGrpSpPr/>
          <p:nvPr/>
        </p:nvGrpSpPr>
        <p:grpSpPr>
          <a:xfrm rot="-5400000">
            <a:off x="8214616" y="6958474"/>
            <a:ext cx="623466" cy="736521"/>
            <a:chOff x="0" y="0"/>
            <a:chExt cx="590682" cy="697792"/>
          </a:xfrm>
        </p:grpSpPr>
        <p:sp>
          <p:nvSpPr>
            <p:cNvPr id="25" name="Freeform 25"/>
            <p:cNvSpPr/>
            <p:nvPr/>
          </p:nvSpPr>
          <p:spPr>
            <a:xfrm>
              <a:off x="0" y="0"/>
              <a:ext cx="590682" cy="697792"/>
            </a:xfrm>
            <a:custGeom>
              <a:avLst/>
              <a:gdLst/>
              <a:ahLst/>
              <a:cxnLst/>
              <a:rect l="l" t="t" r="r" b="b"/>
              <a:pathLst>
                <a:path w="590682" h="697792">
                  <a:moveTo>
                    <a:pt x="295341" y="697792"/>
                  </a:moveTo>
                  <a:lnTo>
                    <a:pt x="0" y="291392"/>
                  </a:lnTo>
                  <a:lnTo>
                    <a:pt x="203200" y="291392"/>
                  </a:lnTo>
                  <a:lnTo>
                    <a:pt x="203200" y="0"/>
                  </a:lnTo>
                  <a:lnTo>
                    <a:pt x="387482" y="0"/>
                  </a:lnTo>
                  <a:lnTo>
                    <a:pt x="387482" y="291392"/>
                  </a:lnTo>
                  <a:lnTo>
                    <a:pt x="590682" y="291392"/>
                  </a:lnTo>
                  <a:lnTo>
                    <a:pt x="295341" y="697792"/>
                  </a:lnTo>
                  <a:close/>
                </a:path>
              </a:pathLst>
            </a:custGeom>
            <a:solidFill>
              <a:srgbClr val="000000"/>
            </a:solidFill>
          </p:spPr>
          <p:txBody>
            <a:bodyPr/>
            <a:lstStyle/>
            <a:p>
              <a:endParaRPr lang="it-IT"/>
            </a:p>
          </p:txBody>
        </p:sp>
        <p:sp>
          <p:nvSpPr>
            <p:cNvPr id="26" name="TextBox 26"/>
            <p:cNvSpPr txBox="1"/>
            <p:nvPr/>
          </p:nvSpPr>
          <p:spPr>
            <a:xfrm>
              <a:off x="203200" y="-38100"/>
              <a:ext cx="184282" cy="634292"/>
            </a:xfrm>
            <a:prstGeom prst="rect">
              <a:avLst/>
            </a:prstGeom>
          </p:spPr>
          <p:txBody>
            <a:bodyPr lIns="50800" tIns="50800" rIns="50800" bIns="50800" rtlCol="0" anchor="ctr"/>
            <a:lstStyle/>
            <a:p>
              <a:pPr algn="ctr">
                <a:lnSpc>
                  <a:spcPts val="2239"/>
                </a:lnSpc>
              </a:pPr>
              <a:endParaRPr/>
            </a:p>
          </p:txBody>
        </p:sp>
      </p:grpSp>
      <p:grpSp>
        <p:nvGrpSpPr>
          <p:cNvPr id="27" name="Group 27"/>
          <p:cNvGrpSpPr/>
          <p:nvPr/>
        </p:nvGrpSpPr>
        <p:grpSpPr>
          <a:xfrm rot="-5400000">
            <a:off x="8214616" y="8423327"/>
            <a:ext cx="623466" cy="736521"/>
            <a:chOff x="0" y="0"/>
            <a:chExt cx="590682" cy="697792"/>
          </a:xfrm>
        </p:grpSpPr>
        <p:sp>
          <p:nvSpPr>
            <p:cNvPr id="28" name="Freeform 28"/>
            <p:cNvSpPr/>
            <p:nvPr/>
          </p:nvSpPr>
          <p:spPr>
            <a:xfrm>
              <a:off x="0" y="0"/>
              <a:ext cx="590682" cy="697792"/>
            </a:xfrm>
            <a:custGeom>
              <a:avLst/>
              <a:gdLst/>
              <a:ahLst/>
              <a:cxnLst/>
              <a:rect l="l" t="t" r="r" b="b"/>
              <a:pathLst>
                <a:path w="590682" h="697792">
                  <a:moveTo>
                    <a:pt x="295341" y="697792"/>
                  </a:moveTo>
                  <a:lnTo>
                    <a:pt x="0" y="291392"/>
                  </a:lnTo>
                  <a:lnTo>
                    <a:pt x="203200" y="291392"/>
                  </a:lnTo>
                  <a:lnTo>
                    <a:pt x="203200" y="0"/>
                  </a:lnTo>
                  <a:lnTo>
                    <a:pt x="387482" y="0"/>
                  </a:lnTo>
                  <a:lnTo>
                    <a:pt x="387482" y="291392"/>
                  </a:lnTo>
                  <a:lnTo>
                    <a:pt x="590682" y="291392"/>
                  </a:lnTo>
                  <a:lnTo>
                    <a:pt x="295341" y="697792"/>
                  </a:lnTo>
                  <a:close/>
                </a:path>
              </a:pathLst>
            </a:custGeom>
            <a:solidFill>
              <a:srgbClr val="000000"/>
            </a:solidFill>
          </p:spPr>
          <p:txBody>
            <a:bodyPr/>
            <a:lstStyle/>
            <a:p>
              <a:endParaRPr lang="it-IT"/>
            </a:p>
          </p:txBody>
        </p:sp>
        <p:sp>
          <p:nvSpPr>
            <p:cNvPr id="29" name="TextBox 29"/>
            <p:cNvSpPr txBox="1"/>
            <p:nvPr/>
          </p:nvSpPr>
          <p:spPr>
            <a:xfrm>
              <a:off x="203200" y="-38100"/>
              <a:ext cx="184282" cy="634292"/>
            </a:xfrm>
            <a:prstGeom prst="rect">
              <a:avLst/>
            </a:prstGeom>
          </p:spPr>
          <p:txBody>
            <a:bodyPr lIns="50800" tIns="50800" rIns="50800" bIns="50800" rtlCol="0" anchor="ctr"/>
            <a:lstStyle/>
            <a:p>
              <a:pPr algn="ctr">
                <a:lnSpc>
                  <a:spcPts val="2239"/>
                </a:lnSpc>
              </a:pPr>
              <a:endParaRPr/>
            </a:p>
          </p:txBody>
        </p:sp>
      </p:grpSp>
      <p:sp>
        <p:nvSpPr>
          <p:cNvPr id="30" name="TextBox 30"/>
          <p:cNvSpPr txBox="1"/>
          <p:nvPr/>
        </p:nvSpPr>
        <p:spPr>
          <a:xfrm>
            <a:off x="13808824" y="9102407"/>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grpSp>
        <p:nvGrpSpPr>
          <p:cNvPr id="3" name="Group 3"/>
          <p:cNvGrpSpPr/>
          <p:nvPr/>
        </p:nvGrpSpPr>
        <p:grpSpPr>
          <a:xfrm>
            <a:off x="1028700" y="3551456"/>
            <a:ext cx="16230600" cy="3868326"/>
            <a:chOff x="0" y="0"/>
            <a:chExt cx="4274726" cy="1018818"/>
          </a:xfrm>
        </p:grpSpPr>
        <p:sp>
          <p:nvSpPr>
            <p:cNvPr id="4" name="Freeform 4"/>
            <p:cNvSpPr/>
            <p:nvPr/>
          </p:nvSpPr>
          <p:spPr>
            <a:xfrm>
              <a:off x="0" y="0"/>
              <a:ext cx="4274726" cy="1018818"/>
            </a:xfrm>
            <a:custGeom>
              <a:avLst/>
              <a:gdLst/>
              <a:ahLst/>
              <a:cxnLst/>
              <a:rect l="l" t="t" r="r" b="b"/>
              <a:pathLst>
                <a:path w="4274726" h="1018818">
                  <a:moveTo>
                    <a:pt x="0" y="0"/>
                  </a:moveTo>
                  <a:lnTo>
                    <a:pt x="4274726" y="0"/>
                  </a:lnTo>
                  <a:lnTo>
                    <a:pt x="4274726" y="1018818"/>
                  </a:lnTo>
                  <a:lnTo>
                    <a:pt x="0" y="1018818"/>
                  </a:lnTo>
                  <a:close/>
                </a:path>
              </a:pathLst>
            </a:custGeom>
            <a:solidFill>
              <a:srgbClr val="FFFFFF"/>
            </a:solidFill>
            <a:ln w="28575" cap="sq">
              <a:solidFill>
                <a:srgbClr val="000000"/>
              </a:solidFill>
              <a:prstDash val="solid"/>
              <a:miter/>
            </a:ln>
          </p:spPr>
          <p:txBody>
            <a:bodyPr/>
            <a:lstStyle/>
            <a:p>
              <a:endParaRPr lang="it-IT"/>
            </a:p>
          </p:txBody>
        </p:sp>
        <p:sp>
          <p:nvSpPr>
            <p:cNvPr id="5" name="TextBox 5"/>
            <p:cNvSpPr txBox="1"/>
            <p:nvPr/>
          </p:nvSpPr>
          <p:spPr>
            <a:xfrm>
              <a:off x="0" y="-66675"/>
              <a:ext cx="4274726" cy="1085493"/>
            </a:xfrm>
            <a:prstGeom prst="rect">
              <a:avLst/>
            </a:prstGeom>
          </p:spPr>
          <p:txBody>
            <a:bodyPr lIns="50800" tIns="50800" rIns="50800" bIns="50800" rtlCol="0" anchor="ctr"/>
            <a:lstStyle/>
            <a:p>
              <a:pPr algn="ctr">
                <a:lnSpc>
                  <a:spcPts val="3919"/>
                </a:lnSpc>
              </a:pPr>
              <a:endParaRPr/>
            </a:p>
          </p:txBody>
        </p:sp>
      </p:grpSp>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7" name="TextBox 7"/>
          <p:cNvSpPr txBox="1"/>
          <p:nvPr/>
        </p:nvSpPr>
        <p:spPr>
          <a:xfrm>
            <a:off x="4590505" y="4184637"/>
            <a:ext cx="1516949"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Access</a:t>
            </a:r>
          </a:p>
        </p:txBody>
      </p:sp>
      <p:sp>
        <p:nvSpPr>
          <p:cNvPr id="8" name="AutoShape 8"/>
          <p:cNvSpPr/>
          <p:nvPr/>
        </p:nvSpPr>
        <p:spPr>
          <a:xfrm>
            <a:off x="2993873" y="4789693"/>
            <a:ext cx="1272480" cy="0"/>
          </a:xfrm>
          <a:prstGeom prst="line">
            <a:avLst/>
          </a:prstGeom>
          <a:ln w="38100" cap="flat">
            <a:solidFill>
              <a:srgbClr val="000000"/>
            </a:solidFill>
            <a:prstDash val="solid"/>
            <a:headEnd type="none" w="sm" len="sm"/>
            <a:tailEnd type="none" w="sm" len="sm"/>
          </a:ln>
        </p:spPr>
        <p:txBody>
          <a:bodyPr/>
          <a:lstStyle/>
          <a:p>
            <a:endParaRPr lang="it-IT"/>
          </a:p>
        </p:txBody>
      </p:sp>
      <p:sp>
        <p:nvSpPr>
          <p:cNvPr id="9" name="AutoShape 9"/>
          <p:cNvSpPr/>
          <p:nvPr/>
        </p:nvSpPr>
        <p:spPr>
          <a:xfrm>
            <a:off x="6107453" y="4789792"/>
            <a:ext cx="1204036" cy="0"/>
          </a:xfrm>
          <a:prstGeom prst="line">
            <a:avLst/>
          </a:prstGeom>
          <a:ln w="38100" cap="flat">
            <a:solidFill>
              <a:srgbClr val="000000"/>
            </a:solidFill>
            <a:prstDash val="solid"/>
            <a:headEnd type="none" w="sm" len="sm"/>
            <a:tailEnd type="none" w="sm" len="sm"/>
          </a:ln>
        </p:spPr>
        <p:txBody>
          <a:bodyPr/>
          <a:lstStyle/>
          <a:p>
            <a:endParaRPr lang="it-IT"/>
          </a:p>
        </p:txBody>
      </p:sp>
      <p:sp>
        <p:nvSpPr>
          <p:cNvPr id="10" name="AutoShape 10"/>
          <p:cNvSpPr/>
          <p:nvPr/>
        </p:nvSpPr>
        <p:spPr>
          <a:xfrm flipV="1">
            <a:off x="4067148" y="4802583"/>
            <a:ext cx="185178"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11" name="AutoShape 11"/>
          <p:cNvSpPr/>
          <p:nvPr/>
        </p:nvSpPr>
        <p:spPr>
          <a:xfrm flipH="1" flipV="1">
            <a:off x="4066749" y="4562604"/>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12" name="AutoShape 12"/>
          <p:cNvSpPr/>
          <p:nvPr/>
        </p:nvSpPr>
        <p:spPr>
          <a:xfrm>
            <a:off x="10539184" y="4707494"/>
            <a:ext cx="1173486" cy="0"/>
          </a:xfrm>
          <a:prstGeom prst="line">
            <a:avLst/>
          </a:prstGeom>
          <a:ln w="38100" cap="flat">
            <a:solidFill>
              <a:srgbClr val="000000"/>
            </a:solidFill>
            <a:prstDash val="solid"/>
            <a:headEnd type="none" w="sm" len="sm"/>
            <a:tailEnd type="none" w="sm" len="sm"/>
          </a:ln>
        </p:spPr>
        <p:txBody>
          <a:bodyPr/>
          <a:lstStyle/>
          <a:p>
            <a:endParaRPr lang="it-IT"/>
          </a:p>
        </p:txBody>
      </p:sp>
      <p:sp>
        <p:nvSpPr>
          <p:cNvPr id="13" name="AutoShape 13"/>
          <p:cNvSpPr/>
          <p:nvPr/>
        </p:nvSpPr>
        <p:spPr>
          <a:xfrm flipV="1">
            <a:off x="11527492" y="4707494"/>
            <a:ext cx="185178"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14" name="AutoShape 14"/>
          <p:cNvSpPr/>
          <p:nvPr/>
        </p:nvSpPr>
        <p:spPr>
          <a:xfrm flipH="1" flipV="1">
            <a:off x="11527492" y="4492647"/>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15" name="AutoShape 15"/>
          <p:cNvSpPr/>
          <p:nvPr/>
        </p:nvSpPr>
        <p:spPr>
          <a:xfrm>
            <a:off x="13551791" y="4733501"/>
            <a:ext cx="1173486" cy="0"/>
          </a:xfrm>
          <a:prstGeom prst="line">
            <a:avLst/>
          </a:prstGeom>
          <a:ln w="38100" cap="flat">
            <a:solidFill>
              <a:srgbClr val="000000"/>
            </a:solidFill>
            <a:prstDash val="solid"/>
            <a:headEnd type="none" w="sm" len="sm"/>
            <a:tailEnd type="none" w="sm" len="sm"/>
          </a:ln>
        </p:spPr>
        <p:txBody>
          <a:bodyPr/>
          <a:lstStyle/>
          <a:p>
            <a:endParaRPr lang="it-IT"/>
          </a:p>
        </p:txBody>
      </p:sp>
      <p:sp>
        <p:nvSpPr>
          <p:cNvPr id="16" name="AutoShape 16"/>
          <p:cNvSpPr/>
          <p:nvPr/>
        </p:nvSpPr>
        <p:spPr>
          <a:xfrm flipV="1">
            <a:off x="14540099" y="4733501"/>
            <a:ext cx="185178"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17" name="AutoShape 17"/>
          <p:cNvSpPr/>
          <p:nvPr/>
        </p:nvSpPr>
        <p:spPr>
          <a:xfrm flipH="1" flipV="1">
            <a:off x="14540099" y="4518654"/>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18" name="AutoShape 18"/>
          <p:cNvSpPr/>
          <p:nvPr/>
        </p:nvSpPr>
        <p:spPr>
          <a:xfrm>
            <a:off x="2993873" y="6718910"/>
            <a:ext cx="2069983" cy="0"/>
          </a:xfrm>
          <a:prstGeom prst="line">
            <a:avLst/>
          </a:prstGeom>
          <a:ln w="38100" cap="flat">
            <a:solidFill>
              <a:srgbClr val="000000"/>
            </a:solidFill>
            <a:prstDash val="solid"/>
            <a:headEnd type="none" w="sm" len="sm"/>
            <a:tailEnd type="none" w="sm" len="sm"/>
          </a:ln>
        </p:spPr>
        <p:txBody>
          <a:bodyPr/>
          <a:lstStyle/>
          <a:p>
            <a:endParaRPr lang="it-IT"/>
          </a:p>
        </p:txBody>
      </p:sp>
      <p:sp>
        <p:nvSpPr>
          <p:cNvPr id="19" name="AutoShape 19"/>
          <p:cNvSpPr/>
          <p:nvPr/>
        </p:nvSpPr>
        <p:spPr>
          <a:xfrm>
            <a:off x="6865928" y="6718910"/>
            <a:ext cx="2020862" cy="0"/>
          </a:xfrm>
          <a:prstGeom prst="line">
            <a:avLst/>
          </a:prstGeom>
          <a:ln w="38100" cap="flat">
            <a:solidFill>
              <a:srgbClr val="000000"/>
            </a:solidFill>
            <a:prstDash val="solid"/>
            <a:headEnd type="none" w="sm" len="sm"/>
            <a:tailEnd type="none" w="sm" len="sm"/>
          </a:ln>
        </p:spPr>
        <p:txBody>
          <a:bodyPr/>
          <a:lstStyle/>
          <a:p>
            <a:endParaRPr lang="it-IT"/>
          </a:p>
        </p:txBody>
      </p:sp>
      <p:sp>
        <p:nvSpPr>
          <p:cNvPr id="20" name="AutoShape 20"/>
          <p:cNvSpPr/>
          <p:nvPr/>
        </p:nvSpPr>
        <p:spPr>
          <a:xfrm>
            <a:off x="12197254" y="6719009"/>
            <a:ext cx="2342845" cy="0"/>
          </a:xfrm>
          <a:prstGeom prst="line">
            <a:avLst/>
          </a:prstGeom>
          <a:ln w="38100" cap="flat">
            <a:solidFill>
              <a:srgbClr val="000000"/>
            </a:solidFill>
            <a:prstDash val="solid"/>
            <a:headEnd type="none" w="sm" len="sm"/>
            <a:tailEnd type="none" w="sm" len="sm"/>
          </a:ln>
        </p:spPr>
        <p:txBody>
          <a:bodyPr/>
          <a:lstStyle/>
          <a:p>
            <a:endParaRPr lang="it-IT"/>
          </a:p>
        </p:txBody>
      </p:sp>
      <p:sp>
        <p:nvSpPr>
          <p:cNvPr id="21" name="AutoShape 21"/>
          <p:cNvSpPr/>
          <p:nvPr/>
        </p:nvSpPr>
        <p:spPr>
          <a:xfrm flipV="1">
            <a:off x="7112285" y="4789693"/>
            <a:ext cx="185178"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22" name="AutoShape 22"/>
          <p:cNvSpPr/>
          <p:nvPr/>
        </p:nvSpPr>
        <p:spPr>
          <a:xfrm flipV="1">
            <a:off x="4887697" y="6719458"/>
            <a:ext cx="185178"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23" name="TextBox 23"/>
          <p:cNvSpPr txBox="1"/>
          <p:nvPr/>
        </p:nvSpPr>
        <p:spPr>
          <a:xfrm>
            <a:off x="1028700" y="1096377"/>
            <a:ext cx="12290182"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provisioning: metadata</a:t>
            </a:r>
          </a:p>
        </p:txBody>
      </p:sp>
      <p:sp>
        <p:nvSpPr>
          <p:cNvPr id="24" name="TextBox 2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16</a:t>
            </a:r>
          </a:p>
        </p:txBody>
      </p:sp>
      <p:sp>
        <p:nvSpPr>
          <p:cNvPr id="25" name="TextBox 25"/>
          <p:cNvSpPr txBox="1"/>
          <p:nvPr/>
        </p:nvSpPr>
        <p:spPr>
          <a:xfrm>
            <a:off x="1297594" y="4184538"/>
            <a:ext cx="1696280"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Sources</a:t>
            </a:r>
          </a:p>
        </p:txBody>
      </p:sp>
      <p:sp>
        <p:nvSpPr>
          <p:cNvPr id="26" name="TextBox 26"/>
          <p:cNvSpPr txBox="1"/>
          <p:nvPr/>
        </p:nvSpPr>
        <p:spPr>
          <a:xfrm>
            <a:off x="7509010" y="4184637"/>
            <a:ext cx="2971786"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Transformation</a:t>
            </a:r>
          </a:p>
        </p:txBody>
      </p:sp>
      <p:sp>
        <p:nvSpPr>
          <p:cNvPr id="27" name="TextBox 27"/>
          <p:cNvSpPr txBox="1"/>
          <p:nvPr/>
        </p:nvSpPr>
        <p:spPr>
          <a:xfrm>
            <a:off x="14855512" y="4184637"/>
            <a:ext cx="2428038"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Provisioning</a:t>
            </a:r>
          </a:p>
        </p:txBody>
      </p:sp>
      <p:sp>
        <p:nvSpPr>
          <p:cNvPr id="28" name="TextBox 28"/>
          <p:cNvSpPr txBox="1"/>
          <p:nvPr/>
        </p:nvSpPr>
        <p:spPr>
          <a:xfrm>
            <a:off x="1028700" y="2229192"/>
            <a:ext cx="15955203" cy="976630"/>
          </a:xfrm>
          <a:prstGeom prst="rect">
            <a:avLst/>
          </a:prstGeom>
        </p:spPr>
        <p:txBody>
          <a:bodyPr lIns="0" tIns="0" rIns="0" bIns="0" rtlCol="0" anchor="t">
            <a:spAutoFit/>
          </a:bodyPr>
          <a:lstStyle/>
          <a:p>
            <a:pPr algn="l">
              <a:lnSpc>
                <a:spcPts val="3919"/>
              </a:lnSpc>
            </a:pPr>
            <a:r>
              <a:rPr lang="en-US" sz="2799">
                <a:solidFill>
                  <a:srgbClr val="000000"/>
                </a:solidFill>
                <a:latin typeface="Open Sans"/>
                <a:ea typeface="Open Sans"/>
                <a:cs typeface="Open Sans"/>
                <a:sym typeface="Open Sans"/>
              </a:rPr>
              <a:t>Data is consumed by the front-end through a set of REST API endpoints, each associated with a specific type of metadata.</a:t>
            </a:r>
          </a:p>
        </p:txBody>
      </p:sp>
      <p:sp>
        <p:nvSpPr>
          <p:cNvPr id="29" name="TextBox 29"/>
          <p:cNvSpPr txBox="1"/>
          <p:nvPr/>
        </p:nvSpPr>
        <p:spPr>
          <a:xfrm>
            <a:off x="1028700" y="7786370"/>
            <a:ext cx="11866580" cy="1471930"/>
          </a:xfrm>
          <a:prstGeom prst="rect">
            <a:avLst/>
          </a:prstGeom>
        </p:spPr>
        <p:txBody>
          <a:bodyPr lIns="0" tIns="0" rIns="0" bIns="0" rtlCol="0" anchor="t">
            <a:spAutoFit/>
          </a:bodyPr>
          <a:lstStyle/>
          <a:p>
            <a:pPr algn="l">
              <a:lnSpc>
                <a:spcPts val="3919"/>
              </a:lnSpc>
            </a:pPr>
            <a:r>
              <a:rPr lang="en-US" sz="2799">
                <a:solidFill>
                  <a:srgbClr val="000000"/>
                </a:solidFill>
                <a:latin typeface="Open Sans"/>
                <a:ea typeface="Open Sans"/>
                <a:cs typeface="Open Sans"/>
                <a:sym typeface="Open Sans"/>
              </a:rPr>
              <a:t>Data provisioning:</a:t>
            </a:r>
          </a:p>
          <a:p>
            <a:pPr marL="604519" lvl="1" indent="-302260" algn="l">
              <a:lnSpc>
                <a:spcPts val="3919"/>
              </a:lnSpc>
              <a:buFont typeface="Arial"/>
              <a:buChar char="•"/>
            </a:pPr>
            <a:r>
              <a:rPr lang="en-US" sz="2799">
                <a:solidFill>
                  <a:srgbClr val="000000"/>
                </a:solidFill>
                <a:latin typeface="Open Sans"/>
                <a:ea typeface="Open Sans"/>
                <a:cs typeface="Open Sans"/>
                <a:sym typeface="Open Sans"/>
              </a:rPr>
              <a:t>for both DICOM and NIfTI collections</a:t>
            </a:r>
          </a:p>
          <a:p>
            <a:pPr marL="604519" lvl="1" indent="-302260" algn="l">
              <a:lnSpc>
                <a:spcPts val="3919"/>
              </a:lnSpc>
              <a:buFont typeface="Arial"/>
              <a:buChar char="•"/>
            </a:pPr>
            <a:r>
              <a:rPr lang="en-US" sz="2799">
                <a:solidFill>
                  <a:srgbClr val="000000"/>
                </a:solidFill>
                <a:latin typeface="Open Sans"/>
                <a:ea typeface="Open Sans"/>
                <a:cs typeface="Open Sans"/>
                <a:sym typeface="Open Sans"/>
              </a:rPr>
              <a:t>for both the persistent and on-demand approaches</a:t>
            </a:r>
          </a:p>
        </p:txBody>
      </p:sp>
      <p:sp>
        <p:nvSpPr>
          <p:cNvPr id="30" name="TextBox 30"/>
          <p:cNvSpPr txBox="1"/>
          <p:nvPr/>
        </p:nvSpPr>
        <p:spPr>
          <a:xfrm>
            <a:off x="11784516" y="4184538"/>
            <a:ext cx="1767275"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Storage</a:t>
            </a:r>
          </a:p>
        </p:txBody>
      </p:sp>
      <p:sp>
        <p:nvSpPr>
          <p:cNvPr id="31" name="TextBox 31"/>
          <p:cNvSpPr txBox="1"/>
          <p:nvPr/>
        </p:nvSpPr>
        <p:spPr>
          <a:xfrm>
            <a:off x="1297594" y="6113755"/>
            <a:ext cx="1696280"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Sources</a:t>
            </a:r>
          </a:p>
        </p:txBody>
      </p:sp>
      <p:sp>
        <p:nvSpPr>
          <p:cNvPr id="32" name="TextBox 32"/>
          <p:cNvSpPr txBox="1"/>
          <p:nvPr/>
        </p:nvSpPr>
        <p:spPr>
          <a:xfrm>
            <a:off x="5348979" y="6113755"/>
            <a:ext cx="1516949"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Access</a:t>
            </a:r>
          </a:p>
        </p:txBody>
      </p:sp>
      <p:sp>
        <p:nvSpPr>
          <p:cNvPr id="33" name="TextBox 33"/>
          <p:cNvSpPr txBox="1"/>
          <p:nvPr/>
        </p:nvSpPr>
        <p:spPr>
          <a:xfrm>
            <a:off x="9225469" y="6113854"/>
            <a:ext cx="2971786"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Transformation</a:t>
            </a:r>
          </a:p>
        </p:txBody>
      </p:sp>
      <p:sp>
        <p:nvSpPr>
          <p:cNvPr id="34" name="TextBox 34"/>
          <p:cNvSpPr txBox="1"/>
          <p:nvPr/>
        </p:nvSpPr>
        <p:spPr>
          <a:xfrm>
            <a:off x="14855512" y="6113854"/>
            <a:ext cx="2428038" cy="1096010"/>
          </a:xfrm>
          <a:prstGeom prst="rect">
            <a:avLst/>
          </a:prstGeom>
        </p:spPr>
        <p:txBody>
          <a:bodyPr lIns="0" tIns="0" rIns="0" bIns="0" rtlCol="0" anchor="t">
            <a:spAutoFit/>
          </a:bodyPr>
          <a:lstStyle/>
          <a:p>
            <a:pPr marL="0" lvl="0" indent="0" algn="l">
              <a:lnSpc>
                <a:spcPts val="4479"/>
              </a:lnSpc>
              <a:spcBef>
                <a:spcPct val="0"/>
              </a:spcBef>
            </a:pPr>
            <a:r>
              <a:rPr lang="en-US" sz="2799" b="1">
                <a:solidFill>
                  <a:srgbClr val="000000"/>
                </a:solidFill>
                <a:latin typeface="Open Sauce Bold"/>
                <a:ea typeface="Open Sauce Bold"/>
                <a:cs typeface="Open Sauce Bold"/>
                <a:sym typeface="Open Sauce Bold"/>
              </a:rPr>
              <a:t>Data Provisioning</a:t>
            </a:r>
          </a:p>
        </p:txBody>
      </p:sp>
      <p:sp>
        <p:nvSpPr>
          <p:cNvPr id="35" name="AutoShape 35"/>
          <p:cNvSpPr/>
          <p:nvPr/>
        </p:nvSpPr>
        <p:spPr>
          <a:xfrm>
            <a:off x="1028700" y="5485619"/>
            <a:ext cx="16230600" cy="0"/>
          </a:xfrm>
          <a:prstGeom prst="line">
            <a:avLst/>
          </a:prstGeom>
          <a:ln w="38100" cap="flat">
            <a:solidFill>
              <a:srgbClr val="000000"/>
            </a:solidFill>
            <a:prstDash val="solid"/>
            <a:headEnd type="none" w="sm" len="sm"/>
            <a:tailEnd type="none" w="sm" len="sm"/>
          </a:ln>
        </p:spPr>
        <p:txBody>
          <a:bodyPr/>
          <a:lstStyle/>
          <a:p>
            <a:endParaRPr lang="it-IT"/>
          </a:p>
        </p:txBody>
      </p:sp>
      <p:sp>
        <p:nvSpPr>
          <p:cNvPr id="36" name="TextBox 36"/>
          <p:cNvSpPr txBox="1"/>
          <p:nvPr/>
        </p:nvSpPr>
        <p:spPr>
          <a:xfrm>
            <a:off x="1028700" y="3569223"/>
            <a:ext cx="2607252" cy="396240"/>
          </a:xfrm>
          <a:prstGeom prst="rect">
            <a:avLst/>
          </a:prstGeom>
        </p:spPr>
        <p:txBody>
          <a:bodyPr lIns="0" tIns="0" rIns="0" bIns="0" rtlCol="0" anchor="t">
            <a:spAutoFit/>
          </a:bodyPr>
          <a:lstStyle/>
          <a:p>
            <a:pPr algn="ctr">
              <a:lnSpc>
                <a:spcPts val="3360"/>
              </a:lnSpc>
            </a:pPr>
            <a:r>
              <a:rPr lang="en-US" sz="2400" i="1">
                <a:solidFill>
                  <a:srgbClr val="000000"/>
                </a:solidFill>
                <a:latin typeface="Open Sans Italics"/>
                <a:ea typeface="Open Sans Italics"/>
                <a:cs typeface="Open Sans Italics"/>
                <a:sym typeface="Open Sans Italics"/>
              </a:rPr>
              <a:t>Persistent mode</a:t>
            </a:r>
          </a:p>
        </p:txBody>
      </p:sp>
      <p:sp>
        <p:nvSpPr>
          <p:cNvPr id="37" name="TextBox 37"/>
          <p:cNvSpPr txBox="1"/>
          <p:nvPr/>
        </p:nvSpPr>
        <p:spPr>
          <a:xfrm>
            <a:off x="1166399" y="5571344"/>
            <a:ext cx="2605905" cy="396240"/>
          </a:xfrm>
          <a:prstGeom prst="rect">
            <a:avLst/>
          </a:prstGeom>
        </p:spPr>
        <p:txBody>
          <a:bodyPr lIns="0" tIns="0" rIns="0" bIns="0" rtlCol="0" anchor="t">
            <a:spAutoFit/>
          </a:bodyPr>
          <a:lstStyle/>
          <a:p>
            <a:pPr algn="ctr">
              <a:lnSpc>
                <a:spcPts val="3359"/>
              </a:lnSpc>
            </a:pPr>
            <a:r>
              <a:rPr lang="en-US" sz="2400" i="1">
                <a:solidFill>
                  <a:srgbClr val="000000"/>
                </a:solidFill>
                <a:latin typeface="Open Sans Italics"/>
                <a:ea typeface="Open Sans Italics"/>
                <a:cs typeface="Open Sans Italics"/>
                <a:sym typeface="Open Sans Italics"/>
              </a:rPr>
              <a:t>On-demand mode</a:t>
            </a:r>
          </a:p>
        </p:txBody>
      </p:sp>
      <p:sp>
        <p:nvSpPr>
          <p:cNvPr id="38" name="AutoShape 38"/>
          <p:cNvSpPr/>
          <p:nvPr/>
        </p:nvSpPr>
        <p:spPr>
          <a:xfrm flipH="1" flipV="1">
            <a:off x="4873270" y="6516701"/>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39" name="AutoShape 39"/>
          <p:cNvSpPr/>
          <p:nvPr/>
        </p:nvSpPr>
        <p:spPr>
          <a:xfrm flipH="1" flipV="1">
            <a:off x="7111885" y="4562604"/>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40" name="AutoShape 40"/>
          <p:cNvSpPr/>
          <p:nvPr/>
        </p:nvSpPr>
        <p:spPr>
          <a:xfrm flipH="1" flipV="1">
            <a:off x="8687184" y="6504261"/>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41" name="AutoShape 41"/>
          <p:cNvSpPr/>
          <p:nvPr/>
        </p:nvSpPr>
        <p:spPr>
          <a:xfrm flipH="1" flipV="1">
            <a:off x="14340494" y="6516701"/>
            <a:ext cx="185178" cy="214748"/>
          </a:xfrm>
          <a:prstGeom prst="line">
            <a:avLst/>
          </a:prstGeom>
          <a:ln w="38100" cap="flat">
            <a:solidFill>
              <a:srgbClr val="000000"/>
            </a:solidFill>
            <a:prstDash val="solid"/>
            <a:headEnd type="none" w="sm" len="sm"/>
            <a:tailEnd type="none" w="sm" len="sm"/>
          </a:ln>
        </p:spPr>
        <p:txBody>
          <a:bodyPr/>
          <a:lstStyle/>
          <a:p>
            <a:endParaRPr lang="it-IT"/>
          </a:p>
        </p:txBody>
      </p:sp>
      <p:sp>
        <p:nvSpPr>
          <p:cNvPr id="42" name="AutoShape 42"/>
          <p:cNvSpPr/>
          <p:nvPr/>
        </p:nvSpPr>
        <p:spPr>
          <a:xfrm flipV="1">
            <a:off x="8687584" y="6706569"/>
            <a:ext cx="185178" cy="201524"/>
          </a:xfrm>
          <a:prstGeom prst="line">
            <a:avLst/>
          </a:prstGeom>
          <a:ln w="38100" cap="flat">
            <a:solidFill>
              <a:srgbClr val="000000"/>
            </a:solidFill>
            <a:prstDash val="solid"/>
            <a:headEnd type="none" w="sm" len="sm"/>
            <a:tailEnd type="none" w="sm" len="sm"/>
          </a:ln>
        </p:spPr>
        <p:txBody>
          <a:bodyPr/>
          <a:lstStyle/>
          <a:p>
            <a:endParaRPr lang="it-IT"/>
          </a:p>
        </p:txBody>
      </p:sp>
      <p:sp>
        <p:nvSpPr>
          <p:cNvPr id="43" name="AutoShape 43"/>
          <p:cNvSpPr/>
          <p:nvPr/>
        </p:nvSpPr>
        <p:spPr>
          <a:xfrm flipV="1">
            <a:off x="14340894" y="6693679"/>
            <a:ext cx="185178" cy="201524"/>
          </a:xfrm>
          <a:prstGeom prst="line">
            <a:avLst/>
          </a:prstGeom>
          <a:ln w="38100" cap="flat">
            <a:solidFill>
              <a:srgbClr val="000000"/>
            </a:solidFill>
            <a:prstDash val="solid"/>
            <a:headEnd type="none" w="sm" len="sm"/>
            <a:tailEnd type="none" w="sm" len="sm"/>
          </a:ln>
        </p:spPr>
        <p:txBody>
          <a:bodyPr/>
          <a:lstStyle/>
          <a:p>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2050" y="981075"/>
            <a:ext cx="16192500" cy="1085215"/>
          </a:xfrm>
          <a:prstGeom prst="rect">
            <a:avLst/>
          </a:prstGeom>
        </p:spPr>
        <p:txBody>
          <a:bodyPr lIns="0" tIns="0" rIns="0" bIns="0" rtlCol="0" anchor="t">
            <a:spAutoFit/>
          </a:bodyPr>
          <a:lstStyle/>
          <a:p>
            <a:pPr marL="0" lvl="0" indent="0" algn="l">
              <a:lnSpc>
                <a:spcPts val="8959"/>
              </a:lnSpc>
              <a:spcBef>
                <a:spcPct val="0"/>
              </a:spcBef>
            </a:pPr>
            <a:r>
              <a:rPr lang="en-US" sz="6399" u="none" strike="noStrike">
                <a:solidFill>
                  <a:srgbClr val="000000"/>
                </a:solidFill>
                <a:latin typeface="DM Serif Display"/>
                <a:ea typeface="DM Serif Display"/>
                <a:cs typeface="DM Serif Display"/>
                <a:sym typeface="DM Serif Display"/>
              </a:rPr>
              <a:t>Data ingestion: images</a:t>
            </a:r>
          </a:p>
        </p:txBody>
      </p:sp>
      <p:sp>
        <p:nvSpPr>
          <p:cNvPr id="5" name="AutoShape 5"/>
          <p:cNvSpPr/>
          <p:nvPr/>
        </p:nvSpPr>
        <p:spPr>
          <a:xfrm>
            <a:off x="9144000" y="2857500"/>
            <a:ext cx="0" cy="6286500"/>
          </a:xfrm>
          <a:prstGeom prst="line">
            <a:avLst/>
          </a:prstGeom>
          <a:ln w="19050" cap="flat">
            <a:solidFill>
              <a:srgbClr val="000000"/>
            </a:solidFill>
            <a:prstDash val="solid"/>
            <a:headEnd type="none" w="sm" len="sm"/>
            <a:tailEnd type="none" w="sm" len="sm"/>
          </a:ln>
        </p:spPr>
        <p:txBody>
          <a:bodyPr/>
          <a:lstStyle/>
          <a:p>
            <a:endParaRPr lang="it-IT"/>
          </a:p>
        </p:txBody>
      </p:sp>
      <p:sp>
        <p:nvSpPr>
          <p:cNvPr id="6" name="TextBox 6"/>
          <p:cNvSpPr txBox="1"/>
          <p:nvPr/>
        </p:nvSpPr>
        <p:spPr>
          <a:xfrm>
            <a:off x="2950709" y="2609850"/>
            <a:ext cx="4023631" cy="537845"/>
          </a:xfrm>
          <a:prstGeom prst="rect">
            <a:avLst/>
          </a:prstGeom>
        </p:spPr>
        <p:txBody>
          <a:bodyPr lIns="0" tIns="0" rIns="0" bIns="0" rtlCol="0" anchor="t">
            <a:spAutoFit/>
          </a:bodyPr>
          <a:lstStyle/>
          <a:p>
            <a:pPr marL="0" lvl="0" indent="0" algn="l">
              <a:lnSpc>
                <a:spcPts val="4480"/>
              </a:lnSpc>
              <a:spcBef>
                <a:spcPct val="0"/>
              </a:spcBef>
            </a:pPr>
            <a:r>
              <a:rPr lang="en-US" sz="3200" b="1" u="none" strike="noStrike">
                <a:solidFill>
                  <a:srgbClr val="000000"/>
                </a:solidFill>
                <a:latin typeface="Open Sauce Bold"/>
                <a:ea typeface="Open Sauce Bold"/>
                <a:cs typeface="Open Sauce Bold"/>
                <a:sym typeface="Open Sauce Bold"/>
              </a:rPr>
              <a:t>DICOM collections</a:t>
            </a:r>
          </a:p>
        </p:txBody>
      </p:sp>
      <p:sp>
        <p:nvSpPr>
          <p:cNvPr id="7" name="TextBox 7"/>
          <p:cNvSpPr txBox="1"/>
          <p:nvPr/>
        </p:nvSpPr>
        <p:spPr>
          <a:xfrm>
            <a:off x="1166399" y="3362325"/>
            <a:ext cx="7600950" cy="5217795"/>
          </a:xfrm>
          <a:prstGeom prst="rect">
            <a:avLst/>
          </a:prstGeom>
        </p:spPr>
        <p:txBody>
          <a:bodyPr lIns="0" tIns="0" rIns="0" bIns="0" rtlCol="0" anchor="t">
            <a:spAutoFit/>
          </a:bodyPr>
          <a:lstStyle/>
          <a:p>
            <a:pPr marL="604519" lvl="1" indent="-302260"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Metadata extracted directly from DICOM headers.</a:t>
            </a:r>
          </a:p>
          <a:p>
            <a:pPr marL="0" lvl="0" indent="0" algn="l">
              <a:lnSpc>
                <a:spcPts val="4199"/>
              </a:lnSpc>
              <a:spcBef>
                <a:spcPct val="0"/>
              </a:spcBef>
            </a:pPr>
            <a:endParaRPr lang="en-US" sz="2799" u="none" strike="noStrike">
              <a:solidFill>
                <a:srgbClr val="000000"/>
              </a:solidFill>
              <a:latin typeface="Open Sauce"/>
              <a:ea typeface="Open Sauce"/>
              <a:cs typeface="Open Sauce"/>
              <a:sym typeface="Open Sauce"/>
            </a:endParaRPr>
          </a:p>
          <a:p>
            <a:pPr marL="604519" lvl="1" indent="-302260"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Automatic grouping by:</a:t>
            </a:r>
          </a:p>
          <a:p>
            <a:pPr marL="1209039" lvl="2" indent="-403013"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Collection</a:t>
            </a:r>
          </a:p>
          <a:p>
            <a:pPr marL="1209039" lvl="2" indent="-403013"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Patient</a:t>
            </a:r>
          </a:p>
          <a:p>
            <a:pPr marL="1209039" lvl="2" indent="-403013"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Study</a:t>
            </a:r>
          </a:p>
          <a:p>
            <a:pPr marL="1209039" lvl="2" indent="-403013"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Series</a:t>
            </a:r>
          </a:p>
          <a:p>
            <a:pPr algn="l">
              <a:lnSpc>
                <a:spcPts val="4199"/>
              </a:lnSpc>
              <a:spcBef>
                <a:spcPct val="0"/>
              </a:spcBef>
            </a:pPr>
            <a:endParaRPr lang="en-US" sz="2799" u="none" strike="noStrike">
              <a:solidFill>
                <a:srgbClr val="000000"/>
              </a:solidFill>
              <a:latin typeface="Open Sauce"/>
              <a:ea typeface="Open Sauce"/>
              <a:cs typeface="Open Sauce"/>
              <a:sym typeface="Open Sauce"/>
            </a:endParaRPr>
          </a:p>
          <a:p>
            <a:pPr marL="604519" lvl="1" indent="-302260"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No external metadata required.</a:t>
            </a:r>
          </a:p>
        </p:txBody>
      </p:sp>
      <p:sp>
        <p:nvSpPr>
          <p:cNvPr id="8" name="TextBox 8"/>
          <p:cNvSpPr txBox="1"/>
          <p:nvPr/>
        </p:nvSpPr>
        <p:spPr>
          <a:xfrm>
            <a:off x="11600957" y="2609850"/>
            <a:ext cx="3449036" cy="537845"/>
          </a:xfrm>
          <a:prstGeom prst="rect">
            <a:avLst/>
          </a:prstGeom>
        </p:spPr>
        <p:txBody>
          <a:bodyPr lIns="0" tIns="0" rIns="0" bIns="0" rtlCol="0" anchor="t">
            <a:spAutoFit/>
          </a:bodyPr>
          <a:lstStyle/>
          <a:p>
            <a:pPr marL="0" lvl="0" indent="0" algn="l">
              <a:lnSpc>
                <a:spcPts val="4480"/>
              </a:lnSpc>
              <a:spcBef>
                <a:spcPct val="0"/>
              </a:spcBef>
            </a:pPr>
            <a:r>
              <a:rPr lang="en-US" sz="3200" b="1" u="none" strike="noStrike">
                <a:solidFill>
                  <a:srgbClr val="000000"/>
                </a:solidFill>
                <a:latin typeface="Open Sauce Bold"/>
                <a:ea typeface="Open Sauce Bold"/>
                <a:cs typeface="Open Sauce Bold"/>
                <a:sym typeface="Open Sauce Bold"/>
              </a:rPr>
              <a:t>NIfTI collections</a:t>
            </a:r>
          </a:p>
        </p:txBody>
      </p:sp>
      <p:sp>
        <p:nvSpPr>
          <p:cNvPr id="9" name="TextBox 9"/>
          <p:cNvSpPr txBox="1"/>
          <p:nvPr/>
        </p:nvSpPr>
        <p:spPr>
          <a:xfrm>
            <a:off x="9525000" y="3756025"/>
            <a:ext cx="7600950" cy="4693920"/>
          </a:xfrm>
          <a:prstGeom prst="rect">
            <a:avLst/>
          </a:prstGeom>
        </p:spPr>
        <p:txBody>
          <a:bodyPr lIns="0" tIns="0" rIns="0" bIns="0" rtlCol="0" anchor="t">
            <a:spAutoFit/>
          </a:bodyPr>
          <a:lstStyle/>
          <a:p>
            <a:pPr marL="604519" lvl="1" indent="-302260"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Metadata provided in an external file.</a:t>
            </a:r>
          </a:p>
          <a:p>
            <a:pPr algn="l">
              <a:lnSpc>
                <a:spcPts val="4199"/>
              </a:lnSpc>
              <a:spcBef>
                <a:spcPct val="0"/>
              </a:spcBef>
            </a:pPr>
            <a:endParaRPr lang="en-US" sz="2799" u="none" strike="noStrike">
              <a:solidFill>
                <a:srgbClr val="000000"/>
              </a:solidFill>
              <a:latin typeface="Open Sauce"/>
              <a:ea typeface="Open Sauce"/>
              <a:cs typeface="Open Sauce"/>
              <a:sym typeface="Open Sauce"/>
            </a:endParaRPr>
          </a:p>
          <a:p>
            <a:pPr marL="604519" lvl="1" indent="-302260"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Each NIfTI file is matched to a metadata record.</a:t>
            </a:r>
          </a:p>
          <a:p>
            <a:pPr algn="l">
              <a:lnSpc>
                <a:spcPts val="4199"/>
              </a:lnSpc>
              <a:spcBef>
                <a:spcPct val="0"/>
              </a:spcBef>
            </a:pPr>
            <a:endParaRPr lang="en-US" sz="2799" u="none" strike="noStrike">
              <a:solidFill>
                <a:srgbClr val="000000"/>
              </a:solidFill>
              <a:latin typeface="Open Sauce"/>
              <a:ea typeface="Open Sauce"/>
              <a:cs typeface="Open Sauce"/>
              <a:sym typeface="Open Sauce"/>
            </a:endParaRPr>
          </a:p>
          <a:p>
            <a:pPr marL="604519" lvl="1" indent="-302260" algn="l">
              <a:lnSpc>
                <a:spcPts val="4199"/>
              </a:lnSpc>
              <a:spcBef>
                <a:spcPct val="0"/>
              </a:spcBef>
              <a:buFont typeface="Arial"/>
              <a:buChar char="•"/>
            </a:pPr>
            <a:r>
              <a:rPr lang="en-US" sz="2799" u="none" strike="noStrike">
                <a:solidFill>
                  <a:srgbClr val="000000"/>
                </a:solidFill>
                <a:latin typeface="Open Sauce"/>
                <a:ea typeface="Open Sauce"/>
                <a:cs typeface="Open Sauce"/>
                <a:sym typeface="Open Sauce"/>
              </a:rPr>
              <a:t>Patient, study and series information derived from the association.</a:t>
            </a:r>
          </a:p>
          <a:p>
            <a:pPr algn="l">
              <a:lnSpc>
                <a:spcPts val="4199"/>
              </a:lnSpc>
              <a:spcBef>
                <a:spcPct val="0"/>
              </a:spcBef>
            </a:pPr>
            <a:endParaRPr lang="en-US" sz="2799" u="none" strike="noStrike">
              <a:solidFill>
                <a:srgbClr val="000000"/>
              </a:solidFill>
              <a:latin typeface="Open Sauce"/>
              <a:ea typeface="Open Sauce"/>
              <a:cs typeface="Open Sauce"/>
              <a:sym typeface="Open Sauce"/>
            </a:endParaRPr>
          </a:p>
          <a:p>
            <a:pPr algn="l">
              <a:lnSpc>
                <a:spcPts val="4199"/>
              </a:lnSpc>
              <a:spcBef>
                <a:spcPct val="0"/>
              </a:spcBef>
            </a:pPr>
            <a:endParaRPr lang="en-US" sz="2799" u="none" strike="noStrike">
              <a:solidFill>
                <a:srgbClr val="000000"/>
              </a:solidFill>
              <a:latin typeface="Open Sauce"/>
              <a:ea typeface="Open Sauce"/>
              <a:cs typeface="Open Sauce"/>
              <a:sym typeface="Open Sauce"/>
            </a:endParaRPr>
          </a:p>
        </p:txBody>
      </p:sp>
      <p:sp>
        <p:nvSpPr>
          <p:cNvPr id="10" name="TextBox 10"/>
          <p:cNvSpPr txBox="1"/>
          <p:nvPr/>
        </p:nvSpPr>
        <p:spPr>
          <a:xfrm>
            <a:off x="13811250" y="9105900"/>
            <a:ext cx="3457575" cy="273685"/>
          </a:xfrm>
          <a:prstGeom prst="rect">
            <a:avLst/>
          </a:prstGeom>
        </p:spPr>
        <p:txBody>
          <a:bodyPr lIns="0" tIns="0" rIns="0" bIns="0" rtlCol="0" anchor="t">
            <a:spAutoFit/>
          </a:bodyPr>
          <a:lstStyle/>
          <a:p>
            <a:pPr marL="0" lvl="0" indent="0" algn="r">
              <a:lnSpc>
                <a:spcPts val="2239"/>
              </a:lnSpc>
              <a:spcBef>
                <a:spcPct val="0"/>
              </a:spcBef>
            </a:pPr>
            <a:r>
              <a:rPr lang="en-US" sz="1599" u="none" strike="noStrike" spc="159">
                <a:solidFill>
                  <a:srgbClr val="000000">
                    <a:alpha val="49804"/>
                  </a:srgbClr>
                </a:solidFill>
                <a:latin typeface="Open Sauce"/>
                <a:ea typeface="Open Sauce"/>
                <a:cs typeface="Open Sauce"/>
                <a:sym typeface="Open Sauce"/>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Freeform 3"/>
          <p:cNvSpPr/>
          <p:nvPr/>
        </p:nvSpPr>
        <p:spPr>
          <a:xfrm>
            <a:off x="1905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dirty="0"/>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5" name="TextBox 5"/>
          <p:cNvSpPr txBox="1"/>
          <p:nvPr/>
        </p:nvSpPr>
        <p:spPr>
          <a:xfrm>
            <a:off x="1166399" y="1233825"/>
            <a:ext cx="11439942"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storage: images</a:t>
            </a:r>
          </a:p>
        </p:txBody>
      </p:sp>
      <p:grpSp>
        <p:nvGrpSpPr>
          <p:cNvPr id="6" name="Group 6"/>
          <p:cNvGrpSpPr/>
          <p:nvPr/>
        </p:nvGrpSpPr>
        <p:grpSpPr>
          <a:xfrm>
            <a:off x="2209801" y="4812283"/>
            <a:ext cx="14612560" cy="1153137"/>
            <a:chOff x="0" y="0"/>
            <a:chExt cx="2761989" cy="303707"/>
          </a:xfrm>
        </p:grpSpPr>
        <p:sp>
          <p:nvSpPr>
            <p:cNvPr id="7" name="Freeform 7"/>
            <p:cNvSpPr/>
            <p:nvPr/>
          </p:nvSpPr>
          <p:spPr>
            <a:xfrm>
              <a:off x="0" y="0"/>
              <a:ext cx="2761989" cy="303707"/>
            </a:xfrm>
            <a:custGeom>
              <a:avLst/>
              <a:gdLst/>
              <a:ahLst/>
              <a:cxnLst/>
              <a:rect l="l" t="t" r="r" b="b"/>
              <a:pathLst>
                <a:path w="2761989" h="303707">
                  <a:moveTo>
                    <a:pt x="0" y="0"/>
                  </a:moveTo>
                  <a:lnTo>
                    <a:pt x="2761989" y="0"/>
                  </a:lnTo>
                  <a:lnTo>
                    <a:pt x="2761989" y="303707"/>
                  </a:lnTo>
                  <a:lnTo>
                    <a:pt x="0" y="303707"/>
                  </a:lnTo>
                  <a:close/>
                </a:path>
              </a:pathLst>
            </a:custGeom>
            <a:solidFill>
              <a:srgbClr val="FFFFFF"/>
            </a:solidFill>
            <a:ln w="28575" cap="sq">
              <a:solidFill>
                <a:srgbClr val="000000"/>
              </a:solidFill>
              <a:prstDash val="solid"/>
              <a:miter/>
            </a:ln>
          </p:spPr>
          <p:txBody>
            <a:bodyPr/>
            <a:lstStyle/>
            <a:p>
              <a:endParaRPr lang="it-IT"/>
            </a:p>
          </p:txBody>
        </p:sp>
        <p:sp>
          <p:nvSpPr>
            <p:cNvPr id="8" name="TextBox 8"/>
            <p:cNvSpPr txBox="1"/>
            <p:nvPr/>
          </p:nvSpPr>
          <p:spPr>
            <a:xfrm>
              <a:off x="0" y="-66675"/>
              <a:ext cx="2761989" cy="370382"/>
            </a:xfrm>
            <a:prstGeom prst="rect">
              <a:avLst/>
            </a:prstGeom>
          </p:spPr>
          <p:txBody>
            <a:bodyPr lIns="50800" tIns="50800" rIns="50800" bIns="50800" rtlCol="0" anchor="ctr"/>
            <a:lstStyle/>
            <a:p>
              <a:pPr algn="ctr">
                <a:lnSpc>
                  <a:spcPts val="3919"/>
                </a:lnSpc>
              </a:pPr>
              <a:endParaRPr/>
            </a:p>
          </p:txBody>
        </p:sp>
      </p:grpSp>
      <p:sp>
        <p:nvSpPr>
          <p:cNvPr id="9" name="TextBox 9"/>
          <p:cNvSpPr txBox="1"/>
          <p:nvPr/>
        </p:nvSpPr>
        <p:spPr>
          <a:xfrm>
            <a:off x="4072875" y="5071848"/>
            <a:ext cx="10886411" cy="628118"/>
          </a:xfrm>
          <a:prstGeom prst="rect">
            <a:avLst/>
          </a:prstGeom>
        </p:spPr>
        <p:txBody>
          <a:bodyPr wrap="square" lIns="0" tIns="0" rIns="0" bIns="0" rtlCol="0" anchor="t">
            <a:spAutoFit/>
          </a:bodyPr>
          <a:lstStyle/>
          <a:p>
            <a:pPr algn="ctr">
              <a:lnSpc>
                <a:spcPts val="5280"/>
              </a:lnSpc>
              <a:spcBef>
                <a:spcPct val="0"/>
              </a:spcBef>
            </a:pPr>
            <a:r>
              <a:rPr lang="en-US" sz="3300" b="1" dirty="0">
                <a:solidFill>
                  <a:srgbClr val="000000"/>
                </a:solidFill>
                <a:latin typeface="Open Sauce Bold"/>
                <a:ea typeface="Open Sauce Bold"/>
                <a:cs typeface="Open Sauce Bold"/>
                <a:sym typeface="Open Sauce Bold"/>
              </a:rPr>
              <a:t>Collection / Patient / Study / Series / File name</a:t>
            </a:r>
          </a:p>
        </p:txBody>
      </p:sp>
      <p:sp>
        <p:nvSpPr>
          <p:cNvPr id="10" name="TextBox 10"/>
          <p:cNvSpPr txBox="1"/>
          <p:nvPr/>
        </p:nvSpPr>
        <p:spPr>
          <a:xfrm>
            <a:off x="1166399" y="2949920"/>
            <a:ext cx="15793661" cy="976630"/>
          </a:xfrm>
          <a:prstGeom prst="rect">
            <a:avLst/>
          </a:prstGeom>
        </p:spPr>
        <p:txBody>
          <a:bodyPr lIns="0" tIns="0" rIns="0" bIns="0" rtlCol="0" anchor="t">
            <a:spAutoFit/>
          </a:bodyPr>
          <a:lstStyle/>
          <a:p>
            <a:pPr algn="ctr">
              <a:lnSpc>
                <a:spcPts val="3919"/>
              </a:lnSpc>
            </a:pPr>
            <a:r>
              <a:rPr lang="en-US" sz="2799" dirty="0">
                <a:solidFill>
                  <a:srgbClr val="000000"/>
                </a:solidFill>
                <a:latin typeface="Open Sans"/>
                <a:ea typeface="Open Sans"/>
                <a:cs typeface="Open Sans"/>
                <a:sym typeface="Open Sans"/>
              </a:rPr>
              <a:t>Imaging files stored in an object store following the DICOM hierarchical path generated during ingestion:</a:t>
            </a:r>
          </a:p>
        </p:txBody>
      </p:sp>
      <p:sp>
        <p:nvSpPr>
          <p:cNvPr id="11" name="TextBox 11"/>
          <p:cNvSpPr txBox="1"/>
          <p:nvPr/>
        </p:nvSpPr>
        <p:spPr>
          <a:xfrm>
            <a:off x="1028700" y="7162268"/>
            <a:ext cx="15793661" cy="481330"/>
          </a:xfrm>
          <a:prstGeom prst="rect">
            <a:avLst/>
          </a:prstGeom>
        </p:spPr>
        <p:txBody>
          <a:bodyPr lIns="0" tIns="0" rIns="0" bIns="0" rtlCol="0" anchor="t">
            <a:spAutoFit/>
          </a:bodyPr>
          <a:lstStyle/>
          <a:p>
            <a:pPr algn="ctr">
              <a:lnSpc>
                <a:spcPts val="3919"/>
              </a:lnSpc>
            </a:pPr>
            <a:r>
              <a:rPr lang="en-US" sz="2799" dirty="0">
                <a:solidFill>
                  <a:srgbClr val="000000"/>
                </a:solidFill>
                <a:latin typeface="Open Sans"/>
                <a:ea typeface="Open Sans"/>
                <a:cs typeface="Open Sans"/>
                <a:sym typeface="Open Sans"/>
              </a:rPr>
              <a:t>This allows direct mapping to the metadata model and fast retrieval.</a:t>
            </a:r>
          </a:p>
        </p:txBody>
      </p:sp>
      <p:sp>
        <p:nvSpPr>
          <p:cNvPr id="12" name="TextBox 12"/>
          <p:cNvSpPr txBox="1"/>
          <p:nvPr/>
        </p:nvSpPr>
        <p:spPr>
          <a:xfrm>
            <a:off x="13811250" y="9105900"/>
            <a:ext cx="3457575"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3">
            <a:extLst>
              <a:ext uri="{FF2B5EF4-FFF2-40B4-BE49-F238E27FC236}">
                <a16:creationId xmlns:a16="http://schemas.microsoft.com/office/drawing/2014/main" id="{F85D75A6-D7CF-B5B1-FDA3-3A5C054D984B}"/>
              </a:ext>
            </a:extLst>
          </p:cNvPr>
          <p:cNvSpPr/>
          <p:nvPr/>
        </p:nvSpPr>
        <p:spPr>
          <a:xfrm>
            <a:off x="1905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0429424"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19</a:t>
            </a:r>
          </a:p>
        </p:txBody>
      </p:sp>
      <p:sp>
        <p:nvSpPr>
          <p:cNvPr id="6" name="TextBox 6"/>
          <p:cNvSpPr txBox="1"/>
          <p:nvPr/>
        </p:nvSpPr>
        <p:spPr>
          <a:xfrm>
            <a:off x="2071653" y="3515886"/>
            <a:ext cx="2342463" cy="608915"/>
          </a:xfrm>
          <a:prstGeom prst="rect">
            <a:avLst/>
          </a:prstGeom>
        </p:spPr>
        <p:txBody>
          <a:bodyPr lIns="0" tIns="0" rIns="0" bIns="0" rtlCol="0" anchor="t">
            <a:spAutoFit/>
          </a:bodyPr>
          <a:lstStyle/>
          <a:p>
            <a:pPr marL="0" lvl="0" indent="0" algn="l">
              <a:lnSpc>
                <a:spcPts val="5120"/>
              </a:lnSpc>
              <a:spcBef>
                <a:spcPct val="0"/>
              </a:spcBef>
            </a:pPr>
            <a:r>
              <a:rPr lang="en-US" sz="3200" b="1" dirty="0">
                <a:solidFill>
                  <a:srgbClr val="000000"/>
                </a:solidFill>
                <a:latin typeface="Open Sauce Bold"/>
                <a:ea typeface="Open Sauce Bold"/>
                <a:cs typeface="Open Sauce Bold"/>
                <a:sym typeface="Open Sauce Bold"/>
              </a:rPr>
              <a:t>Objectives</a:t>
            </a:r>
          </a:p>
        </p:txBody>
      </p:sp>
      <p:sp>
        <p:nvSpPr>
          <p:cNvPr id="7" name="AutoShape 7"/>
          <p:cNvSpPr/>
          <p:nvPr/>
        </p:nvSpPr>
        <p:spPr>
          <a:xfrm>
            <a:off x="1175924" y="5715000"/>
            <a:ext cx="15936153" cy="0"/>
          </a:xfrm>
          <a:prstGeom prst="line">
            <a:avLst/>
          </a:prstGeom>
          <a:ln w="38100" cap="flat">
            <a:solidFill>
              <a:srgbClr val="000000"/>
            </a:solidFill>
            <a:prstDash val="solid"/>
            <a:headEnd type="none" w="sm" len="sm"/>
            <a:tailEnd type="none" w="sm" len="sm"/>
          </a:ln>
        </p:spPr>
        <p:txBody>
          <a:bodyPr/>
          <a:lstStyle/>
          <a:p>
            <a:endParaRPr lang="it-IT"/>
          </a:p>
        </p:txBody>
      </p:sp>
      <p:sp>
        <p:nvSpPr>
          <p:cNvPr id="8" name="AutoShape 8"/>
          <p:cNvSpPr/>
          <p:nvPr/>
        </p:nvSpPr>
        <p:spPr>
          <a:xfrm>
            <a:off x="1747424" y="3785659"/>
            <a:ext cx="0" cy="1940701"/>
          </a:xfrm>
          <a:prstGeom prst="line">
            <a:avLst/>
          </a:prstGeom>
          <a:ln w="38100" cap="rnd">
            <a:solidFill>
              <a:srgbClr val="000000"/>
            </a:solidFill>
            <a:prstDash val="solid"/>
            <a:headEnd type="oval" w="lg" len="lg"/>
            <a:tailEnd type="none" w="sm" len="sm"/>
          </a:ln>
        </p:spPr>
        <p:txBody>
          <a:bodyPr/>
          <a:lstStyle/>
          <a:p>
            <a:endParaRPr lang="it-IT"/>
          </a:p>
        </p:txBody>
      </p:sp>
      <p:sp>
        <p:nvSpPr>
          <p:cNvPr id="9" name="TextBox 9"/>
          <p:cNvSpPr txBox="1"/>
          <p:nvPr/>
        </p:nvSpPr>
        <p:spPr>
          <a:xfrm>
            <a:off x="5413883" y="6938695"/>
            <a:ext cx="2463449" cy="1256566"/>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0000"/>
                </a:solidFill>
                <a:latin typeface="Open Sauce Bold"/>
                <a:ea typeface="Open Sauce Bold"/>
                <a:cs typeface="Open Sauce Bold"/>
                <a:sym typeface="Open Sauce Bold"/>
              </a:rPr>
              <a:t>The vocabulary</a:t>
            </a:r>
          </a:p>
        </p:txBody>
      </p:sp>
      <p:sp>
        <p:nvSpPr>
          <p:cNvPr id="10" name="AutoShape 10"/>
          <p:cNvSpPr/>
          <p:nvPr/>
        </p:nvSpPr>
        <p:spPr>
          <a:xfrm flipH="1">
            <a:off x="5229120" y="5726360"/>
            <a:ext cx="0" cy="1902530"/>
          </a:xfrm>
          <a:prstGeom prst="line">
            <a:avLst/>
          </a:prstGeom>
          <a:ln w="38100" cap="rnd">
            <a:solidFill>
              <a:srgbClr val="000000"/>
            </a:solidFill>
            <a:prstDash val="solid"/>
            <a:headEnd type="none" w="sm" len="sm"/>
            <a:tailEnd type="oval" w="lg" len="lg"/>
          </a:ln>
        </p:spPr>
        <p:txBody>
          <a:bodyPr/>
          <a:lstStyle/>
          <a:p>
            <a:endParaRPr lang="it-IT"/>
          </a:p>
        </p:txBody>
      </p:sp>
      <p:sp>
        <p:nvSpPr>
          <p:cNvPr id="11" name="TextBox 11"/>
          <p:cNvSpPr txBox="1"/>
          <p:nvPr/>
        </p:nvSpPr>
        <p:spPr>
          <a:xfrm>
            <a:off x="8590782" y="3375319"/>
            <a:ext cx="2430466" cy="1256566"/>
          </a:xfrm>
          <a:prstGeom prst="rect">
            <a:avLst/>
          </a:prstGeom>
        </p:spPr>
        <p:txBody>
          <a:bodyPr lIns="0" tIns="0" rIns="0" bIns="0" rtlCol="0" anchor="t">
            <a:spAutoFit/>
          </a:bodyPr>
          <a:lstStyle/>
          <a:p>
            <a:pPr marL="0" lvl="0" indent="0" algn="l">
              <a:lnSpc>
                <a:spcPts val="5120"/>
              </a:lnSpc>
              <a:spcBef>
                <a:spcPct val="0"/>
              </a:spcBef>
            </a:pPr>
            <a:r>
              <a:rPr lang="en-US" sz="3200" b="1" dirty="0">
                <a:solidFill>
                  <a:srgbClr val="191919"/>
                </a:solidFill>
                <a:latin typeface="Open Sauce Bold"/>
                <a:ea typeface="Open Sauce Bold"/>
                <a:cs typeface="Open Sauce Bold"/>
                <a:sym typeface="Open Sauce Bold"/>
              </a:rPr>
              <a:t>Mapping preparation</a:t>
            </a:r>
          </a:p>
        </p:txBody>
      </p:sp>
      <p:sp>
        <p:nvSpPr>
          <p:cNvPr id="12" name="AutoShape 12"/>
          <p:cNvSpPr/>
          <p:nvPr/>
        </p:nvSpPr>
        <p:spPr>
          <a:xfrm>
            <a:off x="8266553" y="3741869"/>
            <a:ext cx="0" cy="1984491"/>
          </a:xfrm>
          <a:prstGeom prst="line">
            <a:avLst/>
          </a:prstGeom>
          <a:ln w="38100" cap="rnd">
            <a:solidFill>
              <a:srgbClr val="000000"/>
            </a:solidFill>
            <a:prstDash val="solid"/>
            <a:headEnd type="oval" w="lg" len="lg"/>
            <a:tailEnd type="none" w="sm" len="sm"/>
          </a:ln>
        </p:spPr>
        <p:txBody>
          <a:bodyPr/>
          <a:lstStyle/>
          <a:p>
            <a:endParaRPr lang="it-IT"/>
          </a:p>
        </p:txBody>
      </p:sp>
      <p:sp>
        <p:nvSpPr>
          <p:cNvPr id="13" name="TextBox 13"/>
          <p:cNvSpPr txBox="1"/>
          <p:nvPr/>
        </p:nvSpPr>
        <p:spPr>
          <a:xfrm>
            <a:off x="11776798" y="6938695"/>
            <a:ext cx="3168645" cy="1256566"/>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191919"/>
                </a:solidFill>
                <a:latin typeface="Open Sauce Bold"/>
                <a:ea typeface="Open Sauce Bold"/>
                <a:cs typeface="Open Sauce Bold"/>
                <a:sym typeface="Open Sauce Bold"/>
              </a:rPr>
              <a:t>Mapping procedure</a:t>
            </a:r>
          </a:p>
        </p:txBody>
      </p:sp>
      <p:sp>
        <p:nvSpPr>
          <p:cNvPr id="14" name="AutoShape 14"/>
          <p:cNvSpPr/>
          <p:nvPr/>
        </p:nvSpPr>
        <p:spPr>
          <a:xfrm>
            <a:off x="11595823" y="5688189"/>
            <a:ext cx="0" cy="1940701"/>
          </a:xfrm>
          <a:prstGeom prst="line">
            <a:avLst/>
          </a:prstGeom>
          <a:ln w="38100" cap="rnd">
            <a:solidFill>
              <a:srgbClr val="000000"/>
            </a:solidFill>
            <a:prstDash val="solid"/>
            <a:headEnd type="none" w="sm" len="sm"/>
            <a:tailEnd type="oval" w="lg" len="lg"/>
          </a:ln>
        </p:spPr>
        <p:txBody>
          <a:bodyPr/>
          <a:lstStyle/>
          <a:p>
            <a:endParaRPr lang="it-IT"/>
          </a:p>
        </p:txBody>
      </p:sp>
      <p:sp>
        <p:nvSpPr>
          <p:cNvPr id="15" name="TextBox 15"/>
          <p:cNvSpPr txBox="1"/>
          <p:nvPr/>
        </p:nvSpPr>
        <p:spPr>
          <a:xfrm>
            <a:off x="14852853" y="3375498"/>
            <a:ext cx="2834958" cy="584904"/>
          </a:xfrm>
          <a:prstGeom prst="rect">
            <a:avLst/>
          </a:prstGeom>
        </p:spPr>
        <p:txBody>
          <a:bodyPr wrap="square" lIns="0" tIns="0" rIns="0" bIns="0" rtlCol="0" anchor="t">
            <a:spAutoFit/>
          </a:bodyPr>
          <a:lstStyle/>
          <a:p>
            <a:pPr marL="0" lvl="0" indent="0" algn="l">
              <a:lnSpc>
                <a:spcPts val="5120"/>
              </a:lnSpc>
              <a:spcBef>
                <a:spcPct val="0"/>
              </a:spcBef>
            </a:pPr>
            <a:r>
              <a:rPr lang="en-US" sz="3200" b="1" dirty="0">
                <a:solidFill>
                  <a:srgbClr val="191919"/>
                </a:solidFill>
                <a:latin typeface="Open Sauce Bold"/>
                <a:ea typeface="Open Sauce Bold"/>
                <a:cs typeface="Open Sauce Bold"/>
                <a:sym typeface="Open Sauce Bold"/>
              </a:rPr>
              <a:t>Advantages </a:t>
            </a:r>
          </a:p>
        </p:txBody>
      </p:sp>
      <p:sp>
        <p:nvSpPr>
          <p:cNvPr id="16" name="AutoShape 16"/>
          <p:cNvSpPr/>
          <p:nvPr/>
        </p:nvSpPr>
        <p:spPr>
          <a:xfrm>
            <a:off x="14641818" y="3785659"/>
            <a:ext cx="0" cy="1940701"/>
          </a:xfrm>
          <a:prstGeom prst="line">
            <a:avLst/>
          </a:prstGeom>
          <a:ln w="38100" cap="rnd">
            <a:solidFill>
              <a:srgbClr val="000000"/>
            </a:solidFill>
            <a:prstDash val="solid"/>
            <a:headEnd type="oval" w="lg" len="lg"/>
            <a:tailEnd type="none" w="sm" len="sm"/>
          </a:ln>
        </p:spPr>
        <p:txBody>
          <a:bodyPr/>
          <a:lstStyle/>
          <a:p>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
            <a:extLst>
              <a:ext uri="{FF2B5EF4-FFF2-40B4-BE49-F238E27FC236}">
                <a16:creationId xmlns:a16="http://schemas.microsoft.com/office/drawing/2014/main" id="{7735B70C-40F8-2D63-4C34-F909181E0E1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5831128" cy="22186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objectives</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20</a:t>
            </a:r>
          </a:p>
        </p:txBody>
      </p:sp>
      <p:sp>
        <p:nvSpPr>
          <p:cNvPr id="6" name="TextBox 6"/>
          <p:cNvSpPr txBox="1"/>
          <p:nvPr/>
        </p:nvSpPr>
        <p:spPr>
          <a:xfrm>
            <a:off x="9144000" y="6796093"/>
            <a:ext cx="8150187" cy="1967230"/>
          </a:xfrm>
          <a:prstGeom prst="rect">
            <a:avLst/>
          </a:prstGeom>
        </p:spPr>
        <p:txBody>
          <a:bodyPr lIns="0" tIns="0" rIns="0" bIns="0" rtlCol="0" anchor="t">
            <a:spAutoFit/>
          </a:bodyPr>
          <a:lstStyle/>
          <a:p>
            <a:pPr algn="l">
              <a:lnSpc>
                <a:spcPts val="3919"/>
              </a:lnSpc>
            </a:pPr>
            <a:r>
              <a:rPr lang="en-US" sz="2799" b="1">
                <a:solidFill>
                  <a:srgbClr val="000000"/>
                </a:solidFill>
                <a:latin typeface="Open Sans Bold"/>
                <a:ea typeface="Open Sans Bold"/>
                <a:cs typeface="Open Sans Bold"/>
                <a:sym typeface="Open Sans Bold"/>
              </a:rPr>
              <a:t>Better interoperability</a:t>
            </a:r>
            <a:r>
              <a:rPr lang="en-US" sz="2799">
                <a:solidFill>
                  <a:srgbClr val="000000"/>
                </a:solidFill>
                <a:latin typeface="Open Sans"/>
                <a:ea typeface="Open Sans"/>
                <a:cs typeface="Open Sans"/>
                <a:sym typeface="Open Sans"/>
              </a:rPr>
              <a:t>: the integrated dataset, together with the mapping tables, can be shared between research centers that employ the same vocabulary.</a:t>
            </a:r>
          </a:p>
        </p:txBody>
      </p:sp>
      <p:grpSp>
        <p:nvGrpSpPr>
          <p:cNvPr id="7" name="Group 7"/>
          <p:cNvGrpSpPr/>
          <p:nvPr/>
        </p:nvGrpSpPr>
        <p:grpSpPr>
          <a:xfrm>
            <a:off x="7582120" y="3175631"/>
            <a:ext cx="909958" cy="90995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7605353" y="4931091"/>
            <a:ext cx="863491" cy="909958"/>
            <a:chOff x="0" y="0"/>
            <a:chExt cx="771294" cy="812800"/>
          </a:xfrm>
        </p:grpSpPr>
        <p:sp>
          <p:nvSpPr>
            <p:cNvPr id="11" name="Freeform 11"/>
            <p:cNvSpPr/>
            <p:nvPr/>
          </p:nvSpPr>
          <p:spPr>
            <a:xfrm>
              <a:off x="0" y="0"/>
              <a:ext cx="771294" cy="812800"/>
            </a:xfrm>
            <a:custGeom>
              <a:avLst/>
              <a:gdLst/>
              <a:ahLst/>
              <a:cxnLst/>
              <a:rect l="l" t="t" r="r" b="b"/>
              <a:pathLst>
                <a:path w="771294" h="812800">
                  <a:moveTo>
                    <a:pt x="385647" y="0"/>
                  </a:moveTo>
                  <a:cubicBezTo>
                    <a:pt x="172660" y="0"/>
                    <a:pt x="0" y="181951"/>
                    <a:pt x="0" y="406400"/>
                  </a:cubicBezTo>
                  <a:cubicBezTo>
                    <a:pt x="0" y="630849"/>
                    <a:pt x="172660" y="812800"/>
                    <a:pt x="385647" y="812800"/>
                  </a:cubicBezTo>
                  <a:cubicBezTo>
                    <a:pt x="598634" y="812800"/>
                    <a:pt x="771294" y="630849"/>
                    <a:pt x="771294" y="406400"/>
                  </a:cubicBezTo>
                  <a:cubicBezTo>
                    <a:pt x="771294" y="181951"/>
                    <a:pt x="598634" y="0"/>
                    <a:pt x="385647" y="0"/>
                  </a:cubicBezTo>
                  <a:close/>
                </a:path>
              </a:pathLst>
            </a:custGeom>
            <a:ln w="28575" cap="sq">
              <a:solidFill>
                <a:srgbClr val="000000"/>
              </a:solidFill>
              <a:prstDash val="solid"/>
              <a:miter/>
            </a:ln>
          </p:spPr>
          <p:txBody>
            <a:bodyPr/>
            <a:lstStyle/>
            <a:p>
              <a:endParaRPr lang="it-IT"/>
            </a:p>
          </p:txBody>
        </p:sp>
        <p:sp>
          <p:nvSpPr>
            <p:cNvPr id="12" name="TextBox 12"/>
            <p:cNvSpPr txBox="1"/>
            <p:nvPr/>
          </p:nvSpPr>
          <p:spPr>
            <a:xfrm>
              <a:off x="72309" y="28575"/>
              <a:ext cx="626676" cy="708025"/>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7649448" y="6898324"/>
            <a:ext cx="909958" cy="90995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6" name="TextBox 16"/>
          <p:cNvSpPr txBox="1"/>
          <p:nvPr/>
        </p:nvSpPr>
        <p:spPr>
          <a:xfrm>
            <a:off x="7582120" y="3264216"/>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1</a:t>
            </a:r>
          </a:p>
        </p:txBody>
      </p:sp>
      <p:sp>
        <p:nvSpPr>
          <p:cNvPr id="17" name="TextBox 17"/>
          <p:cNvSpPr txBox="1"/>
          <p:nvPr/>
        </p:nvSpPr>
        <p:spPr>
          <a:xfrm>
            <a:off x="7649448" y="5004986"/>
            <a:ext cx="775301"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2</a:t>
            </a:r>
          </a:p>
        </p:txBody>
      </p:sp>
      <p:sp>
        <p:nvSpPr>
          <p:cNvPr id="18" name="TextBox 18"/>
          <p:cNvSpPr txBox="1"/>
          <p:nvPr/>
        </p:nvSpPr>
        <p:spPr>
          <a:xfrm>
            <a:off x="7695916" y="6986908"/>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3</a:t>
            </a:r>
          </a:p>
        </p:txBody>
      </p:sp>
      <p:sp>
        <p:nvSpPr>
          <p:cNvPr id="19" name="TextBox 19"/>
          <p:cNvSpPr txBox="1"/>
          <p:nvPr/>
        </p:nvSpPr>
        <p:spPr>
          <a:xfrm>
            <a:off x="9144000" y="3025456"/>
            <a:ext cx="8115300" cy="1096010"/>
          </a:xfrm>
          <a:prstGeom prst="rect">
            <a:avLst/>
          </a:prstGeom>
        </p:spPr>
        <p:txBody>
          <a:bodyPr lIns="0" tIns="0" rIns="0" bIns="0" rtlCol="0" anchor="t">
            <a:spAutoFit/>
          </a:bodyPr>
          <a:lstStyle/>
          <a:p>
            <a:pPr algn="l">
              <a:lnSpc>
                <a:spcPts val="4479"/>
              </a:lnSpc>
              <a:spcBef>
                <a:spcPct val="0"/>
              </a:spcBef>
            </a:pPr>
            <a:r>
              <a:rPr lang="en-US" sz="2799" b="1">
                <a:solidFill>
                  <a:srgbClr val="000000"/>
                </a:solidFill>
                <a:latin typeface="Open Sauce Bold"/>
                <a:ea typeface="Open Sauce Bold"/>
                <a:cs typeface="Open Sauce Bold"/>
                <a:sym typeface="Open Sauce Bold"/>
              </a:rPr>
              <a:t>Easier interpretation: </a:t>
            </a:r>
            <a:r>
              <a:rPr lang="en-US" sz="2799">
                <a:solidFill>
                  <a:srgbClr val="000000"/>
                </a:solidFill>
                <a:latin typeface="Open Sauce"/>
                <a:ea typeface="Open Sauce"/>
                <a:cs typeface="Open Sauce"/>
                <a:sym typeface="Open Sauce"/>
              </a:rPr>
              <a:t>users are more used to a common vocabulary.</a:t>
            </a:r>
          </a:p>
        </p:txBody>
      </p:sp>
      <p:sp>
        <p:nvSpPr>
          <p:cNvPr id="20" name="TextBox 20"/>
          <p:cNvSpPr txBox="1"/>
          <p:nvPr/>
        </p:nvSpPr>
        <p:spPr>
          <a:xfrm>
            <a:off x="9144000" y="4610737"/>
            <a:ext cx="8512954" cy="1648460"/>
          </a:xfrm>
          <a:prstGeom prst="rect">
            <a:avLst/>
          </a:prstGeom>
        </p:spPr>
        <p:txBody>
          <a:bodyPr lIns="0" tIns="0" rIns="0" bIns="0" rtlCol="0" anchor="t">
            <a:spAutoFit/>
          </a:bodyPr>
          <a:lstStyle/>
          <a:p>
            <a:pPr algn="l">
              <a:lnSpc>
                <a:spcPts val="4480"/>
              </a:lnSpc>
              <a:spcBef>
                <a:spcPct val="0"/>
              </a:spcBef>
            </a:pPr>
            <a:r>
              <a:rPr lang="en-US" sz="2800" b="1">
                <a:solidFill>
                  <a:srgbClr val="000000"/>
                </a:solidFill>
                <a:latin typeface="Open Sauce Bold"/>
                <a:ea typeface="Open Sauce Bold"/>
                <a:cs typeface="Open Sauce Bold"/>
                <a:sym typeface="Open Sauce Bold"/>
              </a:rPr>
              <a:t>Consistent representation throughout the platform: </a:t>
            </a:r>
            <a:r>
              <a:rPr lang="en-US" sz="2800">
                <a:solidFill>
                  <a:srgbClr val="000000"/>
                </a:solidFill>
                <a:latin typeface="Open Sauce"/>
                <a:ea typeface="Open Sauce"/>
                <a:cs typeface="Open Sauce"/>
                <a:sym typeface="Open Sauce"/>
              </a:rPr>
              <a:t>users of the platfrom will experience the same vocabulary throughout the platform.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1662256"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the vocabulary</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21</a:t>
            </a:r>
          </a:p>
        </p:txBody>
      </p:sp>
      <p:sp>
        <p:nvSpPr>
          <p:cNvPr id="6" name="TextBox 6"/>
          <p:cNvSpPr txBox="1"/>
          <p:nvPr/>
        </p:nvSpPr>
        <p:spPr>
          <a:xfrm>
            <a:off x="1166399" y="2876865"/>
            <a:ext cx="15396363" cy="5116557"/>
          </a:xfrm>
          <a:prstGeom prst="rect">
            <a:avLst/>
          </a:prstGeom>
        </p:spPr>
        <p:txBody>
          <a:bodyPr lIns="0" tIns="0" rIns="0" bIns="0" rtlCol="0" anchor="t">
            <a:spAutoFit/>
          </a:bodyPr>
          <a:lstStyle/>
          <a:p>
            <a:pPr algn="l">
              <a:lnSpc>
                <a:spcPts val="4759"/>
              </a:lnSpc>
            </a:pPr>
            <a:r>
              <a:rPr lang="en-US" sz="3399" b="1">
                <a:solidFill>
                  <a:srgbClr val="000000"/>
                </a:solidFill>
                <a:latin typeface="Open Sans Bold"/>
                <a:ea typeface="Open Sans Bold"/>
                <a:cs typeface="Open Sans Bold"/>
                <a:sym typeface="Open Sans Bold"/>
              </a:rPr>
              <a:t>SNOMED CT</a:t>
            </a:r>
            <a:r>
              <a:rPr lang="en-US" sz="3399">
                <a:solidFill>
                  <a:srgbClr val="000000"/>
                </a:solidFill>
                <a:latin typeface="Open Sans"/>
                <a:ea typeface="Open Sans"/>
                <a:cs typeface="Open Sans"/>
                <a:sym typeface="Open Sans"/>
              </a:rPr>
              <a:t> (</a:t>
            </a:r>
            <a:r>
              <a:rPr lang="en-US" sz="3399" i="1">
                <a:solidFill>
                  <a:srgbClr val="000000"/>
                </a:solidFill>
                <a:latin typeface="Open Sans Italics"/>
                <a:ea typeface="Open Sans Italics"/>
                <a:cs typeface="Open Sans Italics"/>
                <a:sym typeface="Open Sans Italics"/>
              </a:rPr>
              <a:t>Systematized Nomenclature of Medicine – Clinical Terms</a:t>
            </a:r>
            <a:r>
              <a:rPr lang="en-US" sz="3399">
                <a:solidFill>
                  <a:srgbClr val="000000"/>
                </a:solidFill>
                <a:latin typeface="Open Sans"/>
                <a:ea typeface="Open Sans"/>
                <a:cs typeface="Open Sans"/>
                <a:sym typeface="Open Sans"/>
              </a:rPr>
              <a:t>)</a:t>
            </a:r>
          </a:p>
          <a:p>
            <a:pPr algn="l">
              <a:lnSpc>
                <a:spcPts val="4759"/>
              </a:lnSpc>
            </a:pPr>
            <a:endParaRPr lang="en-US" sz="3399">
              <a:solidFill>
                <a:srgbClr val="000000"/>
              </a:solidFill>
              <a:latin typeface="Open Sans"/>
              <a:ea typeface="Open Sans"/>
              <a:cs typeface="Open Sans"/>
              <a:sym typeface="Open Sans"/>
            </a:endParaRPr>
          </a:p>
          <a:p>
            <a:pPr algn="l">
              <a:lnSpc>
                <a:spcPts val="4480"/>
              </a:lnSpc>
            </a:pPr>
            <a:r>
              <a:rPr lang="en-US" sz="3200" i="1" u="sng">
                <a:solidFill>
                  <a:srgbClr val="000000"/>
                </a:solidFill>
                <a:latin typeface="Open Sans Italics"/>
                <a:ea typeface="Open Sans Italics"/>
                <a:cs typeface="Open Sans Italics"/>
                <a:sym typeface="Open Sans Italics"/>
              </a:rPr>
              <a:t>Pros</a:t>
            </a:r>
          </a:p>
          <a:p>
            <a:pPr marL="690881" lvl="1" indent="-345440" algn="l">
              <a:lnSpc>
                <a:spcPts val="4480"/>
              </a:lnSpc>
              <a:buFont typeface="Arial"/>
              <a:buChar char="•"/>
            </a:pPr>
            <a:r>
              <a:rPr lang="en-US" sz="3200">
                <a:solidFill>
                  <a:srgbClr val="000000"/>
                </a:solidFill>
                <a:latin typeface="Open Sans"/>
                <a:ea typeface="Open Sans"/>
                <a:cs typeface="Open Sans"/>
                <a:sym typeface="Open Sans"/>
              </a:rPr>
              <a:t>Among the most widely adopted clinical terminologies</a:t>
            </a:r>
          </a:p>
          <a:p>
            <a:pPr marL="690881" lvl="1" indent="-345440" algn="l">
              <a:lnSpc>
                <a:spcPts val="4480"/>
              </a:lnSpc>
              <a:buFont typeface="Arial"/>
              <a:buChar char="•"/>
            </a:pPr>
            <a:r>
              <a:rPr lang="en-US" sz="3200">
                <a:solidFill>
                  <a:srgbClr val="000000"/>
                </a:solidFill>
                <a:latin typeface="Open Sans"/>
                <a:ea typeface="Open Sans"/>
                <a:cs typeface="Open Sans"/>
                <a:sym typeface="Open Sans"/>
              </a:rPr>
              <a:t>Rich network of clinical concepts, supporting complex relationships</a:t>
            </a:r>
          </a:p>
          <a:p>
            <a:pPr algn="l">
              <a:lnSpc>
                <a:spcPts val="4480"/>
              </a:lnSpc>
            </a:pPr>
            <a:endParaRPr lang="en-US" sz="3200">
              <a:solidFill>
                <a:srgbClr val="000000"/>
              </a:solidFill>
              <a:latin typeface="Open Sans"/>
              <a:ea typeface="Open Sans"/>
              <a:cs typeface="Open Sans"/>
              <a:sym typeface="Open Sans"/>
            </a:endParaRPr>
          </a:p>
          <a:p>
            <a:pPr algn="l">
              <a:lnSpc>
                <a:spcPts val="4480"/>
              </a:lnSpc>
            </a:pPr>
            <a:r>
              <a:rPr lang="en-US" sz="3200" i="1" u="sng">
                <a:solidFill>
                  <a:srgbClr val="000000"/>
                </a:solidFill>
                <a:latin typeface="Open Sans Italics"/>
                <a:ea typeface="Open Sans Italics"/>
                <a:cs typeface="Open Sans Italics"/>
                <a:sym typeface="Open Sans Italics"/>
              </a:rPr>
              <a:t>Cons</a:t>
            </a:r>
          </a:p>
          <a:p>
            <a:pPr marL="690881" lvl="1" indent="-345440" algn="l">
              <a:lnSpc>
                <a:spcPts val="4480"/>
              </a:lnSpc>
              <a:buFont typeface="Arial"/>
              <a:buChar char="•"/>
            </a:pPr>
            <a:r>
              <a:rPr lang="en-US" sz="3200">
                <a:solidFill>
                  <a:srgbClr val="000000"/>
                </a:solidFill>
                <a:latin typeface="Open Sans"/>
                <a:ea typeface="Open Sans"/>
                <a:cs typeface="Open Sans"/>
                <a:sym typeface="Open Sans"/>
              </a:rPr>
              <a:t>No 1-to-1 correspondence between DICOM attributes and SNOMED CT terms</a:t>
            </a:r>
          </a:p>
          <a:p>
            <a:pPr marL="690881" lvl="1" indent="-345440" algn="l">
              <a:lnSpc>
                <a:spcPts val="4480"/>
              </a:lnSpc>
              <a:buFont typeface="Arial"/>
              <a:buChar char="•"/>
            </a:pPr>
            <a:r>
              <a:rPr lang="en-US" sz="3200">
                <a:solidFill>
                  <a:srgbClr val="000000"/>
                </a:solidFill>
                <a:latin typeface="Open Sans"/>
                <a:ea typeface="Open Sans"/>
                <a:cs typeface="Open Sans"/>
                <a:sym typeface="Open Sans"/>
              </a:rPr>
              <a:t>Difficult to map image feature names to SNOMED CT terminology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2442916" y="4170970"/>
            <a:ext cx="6701084" cy="3952068"/>
          </a:xfrm>
          <a:custGeom>
            <a:avLst/>
            <a:gdLst/>
            <a:ahLst/>
            <a:cxnLst/>
            <a:rect l="l" t="t" r="r" b="b"/>
            <a:pathLst>
              <a:path w="6701084" h="3952068">
                <a:moveTo>
                  <a:pt x="0" y="0"/>
                </a:moveTo>
                <a:lnTo>
                  <a:pt x="6701084" y="0"/>
                </a:lnTo>
                <a:lnTo>
                  <a:pt x="6701084" y="3952067"/>
                </a:lnTo>
                <a:lnTo>
                  <a:pt x="0" y="3952067"/>
                </a:lnTo>
                <a:lnTo>
                  <a:pt x="0" y="0"/>
                </a:lnTo>
                <a:close/>
              </a:path>
            </a:pathLst>
          </a:custGeom>
          <a:blipFill>
            <a:blip r:embed="rId4"/>
            <a:stretch>
              <a:fillRect t="-781" r="-137939" b="-2097"/>
            </a:stretch>
          </a:blipFill>
        </p:spPr>
        <p:txBody>
          <a:bodyPr/>
          <a:lstStyle/>
          <a:p>
            <a:endParaRPr lang="it-IT"/>
          </a:p>
        </p:txBody>
      </p:sp>
      <p:sp>
        <p:nvSpPr>
          <p:cNvPr id="5" name="TextBox 5"/>
          <p:cNvSpPr txBox="1"/>
          <p:nvPr/>
        </p:nvSpPr>
        <p:spPr>
          <a:xfrm>
            <a:off x="1166399" y="1233825"/>
            <a:ext cx="13623371"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mapping preparation</a:t>
            </a:r>
          </a:p>
        </p:txBody>
      </p:sp>
      <p:sp>
        <p:nvSpPr>
          <p:cNvPr id="6" name="TextBox 6"/>
          <p:cNvSpPr txBox="1"/>
          <p:nvPr/>
        </p:nvSpPr>
        <p:spPr>
          <a:xfrm>
            <a:off x="16818389" y="9142095"/>
            <a:ext cx="303212"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22</a:t>
            </a:r>
          </a:p>
        </p:txBody>
      </p:sp>
      <p:sp>
        <p:nvSpPr>
          <p:cNvPr id="7" name="TextBox 7"/>
          <p:cNvSpPr txBox="1"/>
          <p:nvPr/>
        </p:nvSpPr>
        <p:spPr>
          <a:xfrm>
            <a:off x="1166399" y="2683814"/>
            <a:ext cx="14702284" cy="1038225"/>
          </a:xfrm>
          <a:prstGeom prst="rect">
            <a:avLst/>
          </a:prstGeom>
        </p:spPr>
        <p:txBody>
          <a:bodyPr lIns="0" tIns="0" rIns="0" bIns="0" rtlCol="0" anchor="t">
            <a:spAutoFit/>
          </a:bodyPr>
          <a:lstStyle/>
          <a:p>
            <a:pPr algn="l">
              <a:lnSpc>
                <a:spcPts val="4480"/>
              </a:lnSpc>
            </a:pPr>
            <a:r>
              <a:rPr lang="en-US" sz="3200">
                <a:solidFill>
                  <a:srgbClr val="000000"/>
                </a:solidFill>
                <a:latin typeface="Open Sans"/>
                <a:ea typeface="Open Sans"/>
                <a:cs typeface="Open Sans"/>
                <a:sym typeface="Open Sans"/>
              </a:rPr>
              <a:t>In our case manual mapping ensures high accuracy with minimal setup effort.</a:t>
            </a:r>
          </a:p>
          <a:p>
            <a:pPr algn="l">
              <a:lnSpc>
                <a:spcPts val="3919"/>
              </a:lnSpc>
            </a:pPr>
            <a:endParaRPr lang="en-US" sz="3200">
              <a:solidFill>
                <a:srgbClr val="000000"/>
              </a:solidFill>
              <a:latin typeface="Open Sans"/>
              <a:ea typeface="Open Sans"/>
              <a:cs typeface="Open Sans"/>
              <a:sym typeface="Open Sans"/>
            </a:endParaRPr>
          </a:p>
        </p:txBody>
      </p:sp>
      <p:sp>
        <p:nvSpPr>
          <p:cNvPr id="8" name="Freeform 8"/>
          <p:cNvSpPr/>
          <p:nvPr/>
        </p:nvSpPr>
        <p:spPr>
          <a:xfrm>
            <a:off x="9310818" y="4197949"/>
            <a:ext cx="6105681" cy="3952069"/>
          </a:xfrm>
          <a:custGeom>
            <a:avLst/>
            <a:gdLst/>
            <a:ahLst/>
            <a:cxnLst/>
            <a:rect l="l" t="t" r="r" b="b"/>
            <a:pathLst>
              <a:path w="6105681" h="4006030">
                <a:moveTo>
                  <a:pt x="0" y="0"/>
                </a:moveTo>
                <a:lnTo>
                  <a:pt x="6105681" y="0"/>
                </a:lnTo>
                <a:lnTo>
                  <a:pt x="6105681" y="4006029"/>
                </a:lnTo>
                <a:lnTo>
                  <a:pt x="0" y="4006029"/>
                </a:lnTo>
                <a:lnTo>
                  <a:pt x="0" y="0"/>
                </a:lnTo>
                <a:close/>
              </a:path>
            </a:pathLst>
          </a:custGeom>
          <a:blipFill>
            <a:blip r:embed="rId4"/>
            <a:stretch>
              <a:fillRect l="-171631" t="-4077" r="-1629" b="-2125"/>
            </a:stretch>
          </a:blipFill>
        </p:spPr>
        <p:txBody>
          <a:bodyPr/>
          <a:lstStyle/>
          <a:p>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3209558"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mapping procedure</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23</a:t>
            </a:r>
          </a:p>
        </p:txBody>
      </p:sp>
      <p:sp>
        <p:nvSpPr>
          <p:cNvPr id="6" name="TextBox 6"/>
          <p:cNvSpPr txBox="1"/>
          <p:nvPr/>
        </p:nvSpPr>
        <p:spPr>
          <a:xfrm>
            <a:off x="1166399" y="2547615"/>
            <a:ext cx="6906228" cy="537845"/>
          </a:xfrm>
          <a:prstGeom prst="rect">
            <a:avLst/>
          </a:prstGeom>
        </p:spPr>
        <p:txBody>
          <a:bodyPr lIns="0" tIns="0" rIns="0" bIns="0" rtlCol="0" anchor="t">
            <a:spAutoFit/>
          </a:bodyPr>
          <a:lstStyle/>
          <a:p>
            <a:pPr algn="l">
              <a:lnSpc>
                <a:spcPts val="4480"/>
              </a:lnSpc>
            </a:pPr>
            <a:r>
              <a:rPr lang="en-US" sz="3200" i="1">
                <a:solidFill>
                  <a:srgbClr val="000000"/>
                </a:solidFill>
                <a:latin typeface="Open Sauce Italics"/>
                <a:ea typeface="Open Sauce Italics"/>
                <a:cs typeface="Open Sauce Italics"/>
                <a:sym typeface="Open Sauce Italics"/>
              </a:rPr>
              <a:t>Mapping to a common vocabulary.</a:t>
            </a:r>
          </a:p>
        </p:txBody>
      </p:sp>
      <p:sp>
        <p:nvSpPr>
          <p:cNvPr id="7" name="TextBox 7"/>
          <p:cNvSpPr txBox="1"/>
          <p:nvPr/>
        </p:nvSpPr>
        <p:spPr>
          <a:xfrm>
            <a:off x="1853723" y="4617720"/>
            <a:ext cx="6417320" cy="3347720"/>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Open Sauce"/>
                <a:ea typeface="Open Sauce"/>
                <a:cs typeface="Open Sauce"/>
                <a:sym typeface="Open Sauce"/>
              </a:rPr>
              <a:t>Query the field_mappings table</a:t>
            </a:r>
          </a:p>
          <a:p>
            <a:pPr marL="690881" lvl="1" indent="-345440" algn="l">
              <a:lnSpc>
                <a:spcPts val="4480"/>
              </a:lnSpc>
              <a:buFont typeface="Arial"/>
              <a:buChar char="•"/>
            </a:pPr>
            <a:r>
              <a:rPr lang="en-US" sz="3200">
                <a:solidFill>
                  <a:srgbClr val="000000"/>
                </a:solidFill>
                <a:latin typeface="Open Sauce"/>
                <a:ea typeface="Open Sauce"/>
                <a:cs typeface="Open Sauce"/>
                <a:sym typeface="Open Sauce"/>
              </a:rPr>
              <a:t>Filter for the current entity</a:t>
            </a:r>
          </a:p>
          <a:p>
            <a:pPr marL="690881" lvl="1" indent="-345440" algn="l">
              <a:lnSpc>
                <a:spcPts val="4480"/>
              </a:lnSpc>
              <a:buFont typeface="Arial"/>
              <a:buChar char="•"/>
            </a:pPr>
            <a:r>
              <a:rPr lang="en-US" sz="3200">
                <a:solidFill>
                  <a:srgbClr val="000000"/>
                </a:solidFill>
                <a:latin typeface="Open Sauce"/>
                <a:ea typeface="Open Sauce"/>
                <a:cs typeface="Open Sauce"/>
                <a:sym typeface="Open Sauce"/>
              </a:rPr>
              <a:t>Output: dictionary {original attribute → standardized attribute}</a:t>
            </a:r>
          </a:p>
        </p:txBody>
      </p:sp>
      <p:sp>
        <p:nvSpPr>
          <p:cNvPr id="8" name="TextBox 8"/>
          <p:cNvSpPr txBox="1"/>
          <p:nvPr/>
        </p:nvSpPr>
        <p:spPr>
          <a:xfrm>
            <a:off x="9982200" y="4617720"/>
            <a:ext cx="6003307" cy="2785745"/>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a:solidFill>
                  <a:srgbClr val="000000"/>
                </a:solidFill>
                <a:latin typeface="Open Sauce"/>
                <a:ea typeface="Open Sauce"/>
                <a:cs typeface="Open Sauce"/>
                <a:sym typeface="Open Sauce"/>
              </a:rPr>
              <a:t>Query the value_mappings table</a:t>
            </a:r>
          </a:p>
          <a:p>
            <a:pPr marL="690881" lvl="1" indent="-345440" algn="l">
              <a:lnSpc>
                <a:spcPts val="4480"/>
              </a:lnSpc>
              <a:spcBef>
                <a:spcPct val="0"/>
              </a:spcBef>
              <a:buFont typeface="Arial"/>
              <a:buChar char="•"/>
            </a:pPr>
            <a:r>
              <a:rPr lang="en-US" sz="3200">
                <a:solidFill>
                  <a:srgbClr val="000000"/>
                </a:solidFill>
                <a:latin typeface="Open Sauce"/>
                <a:ea typeface="Open Sauce"/>
                <a:cs typeface="Open Sauce"/>
                <a:sym typeface="Open Sauce"/>
              </a:rPr>
              <a:t>Map one value at a time</a:t>
            </a:r>
          </a:p>
          <a:p>
            <a:pPr marL="690881" lvl="1" indent="-345440" algn="l">
              <a:lnSpc>
                <a:spcPts val="4480"/>
              </a:lnSpc>
              <a:spcBef>
                <a:spcPct val="0"/>
              </a:spcBef>
              <a:buFont typeface="Arial"/>
              <a:buChar char="•"/>
            </a:pPr>
            <a:r>
              <a:rPr lang="en-US" sz="3200">
                <a:solidFill>
                  <a:srgbClr val="000000"/>
                </a:solidFill>
                <a:latin typeface="Open Sauce"/>
                <a:ea typeface="Open Sauce"/>
                <a:cs typeface="Open Sauce"/>
                <a:sym typeface="Open Sauce"/>
              </a:rPr>
              <a:t>Output: standardized value (if found)</a:t>
            </a:r>
          </a:p>
        </p:txBody>
      </p:sp>
      <p:sp>
        <p:nvSpPr>
          <p:cNvPr id="9" name="AutoShape 9"/>
          <p:cNvSpPr/>
          <p:nvPr/>
        </p:nvSpPr>
        <p:spPr>
          <a:xfrm flipH="1">
            <a:off x="9124950" y="3888474"/>
            <a:ext cx="0" cy="3605796"/>
          </a:xfrm>
          <a:prstGeom prst="line">
            <a:avLst/>
          </a:prstGeom>
          <a:ln w="38100" cap="flat">
            <a:solidFill>
              <a:srgbClr val="000000"/>
            </a:solidFill>
            <a:prstDash val="solid"/>
            <a:headEnd type="none" w="sm" len="sm"/>
            <a:tailEnd type="none" w="sm" len="sm"/>
          </a:ln>
        </p:spPr>
        <p:txBody>
          <a:bodyPr/>
          <a:lstStyle/>
          <a:p>
            <a:endParaRPr lang="it-IT"/>
          </a:p>
        </p:txBody>
      </p:sp>
      <p:sp>
        <p:nvSpPr>
          <p:cNvPr id="10" name="TextBox 10"/>
          <p:cNvSpPr txBox="1"/>
          <p:nvPr/>
        </p:nvSpPr>
        <p:spPr>
          <a:xfrm>
            <a:off x="12582196" y="3584575"/>
            <a:ext cx="1362670" cy="537845"/>
          </a:xfrm>
          <a:prstGeom prst="rect">
            <a:avLst/>
          </a:prstGeom>
        </p:spPr>
        <p:txBody>
          <a:bodyPr lIns="0" tIns="0" rIns="0" bIns="0" rtlCol="0" anchor="t">
            <a:spAutoFit/>
          </a:bodyPr>
          <a:lstStyle/>
          <a:p>
            <a:pPr algn="ctr">
              <a:lnSpc>
                <a:spcPts val="4480"/>
              </a:lnSpc>
              <a:spcBef>
                <a:spcPct val="0"/>
              </a:spcBef>
            </a:pPr>
            <a:r>
              <a:rPr lang="en-US" sz="3200" b="1">
                <a:solidFill>
                  <a:srgbClr val="000000"/>
                </a:solidFill>
                <a:latin typeface="Open Sauce Bold"/>
                <a:ea typeface="Open Sauce Bold"/>
                <a:cs typeface="Open Sauce Bold"/>
                <a:sym typeface="Open Sauce Bold"/>
              </a:rPr>
              <a:t>Values</a:t>
            </a:r>
          </a:p>
        </p:txBody>
      </p:sp>
      <p:sp>
        <p:nvSpPr>
          <p:cNvPr id="11" name="TextBox 11"/>
          <p:cNvSpPr txBox="1"/>
          <p:nvPr/>
        </p:nvSpPr>
        <p:spPr>
          <a:xfrm>
            <a:off x="3617081" y="3584575"/>
            <a:ext cx="2004864" cy="537845"/>
          </a:xfrm>
          <a:prstGeom prst="rect">
            <a:avLst/>
          </a:prstGeom>
        </p:spPr>
        <p:txBody>
          <a:bodyPr lIns="0" tIns="0" rIns="0" bIns="0" rtlCol="0" anchor="t">
            <a:spAutoFit/>
          </a:bodyPr>
          <a:lstStyle/>
          <a:p>
            <a:pPr algn="ctr">
              <a:lnSpc>
                <a:spcPts val="4480"/>
              </a:lnSpc>
              <a:spcBef>
                <a:spcPct val="0"/>
              </a:spcBef>
            </a:pPr>
            <a:r>
              <a:rPr lang="en-US" sz="3200" b="1">
                <a:solidFill>
                  <a:srgbClr val="000000"/>
                </a:solidFill>
                <a:latin typeface="Open Sauce Bold"/>
                <a:ea typeface="Open Sauce Bold"/>
                <a:cs typeface="Open Sauce Bold"/>
                <a:sym typeface="Open Sauce Bold"/>
              </a:rPr>
              <a:t>Attributes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2640573" y="3393874"/>
            <a:ext cx="13006854" cy="5864426"/>
          </a:xfrm>
          <a:custGeom>
            <a:avLst/>
            <a:gdLst/>
            <a:ahLst/>
            <a:cxnLst/>
            <a:rect l="l" t="t" r="r" b="b"/>
            <a:pathLst>
              <a:path w="13006854" h="5864426">
                <a:moveTo>
                  <a:pt x="0" y="0"/>
                </a:moveTo>
                <a:lnTo>
                  <a:pt x="13006854" y="0"/>
                </a:lnTo>
                <a:lnTo>
                  <a:pt x="13006854" y="5864426"/>
                </a:lnTo>
                <a:lnTo>
                  <a:pt x="0" y="5864426"/>
                </a:lnTo>
                <a:lnTo>
                  <a:pt x="0" y="0"/>
                </a:lnTo>
                <a:close/>
              </a:path>
            </a:pathLst>
          </a:custGeom>
          <a:blipFill>
            <a:blip r:embed="rId4"/>
            <a:stretch>
              <a:fillRect b="-4796"/>
            </a:stretch>
          </a:blipFill>
        </p:spPr>
        <p:txBody>
          <a:bodyPr/>
          <a:lstStyle/>
          <a:p>
            <a:endParaRPr lang="it-IT"/>
          </a:p>
        </p:txBody>
      </p:sp>
      <p:sp>
        <p:nvSpPr>
          <p:cNvPr id="5" name="TextBox 5"/>
          <p:cNvSpPr txBox="1"/>
          <p:nvPr/>
        </p:nvSpPr>
        <p:spPr>
          <a:xfrm>
            <a:off x="1166399" y="1233825"/>
            <a:ext cx="13209558"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mapping procedure</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24</a:t>
            </a:r>
          </a:p>
        </p:txBody>
      </p:sp>
      <p:sp>
        <p:nvSpPr>
          <p:cNvPr id="7" name="TextBox 7"/>
          <p:cNvSpPr txBox="1"/>
          <p:nvPr/>
        </p:nvSpPr>
        <p:spPr>
          <a:xfrm>
            <a:off x="1175924" y="2538090"/>
            <a:ext cx="12881631" cy="490855"/>
          </a:xfrm>
          <a:prstGeom prst="rect">
            <a:avLst/>
          </a:prstGeom>
        </p:spPr>
        <p:txBody>
          <a:bodyPr lIns="0" tIns="0" rIns="0" bIns="0" rtlCol="0" anchor="t">
            <a:spAutoFit/>
          </a:bodyPr>
          <a:lstStyle/>
          <a:p>
            <a:pPr algn="l">
              <a:lnSpc>
                <a:spcPts val="3919"/>
              </a:lnSpc>
            </a:pPr>
            <a:r>
              <a:rPr lang="en-US" sz="2799" i="1">
                <a:solidFill>
                  <a:srgbClr val="000000"/>
                </a:solidFill>
                <a:latin typeface="Open Sauce Italics"/>
                <a:ea typeface="Open Sauce Italics"/>
                <a:cs typeface="Open Sauce Italics"/>
                <a:sym typeface="Open Sauce Italics"/>
              </a:rPr>
              <a:t>Example: mapping procedure for the values of a series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1853723" y="3509888"/>
            <a:ext cx="14344086" cy="5361102"/>
          </a:xfrm>
          <a:custGeom>
            <a:avLst/>
            <a:gdLst/>
            <a:ahLst/>
            <a:cxnLst/>
            <a:rect l="l" t="t" r="r" b="b"/>
            <a:pathLst>
              <a:path w="14344086" h="5361102">
                <a:moveTo>
                  <a:pt x="0" y="0"/>
                </a:moveTo>
                <a:lnTo>
                  <a:pt x="14344086" y="0"/>
                </a:lnTo>
                <a:lnTo>
                  <a:pt x="14344086" y="5361102"/>
                </a:lnTo>
                <a:lnTo>
                  <a:pt x="0" y="5361102"/>
                </a:lnTo>
                <a:lnTo>
                  <a:pt x="0" y="0"/>
                </a:lnTo>
                <a:close/>
              </a:path>
            </a:pathLst>
          </a:custGeom>
          <a:blipFill>
            <a:blip r:embed="rId4"/>
            <a:stretch>
              <a:fillRect/>
            </a:stretch>
          </a:blipFill>
        </p:spPr>
        <p:txBody>
          <a:bodyPr/>
          <a:lstStyle/>
          <a:p>
            <a:endParaRPr lang="it-IT"/>
          </a:p>
        </p:txBody>
      </p:sp>
      <p:sp>
        <p:nvSpPr>
          <p:cNvPr id="5" name="TextBox 5"/>
          <p:cNvSpPr txBox="1"/>
          <p:nvPr/>
        </p:nvSpPr>
        <p:spPr>
          <a:xfrm>
            <a:off x="1166399" y="1233825"/>
            <a:ext cx="13209558"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mapping procedure</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25</a:t>
            </a:r>
          </a:p>
        </p:txBody>
      </p:sp>
      <p:sp>
        <p:nvSpPr>
          <p:cNvPr id="7" name="TextBox 7"/>
          <p:cNvSpPr txBox="1"/>
          <p:nvPr/>
        </p:nvSpPr>
        <p:spPr>
          <a:xfrm>
            <a:off x="1166399" y="2638033"/>
            <a:ext cx="12881631" cy="490855"/>
          </a:xfrm>
          <a:prstGeom prst="rect">
            <a:avLst/>
          </a:prstGeom>
        </p:spPr>
        <p:txBody>
          <a:bodyPr lIns="0" tIns="0" rIns="0" bIns="0" rtlCol="0" anchor="t">
            <a:spAutoFit/>
          </a:bodyPr>
          <a:lstStyle/>
          <a:p>
            <a:pPr algn="l">
              <a:lnSpc>
                <a:spcPts val="3919"/>
              </a:lnSpc>
            </a:pPr>
            <a:r>
              <a:rPr lang="en-US" sz="2799" i="1">
                <a:solidFill>
                  <a:srgbClr val="000000"/>
                </a:solidFill>
                <a:latin typeface="Open Sauce Italics"/>
                <a:ea typeface="Open Sauce Italics"/>
                <a:cs typeface="Open Sauce Italics"/>
                <a:sym typeface="Open Sauce Italics"/>
              </a:rPr>
              <a:t>Example: mapping procedure for extracted features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1853723" y="3509888"/>
            <a:ext cx="14350465" cy="5363486"/>
          </a:xfrm>
          <a:custGeom>
            <a:avLst/>
            <a:gdLst/>
            <a:ahLst/>
            <a:cxnLst/>
            <a:rect l="l" t="t" r="r" b="b"/>
            <a:pathLst>
              <a:path w="14350465" h="5363486">
                <a:moveTo>
                  <a:pt x="0" y="0"/>
                </a:moveTo>
                <a:lnTo>
                  <a:pt x="14350465" y="0"/>
                </a:lnTo>
                <a:lnTo>
                  <a:pt x="14350465" y="5363486"/>
                </a:lnTo>
                <a:lnTo>
                  <a:pt x="0" y="5363486"/>
                </a:lnTo>
                <a:lnTo>
                  <a:pt x="0" y="0"/>
                </a:lnTo>
                <a:close/>
              </a:path>
            </a:pathLst>
          </a:custGeom>
          <a:blipFill>
            <a:blip r:embed="rId4"/>
            <a:stretch>
              <a:fillRect/>
            </a:stretch>
          </a:blipFill>
        </p:spPr>
        <p:txBody>
          <a:bodyPr/>
          <a:lstStyle/>
          <a:p>
            <a:endParaRPr lang="it-IT"/>
          </a:p>
        </p:txBody>
      </p:sp>
      <p:sp>
        <p:nvSpPr>
          <p:cNvPr id="5" name="TextBox 5"/>
          <p:cNvSpPr txBox="1"/>
          <p:nvPr/>
        </p:nvSpPr>
        <p:spPr>
          <a:xfrm>
            <a:off x="1166399" y="1233825"/>
            <a:ext cx="13166329"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mapping procedure</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26</a:t>
            </a:r>
          </a:p>
        </p:txBody>
      </p:sp>
      <p:sp>
        <p:nvSpPr>
          <p:cNvPr id="7" name="TextBox 7"/>
          <p:cNvSpPr txBox="1"/>
          <p:nvPr/>
        </p:nvSpPr>
        <p:spPr>
          <a:xfrm>
            <a:off x="1166399" y="2638033"/>
            <a:ext cx="12881631" cy="490855"/>
          </a:xfrm>
          <a:prstGeom prst="rect">
            <a:avLst/>
          </a:prstGeom>
        </p:spPr>
        <p:txBody>
          <a:bodyPr lIns="0" tIns="0" rIns="0" bIns="0" rtlCol="0" anchor="t">
            <a:spAutoFit/>
          </a:bodyPr>
          <a:lstStyle/>
          <a:p>
            <a:pPr algn="l">
              <a:lnSpc>
                <a:spcPts val="3919"/>
              </a:lnSpc>
            </a:pPr>
            <a:r>
              <a:rPr lang="en-US" sz="2799" i="1">
                <a:solidFill>
                  <a:srgbClr val="000000"/>
                </a:solidFill>
                <a:latin typeface="Open Sauce Italics"/>
                <a:ea typeface="Open Sauce Italics"/>
                <a:cs typeface="Open Sauce Italics"/>
                <a:sym typeface="Open Sauce Italics"/>
              </a:rPr>
              <a:t>Example: mapping procedure for the attribtues of a series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058392"/>
            <a:ext cx="5919491" cy="2218691"/>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Data Exchange: advantages</a:t>
            </a:r>
          </a:p>
        </p:txBody>
      </p:sp>
      <p:sp>
        <p:nvSpPr>
          <p:cNvPr id="5" name="TextBox 5"/>
          <p:cNvSpPr txBox="1"/>
          <p:nvPr/>
        </p:nvSpPr>
        <p:spPr>
          <a:xfrm>
            <a:off x="13808824" y="898461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27</a:t>
            </a:r>
          </a:p>
        </p:txBody>
      </p:sp>
      <p:sp>
        <p:nvSpPr>
          <p:cNvPr id="6" name="TextBox 6"/>
          <p:cNvSpPr txBox="1"/>
          <p:nvPr/>
        </p:nvSpPr>
        <p:spPr>
          <a:xfrm>
            <a:off x="8330185" y="7649794"/>
            <a:ext cx="8315275" cy="467757"/>
          </a:xfrm>
          <a:prstGeom prst="rect">
            <a:avLst/>
          </a:prstGeom>
        </p:spPr>
        <p:txBody>
          <a:bodyPr wrap="square" lIns="0" tIns="0" rIns="0" bIns="0" rtlCol="0" anchor="t">
            <a:spAutoFit/>
          </a:bodyPr>
          <a:lstStyle/>
          <a:p>
            <a:pPr>
              <a:lnSpc>
                <a:spcPts val="3919"/>
              </a:lnSpc>
            </a:pPr>
            <a:r>
              <a:rPr lang="en-US" sz="2799" b="1"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Compact </a:t>
            </a:r>
            <a:r>
              <a:rPr lang="en-US" sz="279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representation of mapping definitions</a:t>
            </a:r>
          </a:p>
        </p:txBody>
      </p:sp>
      <p:grpSp>
        <p:nvGrpSpPr>
          <p:cNvPr id="7" name="Group 7"/>
          <p:cNvGrpSpPr/>
          <p:nvPr/>
        </p:nvGrpSpPr>
        <p:grpSpPr>
          <a:xfrm>
            <a:off x="7085890" y="2622430"/>
            <a:ext cx="909958" cy="90995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7132357" y="4244352"/>
            <a:ext cx="863491" cy="909958"/>
            <a:chOff x="0" y="0"/>
            <a:chExt cx="771294" cy="812800"/>
          </a:xfrm>
        </p:grpSpPr>
        <p:sp>
          <p:nvSpPr>
            <p:cNvPr id="11" name="Freeform 11"/>
            <p:cNvSpPr/>
            <p:nvPr/>
          </p:nvSpPr>
          <p:spPr>
            <a:xfrm>
              <a:off x="0" y="0"/>
              <a:ext cx="771294" cy="812800"/>
            </a:xfrm>
            <a:custGeom>
              <a:avLst/>
              <a:gdLst/>
              <a:ahLst/>
              <a:cxnLst/>
              <a:rect l="l" t="t" r="r" b="b"/>
              <a:pathLst>
                <a:path w="771294" h="812800">
                  <a:moveTo>
                    <a:pt x="385647" y="0"/>
                  </a:moveTo>
                  <a:cubicBezTo>
                    <a:pt x="172660" y="0"/>
                    <a:pt x="0" y="181951"/>
                    <a:pt x="0" y="406400"/>
                  </a:cubicBezTo>
                  <a:cubicBezTo>
                    <a:pt x="0" y="630849"/>
                    <a:pt x="172660" y="812800"/>
                    <a:pt x="385647" y="812800"/>
                  </a:cubicBezTo>
                  <a:cubicBezTo>
                    <a:pt x="598634" y="812800"/>
                    <a:pt x="771294" y="630849"/>
                    <a:pt x="771294" y="406400"/>
                  </a:cubicBezTo>
                  <a:cubicBezTo>
                    <a:pt x="771294" y="181951"/>
                    <a:pt x="598634" y="0"/>
                    <a:pt x="385647" y="0"/>
                  </a:cubicBezTo>
                  <a:close/>
                </a:path>
              </a:pathLst>
            </a:custGeom>
            <a:ln w="28575" cap="sq">
              <a:solidFill>
                <a:srgbClr val="000000"/>
              </a:solidFill>
              <a:prstDash val="solid"/>
              <a:miter/>
            </a:ln>
          </p:spPr>
          <p:txBody>
            <a:bodyPr/>
            <a:lstStyle/>
            <a:p>
              <a:endParaRPr lang="it-IT"/>
            </a:p>
          </p:txBody>
        </p:sp>
        <p:sp>
          <p:nvSpPr>
            <p:cNvPr id="12" name="TextBox 12"/>
            <p:cNvSpPr txBox="1"/>
            <p:nvPr/>
          </p:nvSpPr>
          <p:spPr>
            <a:xfrm>
              <a:off x="72309" y="28575"/>
              <a:ext cx="626676" cy="708025"/>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7176452" y="5866273"/>
            <a:ext cx="909958" cy="90995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6" name="TextBox 16"/>
          <p:cNvSpPr txBox="1"/>
          <p:nvPr/>
        </p:nvSpPr>
        <p:spPr>
          <a:xfrm>
            <a:off x="7085890" y="2711015"/>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1</a:t>
            </a:r>
          </a:p>
        </p:txBody>
      </p:sp>
      <p:sp>
        <p:nvSpPr>
          <p:cNvPr id="17" name="TextBox 17"/>
          <p:cNvSpPr txBox="1"/>
          <p:nvPr/>
        </p:nvSpPr>
        <p:spPr>
          <a:xfrm>
            <a:off x="7176452" y="4318247"/>
            <a:ext cx="775301"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2</a:t>
            </a:r>
          </a:p>
        </p:txBody>
      </p:sp>
      <p:sp>
        <p:nvSpPr>
          <p:cNvPr id="18" name="TextBox 18"/>
          <p:cNvSpPr txBox="1"/>
          <p:nvPr/>
        </p:nvSpPr>
        <p:spPr>
          <a:xfrm>
            <a:off x="7222920" y="5954858"/>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3</a:t>
            </a:r>
          </a:p>
        </p:txBody>
      </p:sp>
      <p:sp>
        <p:nvSpPr>
          <p:cNvPr id="19" name="TextBox 19"/>
          <p:cNvSpPr txBox="1"/>
          <p:nvPr/>
        </p:nvSpPr>
        <p:spPr>
          <a:xfrm>
            <a:off x="8350527" y="2622430"/>
            <a:ext cx="9679232" cy="986155"/>
          </a:xfrm>
          <a:prstGeom prst="rect">
            <a:avLst/>
          </a:prstGeom>
        </p:spPr>
        <p:txBody>
          <a:bodyPr lIns="0" tIns="0" rIns="0" bIns="0" rtlCol="0" anchor="t">
            <a:spAutoFit/>
          </a:bodyPr>
          <a:lstStyle/>
          <a:p>
            <a:pPr algn="l">
              <a:lnSpc>
                <a:spcPts val="3919"/>
              </a:lnSpc>
              <a:spcBef>
                <a:spcPct val="0"/>
              </a:spcBef>
            </a:pP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Decoupling</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of mapping tables from the internal database schema</a:t>
            </a:r>
          </a:p>
        </p:txBody>
      </p:sp>
      <p:sp>
        <p:nvSpPr>
          <p:cNvPr id="20" name="TextBox 20"/>
          <p:cNvSpPr txBox="1"/>
          <p:nvPr/>
        </p:nvSpPr>
        <p:spPr>
          <a:xfrm>
            <a:off x="8330186" y="4333583"/>
            <a:ext cx="7518499" cy="467757"/>
          </a:xfrm>
          <a:prstGeom prst="rect">
            <a:avLst/>
          </a:prstGeom>
        </p:spPr>
        <p:txBody>
          <a:bodyPr lIns="0" tIns="0" rIns="0" bIns="0" rtlCol="0" anchor="t">
            <a:spAutoFit/>
          </a:bodyPr>
          <a:lstStyle/>
          <a:p>
            <a:pPr>
              <a:lnSpc>
                <a:spcPts val="3919"/>
              </a:lnSpc>
              <a:spcBef>
                <a:spcPct val="0"/>
              </a:spcBef>
            </a:pP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Straightforward</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update of mappings</a:t>
            </a:r>
          </a:p>
        </p:txBody>
      </p:sp>
      <p:sp>
        <p:nvSpPr>
          <p:cNvPr id="21" name="TextBox 21"/>
          <p:cNvSpPr txBox="1"/>
          <p:nvPr/>
        </p:nvSpPr>
        <p:spPr>
          <a:xfrm>
            <a:off x="8330186" y="6040506"/>
            <a:ext cx="8315275" cy="467757"/>
          </a:xfrm>
          <a:prstGeom prst="rect">
            <a:avLst/>
          </a:prstGeom>
        </p:spPr>
        <p:txBody>
          <a:bodyPr lIns="0" tIns="0" rIns="0" bIns="0" rtlCol="0" anchor="t">
            <a:spAutoFit/>
          </a:bodyPr>
          <a:lstStyle/>
          <a:p>
            <a:pPr>
              <a:lnSpc>
                <a:spcPts val="3919"/>
              </a:lnSpc>
              <a:spcBef>
                <a:spcPct val="0"/>
              </a:spcBef>
            </a:pP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Traceability</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of attribute transformations</a:t>
            </a:r>
          </a:p>
        </p:txBody>
      </p:sp>
      <p:grpSp>
        <p:nvGrpSpPr>
          <p:cNvPr id="22" name="Group 22"/>
          <p:cNvGrpSpPr/>
          <p:nvPr/>
        </p:nvGrpSpPr>
        <p:grpSpPr>
          <a:xfrm>
            <a:off x="7176452" y="7490607"/>
            <a:ext cx="909958" cy="90995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txBody>
            <a:bodyPr/>
            <a:lstStyle/>
            <a:p>
              <a:endParaRPr lang="it-IT"/>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7222920" y="7579191"/>
            <a:ext cx="817023" cy="608965"/>
          </a:xfrm>
          <a:prstGeom prst="rect">
            <a:avLst/>
          </a:prstGeom>
        </p:spPr>
        <p:txBody>
          <a:bodyPr lIns="0" tIns="0" rIns="0" bIns="0" rtlCol="0" anchor="t">
            <a:spAutoFit/>
          </a:bodyPr>
          <a:lstStyle/>
          <a:p>
            <a:pPr marL="0" lvl="0" indent="0" algn="ctr">
              <a:lnSpc>
                <a:spcPts val="5120"/>
              </a:lnSpc>
            </a:pPr>
            <a:r>
              <a:rPr lang="en-US" sz="3200" b="1">
                <a:solidFill>
                  <a:srgbClr val="000000"/>
                </a:solidFill>
                <a:latin typeface="Open Sauce Bold"/>
                <a:ea typeface="Open Sauce Bold"/>
                <a:cs typeface="Open Sauce Bold"/>
                <a:sym typeface="Open Sauce Bold"/>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0429424"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Application and results</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28</a:t>
            </a:r>
          </a:p>
        </p:txBody>
      </p:sp>
      <p:sp>
        <p:nvSpPr>
          <p:cNvPr id="6" name="TextBox 6"/>
          <p:cNvSpPr txBox="1"/>
          <p:nvPr/>
        </p:nvSpPr>
        <p:spPr>
          <a:xfrm>
            <a:off x="2443841" y="3407880"/>
            <a:ext cx="5040700" cy="608965"/>
          </a:xfrm>
          <a:prstGeom prst="rect">
            <a:avLst/>
          </a:prstGeom>
        </p:spPr>
        <p:txBody>
          <a:bodyPr lIns="0" tIns="0" rIns="0" bIns="0" rtlCol="0" anchor="t">
            <a:spAutoFit/>
          </a:bodyPr>
          <a:lstStyle/>
          <a:p>
            <a:pPr marL="0" lvl="0" indent="0" algn="l">
              <a:lnSpc>
                <a:spcPts val="5120"/>
              </a:lnSpc>
              <a:spcBef>
                <a:spcPct val="0"/>
              </a:spcBef>
            </a:pPr>
            <a:r>
              <a:rPr lang="en-US" sz="3200" b="1">
                <a:solidFill>
                  <a:srgbClr val="000000"/>
                </a:solidFill>
                <a:latin typeface="Open Sauce Bold"/>
                <a:ea typeface="Open Sauce Bold"/>
                <a:cs typeface="Open Sauce Bold"/>
                <a:sym typeface="Open Sauce Bold"/>
              </a:rPr>
              <a:t>Application Architecture</a:t>
            </a:r>
          </a:p>
        </p:txBody>
      </p:sp>
      <p:sp>
        <p:nvSpPr>
          <p:cNvPr id="7" name="AutoShape 7"/>
          <p:cNvSpPr/>
          <p:nvPr/>
        </p:nvSpPr>
        <p:spPr>
          <a:xfrm>
            <a:off x="1175924" y="5715000"/>
            <a:ext cx="15936153" cy="0"/>
          </a:xfrm>
          <a:prstGeom prst="line">
            <a:avLst/>
          </a:prstGeom>
          <a:ln w="38100" cap="flat">
            <a:solidFill>
              <a:srgbClr val="000000"/>
            </a:solidFill>
            <a:prstDash val="solid"/>
            <a:headEnd type="none" w="sm" len="sm"/>
            <a:tailEnd type="none" w="sm" len="sm"/>
          </a:ln>
        </p:spPr>
        <p:txBody>
          <a:bodyPr/>
          <a:lstStyle/>
          <a:p>
            <a:endParaRPr lang="it-IT"/>
          </a:p>
        </p:txBody>
      </p:sp>
      <p:sp>
        <p:nvSpPr>
          <p:cNvPr id="8" name="AutoShape 8"/>
          <p:cNvSpPr/>
          <p:nvPr/>
        </p:nvSpPr>
        <p:spPr>
          <a:xfrm>
            <a:off x="2124799" y="3774299"/>
            <a:ext cx="0" cy="1940701"/>
          </a:xfrm>
          <a:prstGeom prst="line">
            <a:avLst/>
          </a:prstGeom>
          <a:ln w="38100" cap="rnd">
            <a:solidFill>
              <a:srgbClr val="000000"/>
            </a:solidFill>
            <a:prstDash val="solid"/>
            <a:headEnd type="oval" w="lg" len="lg"/>
            <a:tailEnd type="none" w="sm" len="sm"/>
          </a:ln>
        </p:spPr>
        <p:txBody>
          <a:bodyPr/>
          <a:lstStyle/>
          <a:p>
            <a:endParaRPr lang="it-IT"/>
          </a:p>
        </p:txBody>
      </p:sp>
      <p:sp>
        <p:nvSpPr>
          <p:cNvPr id="9" name="TextBox 9"/>
          <p:cNvSpPr txBox="1"/>
          <p:nvPr/>
        </p:nvSpPr>
        <p:spPr>
          <a:xfrm>
            <a:off x="8153400" y="7360030"/>
            <a:ext cx="6044566" cy="608965"/>
          </a:xfrm>
          <a:prstGeom prst="rect">
            <a:avLst/>
          </a:prstGeom>
        </p:spPr>
        <p:txBody>
          <a:bodyPr lIns="0" tIns="0" rIns="0" bIns="0" rtlCol="0" anchor="t">
            <a:spAutoFit/>
          </a:bodyPr>
          <a:lstStyle/>
          <a:p>
            <a:pPr marL="0" lvl="0" indent="0" algn="l">
              <a:lnSpc>
                <a:spcPts val="5120"/>
              </a:lnSpc>
              <a:spcBef>
                <a:spcPct val="0"/>
              </a:spcBef>
            </a:pPr>
            <a:r>
              <a:rPr lang="en-US" sz="3200" b="1" dirty="0">
                <a:solidFill>
                  <a:srgbClr val="000000"/>
                </a:solidFill>
                <a:latin typeface="Open Sauce Bold"/>
                <a:ea typeface="Open Sauce Bold"/>
                <a:cs typeface="Open Sauce Bold"/>
                <a:sym typeface="Open Sauce Bold"/>
              </a:rPr>
              <a:t>Storage and Infrastructure</a:t>
            </a:r>
          </a:p>
        </p:txBody>
      </p:sp>
      <p:sp>
        <p:nvSpPr>
          <p:cNvPr id="10" name="AutoShape 10"/>
          <p:cNvSpPr/>
          <p:nvPr/>
        </p:nvSpPr>
        <p:spPr>
          <a:xfrm>
            <a:off x="7798866" y="5715000"/>
            <a:ext cx="0" cy="1902530"/>
          </a:xfrm>
          <a:prstGeom prst="line">
            <a:avLst/>
          </a:prstGeom>
          <a:ln w="38100" cap="rnd">
            <a:solidFill>
              <a:srgbClr val="000000"/>
            </a:solidFill>
            <a:prstDash val="solid"/>
            <a:headEnd type="none" w="sm" len="sm"/>
            <a:tailEnd type="oval" w="lg" len="lg"/>
          </a:ln>
        </p:spPr>
        <p:txBody>
          <a:bodyPr/>
          <a:lstStyle/>
          <a:p>
            <a:endParaRPr lang="it-IT"/>
          </a:p>
        </p:txBody>
      </p:sp>
      <p:sp>
        <p:nvSpPr>
          <p:cNvPr id="11" name="TextBox 11"/>
          <p:cNvSpPr txBox="1"/>
          <p:nvPr/>
        </p:nvSpPr>
        <p:spPr>
          <a:xfrm>
            <a:off x="14020800" y="3426026"/>
            <a:ext cx="2430466" cy="608965"/>
          </a:xfrm>
          <a:prstGeom prst="rect">
            <a:avLst/>
          </a:prstGeom>
        </p:spPr>
        <p:txBody>
          <a:bodyPr lIns="0" tIns="0" rIns="0" bIns="0" rtlCol="0" anchor="t">
            <a:spAutoFit/>
          </a:bodyPr>
          <a:lstStyle/>
          <a:p>
            <a:pPr marL="0" lvl="0" indent="0" algn="l">
              <a:lnSpc>
                <a:spcPts val="5120"/>
              </a:lnSpc>
              <a:spcBef>
                <a:spcPct val="0"/>
              </a:spcBef>
            </a:pPr>
            <a:r>
              <a:rPr lang="en-US" sz="3200" b="1" dirty="0">
                <a:solidFill>
                  <a:srgbClr val="191919"/>
                </a:solidFill>
                <a:latin typeface="Open Sauce Bold"/>
                <a:ea typeface="Open Sauce Bold"/>
                <a:cs typeface="Open Sauce Bold"/>
                <a:sym typeface="Open Sauce Bold"/>
              </a:rPr>
              <a:t>Results</a:t>
            </a:r>
          </a:p>
        </p:txBody>
      </p:sp>
      <p:sp>
        <p:nvSpPr>
          <p:cNvPr id="12" name="AutoShape 12"/>
          <p:cNvSpPr/>
          <p:nvPr/>
        </p:nvSpPr>
        <p:spPr>
          <a:xfrm>
            <a:off x="13690175" y="3730509"/>
            <a:ext cx="0" cy="1984491"/>
          </a:xfrm>
          <a:prstGeom prst="line">
            <a:avLst/>
          </a:prstGeom>
          <a:ln w="38100" cap="rnd">
            <a:solidFill>
              <a:srgbClr val="000000"/>
            </a:solidFill>
            <a:prstDash val="solid"/>
            <a:headEnd type="oval" w="lg" len="lg"/>
            <a:tailEnd type="none" w="sm" len="sm"/>
          </a:ln>
        </p:spPr>
        <p:txBody>
          <a:bodyPr/>
          <a:lstStyle/>
          <a:p>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11326486" y="5682932"/>
            <a:ext cx="2817285" cy="2822106"/>
          </a:xfrm>
          <a:custGeom>
            <a:avLst/>
            <a:gdLst/>
            <a:ahLst/>
            <a:cxnLst/>
            <a:rect l="l" t="t" r="r" b="b"/>
            <a:pathLst>
              <a:path w="2817285" h="2822106">
                <a:moveTo>
                  <a:pt x="0" y="0"/>
                </a:moveTo>
                <a:lnTo>
                  <a:pt x="2817285" y="0"/>
                </a:lnTo>
                <a:lnTo>
                  <a:pt x="2817285" y="2822106"/>
                </a:lnTo>
                <a:lnTo>
                  <a:pt x="0" y="2822106"/>
                </a:lnTo>
                <a:lnTo>
                  <a:pt x="0" y="0"/>
                </a:lnTo>
                <a:close/>
              </a:path>
            </a:pathLst>
          </a:custGeom>
          <a:blipFill>
            <a:blip r:embed="rId3"/>
            <a:stretch>
              <a:fillRect l="-94231" t="-45426" r="-94351" b="-46633"/>
            </a:stretch>
          </a:blipFill>
        </p:spPr>
        <p:txBody>
          <a:bodyPr/>
          <a:lstStyle/>
          <a:p>
            <a:endParaRPr lang="it-IT"/>
          </a:p>
        </p:txBody>
      </p:sp>
      <p:sp>
        <p:nvSpPr>
          <p:cNvPr id="5" name="Freeform 5"/>
          <p:cNvSpPr/>
          <p:nvPr/>
        </p:nvSpPr>
        <p:spPr>
          <a:xfrm>
            <a:off x="10772143" y="2828068"/>
            <a:ext cx="3925970" cy="2764582"/>
          </a:xfrm>
          <a:custGeom>
            <a:avLst/>
            <a:gdLst/>
            <a:ahLst/>
            <a:cxnLst/>
            <a:rect l="l" t="t" r="r" b="b"/>
            <a:pathLst>
              <a:path w="3925970" h="2764582">
                <a:moveTo>
                  <a:pt x="0" y="0"/>
                </a:moveTo>
                <a:lnTo>
                  <a:pt x="3925970" y="0"/>
                </a:lnTo>
                <a:lnTo>
                  <a:pt x="3925970" y="2764582"/>
                </a:lnTo>
                <a:lnTo>
                  <a:pt x="0" y="2764582"/>
                </a:lnTo>
                <a:lnTo>
                  <a:pt x="0" y="0"/>
                </a:lnTo>
                <a:close/>
              </a:path>
            </a:pathLst>
          </a:custGeom>
          <a:blipFill>
            <a:blip r:embed="rId4"/>
            <a:stretch>
              <a:fillRect l="-39196" t="-45714" r="-37234" b="-21317"/>
            </a:stretch>
          </a:blipFill>
        </p:spPr>
        <p:txBody>
          <a:bodyPr/>
          <a:lstStyle/>
          <a:p>
            <a:endParaRPr lang="it-IT"/>
          </a:p>
        </p:txBody>
      </p:sp>
      <p:sp>
        <p:nvSpPr>
          <p:cNvPr id="6" name="TextBox 6"/>
          <p:cNvSpPr txBox="1"/>
          <p:nvPr/>
        </p:nvSpPr>
        <p:spPr>
          <a:xfrm>
            <a:off x="1166399" y="1233825"/>
            <a:ext cx="9605745"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Application Architecture</a:t>
            </a: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29</a:t>
            </a:r>
          </a:p>
        </p:txBody>
      </p:sp>
      <p:sp>
        <p:nvSpPr>
          <p:cNvPr id="8" name="TextBox 8"/>
          <p:cNvSpPr txBox="1"/>
          <p:nvPr/>
        </p:nvSpPr>
        <p:spPr>
          <a:xfrm>
            <a:off x="4340100" y="3073577"/>
            <a:ext cx="2517900" cy="584904"/>
          </a:xfrm>
          <a:prstGeom prst="rect">
            <a:avLst/>
          </a:prstGeom>
        </p:spPr>
        <p:txBody>
          <a:bodyPr wrap="square" lIns="0" tIns="0" rIns="0" bIns="0" rtlCol="0" anchor="t">
            <a:spAutoFit/>
          </a:bodyPr>
          <a:lstStyle/>
          <a:p>
            <a:pPr algn="ctr">
              <a:lnSpc>
                <a:spcPts val="5120"/>
              </a:lnSpc>
              <a:spcBef>
                <a:spcPct val="0"/>
              </a:spcBef>
            </a:pPr>
            <a:r>
              <a:rPr lang="en-US" sz="3200" b="1" dirty="0">
                <a:solidFill>
                  <a:srgbClr val="000000"/>
                </a:solidFill>
                <a:latin typeface="Open Sauce Bold"/>
                <a:ea typeface="Open Sauce Bold"/>
                <a:cs typeface="Open Sauce Bold"/>
                <a:sym typeface="Open Sauce Bold"/>
              </a:rPr>
              <a:t>Frontend</a:t>
            </a:r>
          </a:p>
        </p:txBody>
      </p:sp>
      <p:sp>
        <p:nvSpPr>
          <p:cNvPr id="9" name="TextBox 9"/>
          <p:cNvSpPr txBox="1"/>
          <p:nvPr/>
        </p:nvSpPr>
        <p:spPr>
          <a:xfrm>
            <a:off x="1623362" y="3901617"/>
            <a:ext cx="8691818" cy="1481534"/>
          </a:xfrm>
          <a:prstGeom prst="rect">
            <a:avLst/>
          </a:prstGeom>
        </p:spPr>
        <p:txBody>
          <a:bodyPr lIns="0" tIns="0" rIns="0" bIns="0" rtlCol="0" anchor="t">
            <a:spAutoFit/>
          </a:bodyPr>
          <a:lstStyle/>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HTML, CSS and JavaScript</a:t>
            </a:r>
          </a:p>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Dataset browsing and visualization</a:t>
            </a:r>
          </a:p>
          <a:p>
            <a:pPr algn="l">
              <a:lnSpc>
                <a:spcPts val="3915"/>
              </a:lnSpc>
            </a:pPr>
            <a:endParaRPr lang="en-US" sz="2796">
              <a:solidFill>
                <a:srgbClr val="000000"/>
              </a:solidFill>
              <a:latin typeface="Open Sauce"/>
              <a:ea typeface="Open Sauce"/>
              <a:cs typeface="Open Sauce"/>
              <a:sym typeface="Open Sauce"/>
            </a:endParaRPr>
          </a:p>
        </p:txBody>
      </p:sp>
      <p:sp>
        <p:nvSpPr>
          <p:cNvPr id="10" name="TextBox 10"/>
          <p:cNvSpPr txBox="1"/>
          <p:nvPr/>
        </p:nvSpPr>
        <p:spPr>
          <a:xfrm>
            <a:off x="4361928" y="5542728"/>
            <a:ext cx="2496072" cy="584904"/>
          </a:xfrm>
          <a:prstGeom prst="rect">
            <a:avLst/>
          </a:prstGeom>
        </p:spPr>
        <p:txBody>
          <a:bodyPr wrap="square" lIns="0" tIns="0" rIns="0" bIns="0" rtlCol="0" anchor="t">
            <a:spAutoFit/>
          </a:bodyPr>
          <a:lstStyle/>
          <a:p>
            <a:pPr algn="ctr">
              <a:lnSpc>
                <a:spcPts val="5120"/>
              </a:lnSpc>
              <a:spcBef>
                <a:spcPct val="0"/>
              </a:spcBef>
            </a:pPr>
            <a:r>
              <a:rPr lang="en-US" sz="3200" b="1" dirty="0">
                <a:solidFill>
                  <a:srgbClr val="000000"/>
                </a:solidFill>
                <a:latin typeface="Open Sauce Bold"/>
                <a:ea typeface="Open Sauce Bold"/>
                <a:cs typeface="Open Sauce Bold"/>
                <a:sym typeface="Open Sauce Bold"/>
              </a:rPr>
              <a:t>Backend</a:t>
            </a:r>
          </a:p>
        </p:txBody>
      </p:sp>
      <p:sp>
        <p:nvSpPr>
          <p:cNvPr id="11" name="TextBox 11"/>
          <p:cNvSpPr txBox="1"/>
          <p:nvPr/>
        </p:nvSpPr>
        <p:spPr>
          <a:xfrm>
            <a:off x="1623362" y="6547245"/>
            <a:ext cx="8691818" cy="1481534"/>
          </a:xfrm>
          <a:prstGeom prst="rect">
            <a:avLst/>
          </a:prstGeom>
        </p:spPr>
        <p:txBody>
          <a:bodyPr lIns="0" tIns="0" rIns="0" bIns="0" rtlCol="0" anchor="t">
            <a:spAutoFit/>
          </a:bodyPr>
          <a:lstStyle/>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Python and FastAPI</a:t>
            </a:r>
          </a:p>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Metadata and image data management</a:t>
            </a:r>
          </a:p>
          <a:p>
            <a:pPr algn="l">
              <a:lnSpc>
                <a:spcPts val="3915"/>
              </a:lnSpc>
            </a:pPr>
            <a:endParaRPr lang="en-US" sz="2796">
              <a:solidFill>
                <a:srgbClr val="000000"/>
              </a:solidFill>
              <a:latin typeface="Open Sauce"/>
              <a:ea typeface="Open Sauce"/>
              <a:cs typeface="Open Sauce"/>
              <a:sym typeface="Open Sauc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9988758" y="3196041"/>
            <a:ext cx="6825229" cy="5107154"/>
          </a:xfrm>
          <a:custGeom>
            <a:avLst/>
            <a:gdLst/>
            <a:ahLst/>
            <a:cxnLst/>
            <a:rect l="l" t="t" r="r" b="b"/>
            <a:pathLst>
              <a:path w="6825229" h="5107154">
                <a:moveTo>
                  <a:pt x="0" y="0"/>
                </a:moveTo>
                <a:lnTo>
                  <a:pt x="6825229" y="0"/>
                </a:lnTo>
                <a:lnTo>
                  <a:pt x="6825229" y="5107154"/>
                </a:lnTo>
                <a:lnTo>
                  <a:pt x="0" y="5107154"/>
                </a:lnTo>
                <a:lnTo>
                  <a:pt x="0" y="0"/>
                </a:lnTo>
                <a:close/>
              </a:path>
            </a:pathLst>
          </a:custGeom>
          <a:blipFill>
            <a:blip r:embed="rId3"/>
            <a:stretch>
              <a:fillRect/>
            </a:stretch>
          </a:blipFill>
        </p:spPr>
        <p:txBody>
          <a:bodyPr/>
          <a:lstStyle/>
          <a:p>
            <a:endParaRPr lang="it-IT"/>
          </a:p>
        </p:txBody>
      </p:sp>
      <p:sp>
        <p:nvSpPr>
          <p:cNvPr id="5" name="TextBox 5"/>
          <p:cNvSpPr txBox="1"/>
          <p:nvPr/>
        </p:nvSpPr>
        <p:spPr>
          <a:xfrm>
            <a:off x="1166399" y="1233825"/>
            <a:ext cx="12504726" cy="1106200"/>
          </a:xfrm>
          <a:prstGeom prst="rect">
            <a:avLst/>
          </a:prstGeom>
        </p:spPr>
        <p:txBody>
          <a:bodyPr wrap="square"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Storage and Infrastructure</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30</a:t>
            </a:r>
          </a:p>
        </p:txBody>
      </p:sp>
      <p:sp>
        <p:nvSpPr>
          <p:cNvPr id="7" name="TextBox 7"/>
          <p:cNvSpPr txBox="1"/>
          <p:nvPr/>
        </p:nvSpPr>
        <p:spPr>
          <a:xfrm>
            <a:off x="2966435" y="2685678"/>
            <a:ext cx="4485720" cy="584904"/>
          </a:xfrm>
          <a:prstGeom prst="rect">
            <a:avLst/>
          </a:prstGeom>
        </p:spPr>
        <p:txBody>
          <a:bodyPr wrap="square" lIns="0" tIns="0" rIns="0" bIns="0" rtlCol="0" anchor="t">
            <a:spAutoFit/>
          </a:bodyPr>
          <a:lstStyle/>
          <a:p>
            <a:pPr algn="ctr">
              <a:lnSpc>
                <a:spcPts val="5120"/>
              </a:lnSpc>
              <a:spcBef>
                <a:spcPct val="0"/>
              </a:spcBef>
            </a:pPr>
            <a:r>
              <a:rPr lang="en-US" sz="3200" b="1" dirty="0">
                <a:solidFill>
                  <a:srgbClr val="000000"/>
                </a:solidFill>
                <a:latin typeface="Open Sauce Bold"/>
                <a:ea typeface="Open Sauce Bold"/>
                <a:cs typeface="Open Sauce Bold"/>
                <a:sym typeface="Open Sauce Bold"/>
              </a:rPr>
              <a:t>Core components</a:t>
            </a:r>
          </a:p>
        </p:txBody>
      </p:sp>
      <p:sp>
        <p:nvSpPr>
          <p:cNvPr id="8" name="TextBox 8"/>
          <p:cNvSpPr txBox="1"/>
          <p:nvPr/>
        </p:nvSpPr>
        <p:spPr>
          <a:xfrm>
            <a:off x="1166399" y="3694693"/>
            <a:ext cx="8691818" cy="2472381"/>
          </a:xfrm>
          <a:prstGeom prst="rect">
            <a:avLst/>
          </a:prstGeom>
        </p:spPr>
        <p:txBody>
          <a:bodyPr lIns="0" tIns="0" rIns="0" bIns="0" rtlCol="0" anchor="t">
            <a:spAutoFit/>
          </a:bodyPr>
          <a:lstStyle/>
          <a:p>
            <a:pPr marL="603852" lvl="1" indent="-301926" algn="l">
              <a:lnSpc>
                <a:spcPts val="3915"/>
              </a:lnSpc>
              <a:buFont typeface="Arial"/>
              <a:buChar char="•"/>
            </a:pPr>
            <a:r>
              <a:rPr lang="en-US" sz="2796" b="1" dirty="0">
                <a:solidFill>
                  <a:srgbClr val="000000"/>
                </a:solidFill>
                <a:latin typeface="Open Sauce Bold"/>
                <a:ea typeface="Open Sauce Bold"/>
                <a:cs typeface="Open Sauce Bold"/>
                <a:sym typeface="Open Sauce Bold"/>
              </a:rPr>
              <a:t>Database</a:t>
            </a:r>
            <a:r>
              <a:rPr lang="en-US" sz="2796" dirty="0">
                <a:solidFill>
                  <a:srgbClr val="000000"/>
                </a:solidFill>
                <a:latin typeface="Open Sauce"/>
                <a:ea typeface="Open Sauce"/>
                <a:cs typeface="Open Sauce"/>
                <a:sym typeface="Open Sauce"/>
              </a:rPr>
              <a:t>: PostgreSQL</a:t>
            </a:r>
          </a:p>
          <a:p>
            <a:pPr marL="603852" lvl="1" indent="-301926" algn="l">
              <a:lnSpc>
                <a:spcPts val="3915"/>
              </a:lnSpc>
              <a:buFont typeface="Arial"/>
              <a:buChar char="•"/>
            </a:pPr>
            <a:r>
              <a:rPr lang="en-US" sz="2796" b="1" dirty="0">
                <a:solidFill>
                  <a:srgbClr val="000000"/>
                </a:solidFill>
                <a:latin typeface="Open Sauce Bold"/>
                <a:ea typeface="Open Sauce Bold"/>
                <a:cs typeface="Open Sauce Bold"/>
                <a:sym typeface="Open Sauce Bold"/>
              </a:rPr>
              <a:t>Object</a:t>
            </a:r>
            <a:r>
              <a:rPr lang="en-US" sz="2796" dirty="0">
                <a:solidFill>
                  <a:srgbClr val="000000"/>
                </a:solidFill>
                <a:latin typeface="Open Sauce"/>
                <a:ea typeface="Open Sauce"/>
                <a:cs typeface="Open Sauce"/>
                <a:sym typeface="Open Sauce"/>
              </a:rPr>
              <a:t> </a:t>
            </a:r>
            <a:r>
              <a:rPr lang="en-US" sz="2796" b="1" dirty="0">
                <a:solidFill>
                  <a:srgbClr val="000000"/>
                </a:solidFill>
                <a:latin typeface="Open Sauce Bold"/>
                <a:ea typeface="Open Sauce Bold"/>
                <a:cs typeface="Open Sauce Bold"/>
                <a:sym typeface="Open Sauce Bold"/>
              </a:rPr>
              <a:t>Storage</a:t>
            </a:r>
            <a:r>
              <a:rPr lang="en-US" sz="2796" dirty="0">
                <a:solidFill>
                  <a:srgbClr val="000000"/>
                </a:solidFill>
                <a:latin typeface="Open Sauce"/>
                <a:ea typeface="Open Sauce"/>
                <a:cs typeface="Open Sauce"/>
                <a:sym typeface="Open Sauce"/>
              </a:rPr>
              <a:t>: </a:t>
            </a:r>
            <a:r>
              <a:rPr lang="en-US" sz="2796" dirty="0" err="1">
                <a:solidFill>
                  <a:srgbClr val="000000"/>
                </a:solidFill>
                <a:latin typeface="Open Sauce"/>
                <a:ea typeface="Open Sauce"/>
                <a:cs typeface="Open Sauce"/>
                <a:sym typeface="Open Sauce"/>
              </a:rPr>
              <a:t>MinIO</a:t>
            </a:r>
            <a:endParaRPr lang="en-US" sz="2796" dirty="0">
              <a:solidFill>
                <a:srgbClr val="000000"/>
              </a:solidFill>
              <a:latin typeface="Open Sauce"/>
              <a:ea typeface="Open Sauce"/>
              <a:cs typeface="Open Sauce"/>
              <a:sym typeface="Open Sauce"/>
            </a:endParaRPr>
          </a:p>
          <a:p>
            <a:pPr marL="603852" lvl="1" indent="-301926" algn="l">
              <a:lnSpc>
                <a:spcPts val="3915"/>
              </a:lnSpc>
              <a:buFont typeface="Arial"/>
              <a:buChar char="•"/>
            </a:pPr>
            <a:r>
              <a:rPr lang="en-US" sz="2796" b="1" dirty="0">
                <a:solidFill>
                  <a:srgbClr val="000000"/>
                </a:solidFill>
                <a:latin typeface="Open Sauce Bold"/>
                <a:ea typeface="Open Sauce Bold"/>
                <a:cs typeface="Open Sauce Bold"/>
                <a:sym typeface="Open Sauce Bold"/>
              </a:rPr>
              <a:t>Frontend Web Server</a:t>
            </a:r>
            <a:r>
              <a:rPr lang="en-US" sz="2796" dirty="0">
                <a:solidFill>
                  <a:srgbClr val="000000"/>
                </a:solidFill>
                <a:latin typeface="Open Sauce"/>
                <a:ea typeface="Open Sauce"/>
                <a:cs typeface="Open Sauce"/>
                <a:sym typeface="Open Sauce"/>
              </a:rPr>
              <a:t>: Nginx</a:t>
            </a:r>
          </a:p>
          <a:p>
            <a:pPr marL="603852" lvl="1" indent="-301926" algn="l">
              <a:lnSpc>
                <a:spcPts val="3915"/>
              </a:lnSpc>
              <a:buFont typeface="Arial"/>
              <a:buChar char="•"/>
            </a:pPr>
            <a:r>
              <a:rPr lang="en-US" sz="2796" b="1" dirty="0">
                <a:solidFill>
                  <a:srgbClr val="000000"/>
                </a:solidFill>
                <a:latin typeface="Open Sauce Bold"/>
                <a:ea typeface="Open Sauce Bold"/>
                <a:cs typeface="Open Sauce Bold"/>
                <a:sym typeface="Open Sauce Bold"/>
              </a:rPr>
              <a:t>Backend Web Server</a:t>
            </a:r>
            <a:r>
              <a:rPr lang="en-US" sz="2796" dirty="0">
                <a:solidFill>
                  <a:srgbClr val="000000"/>
                </a:solidFill>
                <a:latin typeface="Open Sauce"/>
                <a:ea typeface="Open Sauce"/>
                <a:cs typeface="Open Sauce"/>
                <a:sym typeface="Open Sauce"/>
              </a:rPr>
              <a:t>: </a:t>
            </a:r>
            <a:r>
              <a:rPr lang="en-US" sz="2796" dirty="0" err="1">
                <a:solidFill>
                  <a:srgbClr val="000000"/>
                </a:solidFill>
                <a:latin typeface="Open Sauce"/>
                <a:ea typeface="Open Sauce"/>
                <a:cs typeface="Open Sauce"/>
                <a:sym typeface="Open Sauce"/>
              </a:rPr>
              <a:t>Uvicorn</a:t>
            </a:r>
            <a:endParaRPr lang="en-US" sz="2796" dirty="0">
              <a:solidFill>
                <a:srgbClr val="000000"/>
              </a:solidFill>
              <a:latin typeface="Open Sauce"/>
              <a:ea typeface="Open Sauce"/>
              <a:cs typeface="Open Sauce"/>
              <a:sym typeface="Open Sauce"/>
            </a:endParaRPr>
          </a:p>
          <a:p>
            <a:pPr algn="l">
              <a:lnSpc>
                <a:spcPts val="3915"/>
              </a:lnSpc>
            </a:pPr>
            <a:endParaRPr lang="en-US" sz="2796" dirty="0">
              <a:solidFill>
                <a:srgbClr val="000000"/>
              </a:solidFill>
              <a:latin typeface="Open Sauce"/>
              <a:ea typeface="Open Sauce"/>
              <a:cs typeface="Open Sauce"/>
              <a:sym typeface="Open Sauce"/>
            </a:endParaRPr>
          </a:p>
        </p:txBody>
      </p:sp>
      <p:sp>
        <p:nvSpPr>
          <p:cNvPr id="9" name="TextBox 9"/>
          <p:cNvSpPr txBox="1"/>
          <p:nvPr/>
        </p:nvSpPr>
        <p:spPr>
          <a:xfrm>
            <a:off x="2130061" y="6039090"/>
            <a:ext cx="6169182" cy="584904"/>
          </a:xfrm>
          <a:prstGeom prst="rect">
            <a:avLst/>
          </a:prstGeom>
        </p:spPr>
        <p:txBody>
          <a:bodyPr wrap="square" lIns="0" tIns="0" rIns="0" bIns="0" rtlCol="0" anchor="t">
            <a:spAutoFit/>
          </a:bodyPr>
          <a:lstStyle/>
          <a:p>
            <a:pPr algn="ctr">
              <a:lnSpc>
                <a:spcPts val="5120"/>
              </a:lnSpc>
              <a:spcBef>
                <a:spcPct val="0"/>
              </a:spcBef>
            </a:pPr>
            <a:r>
              <a:rPr lang="en-US" sz="3200" b="1" dirty="0">
                <a:solidFill>
                  <a:srgbClr val="000000"/>
                </a:solidFill>
                <a:latin typeface="Open Sauce Bold"/>
                <a:ea typeface="Open Sauce Bold"/>
                <a:cs typeface="Open Sauce Bold"/>
                <a:sym typeface="Open Sauce Bold"/>
              </a:rPr>
              <a:t>Development environment</a:t>
            </a:r>
          </a:p>
        </p:txBody>
      </p:sp>
      <p:sp>
        <p:nvSpPr>
          <p:cNvPr id="10" name="TextBox 10"/>
          <p:cNvSpPr txBox="1"/>
          <p:nvPr/>
        </p:nvSpPr>
        <p:spPr>
          <a:xfrm>
            <a:off x="1166399" y="7045119"/>
            <a:ext cx="8691818" cy="1976834"/>
          </a:xfrm>
          <a:prstGeom prst="rect">
            <a:avLst/>
          </a:prstGeom>
        </p:spPr>
        <p:txBody>
          <a:bodyPr lIns="0" tIns="0" rIns="0" bIns="0" rtlCol="0" anchor="t">
            <a:spAutoFit/>
          </a:bodyPr>
          <a:lstStyle/>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Containerized architecture</a:t>
            </a:r>
          </a:p>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All services run in Docker containers</a:t>
            </a:r>
          </a:p>
          <a:p>
            <a:pPr marL="603852" lvl="1" indent="-301926" algn="l">
              <a:lnSpc>
                <a:spcPts val="3915"/>
              </a:lnSpc>
              <a:buFont typeface="Arial"/>
              <a:buChar char="•"/>
            </a:pPr>
            <a:r>
              <a:rPr lang="en-US" sz="2796">
                <a:solidFill>
                  <a:srgbClr val="000000"/>
                </a:solidFill>
                <a:latin typeface="Open Sauce"/>
                <a:ea typeface="Open Sauce"/>
                <a:cs typeface="Open Sauce"/>
                <a:sym typeface="Open Sauce"/>
              </a:rPr>
              <a:t>Single Docker Compose file for deployment</a:t>
            </a:r>
          </a:p>
          <a:p>
            <a:pPr algn="l">
              <a:lnSpc>
                <a:spcPts val="3915"/>
              </a:lnSpc>
            </a:pPr>
            <a:endParaRPr lang="en-US" sz="2796">
              <a:solidFill>
                <a:srgbClr val="000000"/>
              </a:solidFill>
              <a:latin typeface="Open Sauce"/>
              <a:ea typeface="Open Sauce"/>
              <a:cs typeface="Open Sauce"/>
              <a:sym typeface="Open Sauc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2601885" y="2552159"/>
            <a:ext cx="13084230" cy="6394917"/>
          </a:xfrm>
          <a:custGeom>
            <a:avLst/>
            <a:gdLst/>
            <a:ahLst/>
            <a:cxnLst/>
            <a:rect l="l" t="t" r="r" b="b"/>
            <a:pathLst>
              <a:path w="13084230" h="6394917">
                <a:moveTo>
                  <a:pt x="0" y="0"/>
                </a:moveTo>
                <a:lnTo>
                  <a:pt x="13084230" y="0"/>
                </a:lnTo>
                <a:lnTo>
                  <a:pt x="13084230" y="6394917"/>
                </a:lnTo>
                <a:lnTo>
                  <a:pt x="0" y="6394917"/>
                </a:lnTo>
                <a:lnTo>
                  <a:pt x="0" y="0"/>
                </a:lnTo>
                <a:close/>
              </a:path>
            </a:pathLst>
          </a:custGeom>
          <a:blipFill>
            <a:blip r:embed="rId3"/>
            <a:stretch>
              <a:fillRect/>
            </a:stretch>
          </a:blipFill>
        </p:spPr>
        <p:txBody>
          <a:bodyPr/>
          <a:lstStyle/>
          <a:p>
            <a:endParaRPr lang="it-IT"/>
          </a:p>
        </p:txBody>
      </p:sp>
      <p:sp>
        <p:nvSpPr>
          <p:cNvPr id="5" name="TextBox 5"/>
          <p:cNvSpPr txBox="1"/>
          <p:nvPr/>
        </p:nvSpPr>
        <p:spPr>
          <a:xfrm>
            <a:off x="1166399" y="1233825"/>
            <a:ext cx="9605745"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Results</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2601885" y="2593047"/>
            <a:ext cx="13084230" cy="6313141"/>
          </a:xfrm>
          <a:custGeom>
            <a:avLst/>
            <a:gdLst/>
            <a:ahLst/>
            <a:cxnLst/>
            <a:rect l="l" t="t" r="r" b="b"/>
            <a:pathLst>
              <a:path w="13084230" h="6313141">
                <a:moveTo>
                  <a:pt x="0" y="0"/>
                </a:moveTo>
                <a:lnTo>
                  <a:pt x="13084230" y="0"/>
                </a:lnTo>
                <a:lnTo>
                  <a:pt x="13084230" y="6313141"/>
                </a:lnTo>
                <a:lnTo>
                  <a:pt x="0" y="6313141"/>
                </a:lnTo>
                <a:lnTo>
                  <a:pt x="0" y="0"/>
                </a:lnTo>
                <a:close/>
              </a:path>
            </a:pathLst>
          </a:custGeom>
          <a:blipFill>
            <a:blip r:embed="rId3"/>
            <a:stretch>
              <a:fillRect/>
            </a:stretch>
          </a:blipFill>
        </p:spPr>
        <p:txBody>
          <a:bodyPr/>
          <a:lstStyle/>
          <a:p>
            <a:endParaRPr lang="it-IT"/>
          </a:p>
        </p:txBody>
      </p:sp>
      <p:sp>
        <p:nvSpPr>
          <p:cNvPr id="5" name="TextBox 5"/>
          <p:cNvSpPr txBox="1"/>
          <p:nvPr/>
        </p:nvSpPr>
        <p:spPr>
          <a:xfrm>
            <a:off x="1166399" y="1233825"/>
            <a:ext cx="9605745"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Results</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Freeform 4"/>
          <p:cNvSpPr/>
          <p:nvPr/>
        </p:nvSpPr>
        <p:spPr>
          <a:xfrm>
            <a:off x="2601885" y="2593047"/>
            <a:ext cx="13084230" cy="6313141"/>
          </a:xfrm>
          <a:custGeom>
            <a:avLst/>
            <a:gdLst/>
            <a:ahLst/>
            <a:cxnLst/>
            <a:rect l="l" t="t" r="r" b="b"/>
            <a:pathLst>
              <a:path w="13084230" h="6313141">
                <a:moveTo>
                  <a:pt x="0" y="0"/>
                </a:moveTo>
                <a:lnTo>
                  <a:pt x="13084230" y="0"/>
                </a:lnTo>
                <a:lnTo>
                  <a:pt x="13084230" y="6313141"/>
                </a:lnTo>
                <a:lnTo>
                  <a:pt x="0" y="6313141"/>
                </a:lnTo>
                <a:lnTo>
                  <a:pt x="0" y="0"/>
                </a:lnTo>
                <a:close/>
              </a:path>
            </a:pathLst>
          </a:custGeom>
          <a:blipFill>
            <a:blip r:embed="rId3"/>
            <a:stretch>
              <a:fillRect/>
            </a:stretch>
          </a:blipFill>
        </p:spPr>
        <p:txBody>
          <a:bodyPr/>
          <a:lstStyle/>
          <a:p>
            <a:endParaRPr lang="it-IT"/>
          </a:p>
        </p:txBody>
      </p:sp>
      <p:sp>
        <p:nvSpPr>
          <p:cNvPr id="5" name="TextBox 5"/>
          <p:cNvSpPr txBox="1"/>
          <p:nvPr/>
        </p:nvSpPr>
        <p:spPr>
          <a:xfrm>
            <a:off x="1166399" y="1233825"/>
            <a:ext cx="9605745"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Results</a:t>
            </a: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dirty="0"/>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sp>
        <p:nvSpPr>
          <p:cNvPr id="4" name="TextBox 4"/>
          <p:cNvSpPr txBox="1"/>
          <p:nvPr/>
        </p:nvSpPr>
        <p:spPr>
          <a:xfrm>
            <a:off x="1166399" y="1233825"/>
            <a:ext cx="10114954"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Conclusions</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34</a:t>
            </a:r>
          </a:p>
        </p:txBody>
      </p:sp>
      <p:sp>
        <p:nvSpPr>
          <p:cNvPr id="6" name="TextBox 6"/>
          <p:cNvSpPr txBox="1"/>
          <p:nvPr/>
        </p:nvSpPr>
        <p:spPr>
          <a:xfrm>
            <a:off x="7423627" y="8081414"/>
            <a:ext cx="8637761" cy="481380"/>
          </a:xfrm>
          <a:prstGeom prst="rect">
            <a:avLst/>
          </a:prstGeom>
        </p:spPr>
        <p:txBody>
          <a:bodyPr lIns="0" tIns="0" rIns="0" bIns="0" rtlCol="0" anchor="t">
            <a:spAutoFit/>
          </a:bodyPr>
          <a:lstStyle/>
          <a:p>
            <a:pPr algn="l">
              <a:lnSpc>
                <a:spcPts val="3919"/>
              </a:lnSpc>
            </a:pPr>
            <a:r>
              <a:rPr lang="en-US" sz="2799" dirty="0">
                <a:solidFill>
                  <a:srgbClr val="000000"/>
                </a:solidFill>
                <a:latin typeface="Open Sans"/>
                <a:ea typeface="Open Sans"/>
                <a:cs typeface="Open Sans"/>
                <a:sym typeface="Open Sans"/>
              </a:rPr>
              <a:t>Extraction of first-order </a:t>
            </a:r>
            <a:r>
              <a:rPr lang="en-US" sz="2799" b="1" dirty="0">
                <a:solidFill>
                  <a:srgbClr val="000000"/>
                </a:solidFill>
                <a:latin typeface="Open Sans Bold"/>
                <a:ea typeface="Open Sans Bold"/>
                <a:cs typeface="Open Sans Bold"/>
                <a:sym typeface="Open Sans Bold"/>
              </a:rPr>
              <a:t>image features</a:t>
            </a:r>
            <a:r>
              <a:rPr lang="en-US" sz="2799" dirty="0">
                <a:solidFill>
                  <a:srgbClr val="000000"/>
                </a:solidFill>
                <a:latin typeface="Open Sans"/>
                <a:ea typeface="Open Sans"/>
                <a:cs typeface="Open Sans"/>
                <a:sym typeface="Open Sans"/>
              </a:rPr>
              <a:t> is enabled</a:t>
            </a:r>
          </a:p>
        </p:txBody>
      </p:sp>
      <p:sp>
        <p:nvSpPr>
          <p:cNvPr id="7" name="TextBox 7"/>
          <p:cNvSpPr txBox="1"/>
          <p:nvPr/>
        </p:nvSpPr>
        <p:spPr>
          <a:xfrm>
            <a:off x="1166399" y="2938460"/>
            <a:ext cx="4067694" cy="1099820"/>
          </a:xfrm>
          <a:prstGeom prst="rect">
            <a:avLst/>
          </a:prstGeom>
        </p:spPr>
        <p:txBody>
          <a:bodyPr lIns="0" tIns="0" rIns="0" bIns="0" rtlCol="0" anchor="t">
            <a:spAutoFit/>
          </a:bodyPr>
          <a:lstStyle/>
          <a:p>
            <a:pPr algn="ctr">
              <a:lnSpc>
                <a:spcPts val="4480"/>
              </a:lnSpc>
              <a:spcBef>
                <a:spcPct val="0"/>
              </a:spcBef>
            </a:pPr>
            <a:r>
              <a:rPr lang="en-US" sz="3200" spc="320">
                <a:solidFill>
                  <a:srgbClr val="000000"/>
                </a:solidFill>
                <a:latin typeface="Open Sauce"/>
                <a:ea typeface="Open Sauce"/>
                <a:cs typeface="Open Sauce"/>
                <a:sym typeface="Open Sauce"/>
              </a:rPr>
              <a:t>Enhanced data interoperability</a:t>
            </a:r>
          </a:p>
        </p:txBody>
      </p:sp>
      <p:sp>
        <p:nvSpPr>
          <p:cNvPr id="8" name="AutoShape 8"/>
          <p:cNvSpPr/>
          <p:nvPr/>
        </p:nvSpPr>
        <p:spPr>
          <a:xfrm flipV="1">
            <a:off x="5129121" y="3253561"/>
            <a:ext cx="2119325" cy="336232"/>
          </a:xfrm>
          <a:prstGeom prst="line">
            <a:avLst/>
          </a:prstGeom>
          <a:ln w="38100" cap="flat">
            <a:solidFill>
              <a:srgbClr val="000000"/>
            </a:solidFill>
            <a:prstDash val="solid"/>
            <a:headEnd type="none" w="sm" len="sm"/>
            <a:tailEnd type="none" w="sm" len="sm"/>
          </a:ln>
        </p:spPr>
        <p:txBody>
          <a:bodyPr/>
          <a:lstStyle/>
          <a:p>
            <a:endParaRPr lang="it-IT"/>
          </a:p>
        </p:txBody>
      </p:sp>
      <p:sp>
        <p:nvSpPr>
          <p:cNvPr id="9" name="AutoShape 9"/>
          <p:cNvSpPr/>
          <p:nvPr/>
        </p:nvSpPr>
        <p:spPr>
          <a:xfrm flipH="1" flipV="1">
            <a:off x="7024308" y="3120501"/>
            <a:ext cx="217363" cy="129675"/>
          </a:xfrm>
          <a:prstGeom prst="line">
            <a:avLst/>
          </a:prstGeom>
          <a:ln w="38100" cap="flat">
            <a:solidFill>
              <a:srgbClr val="000000"/>
            </a:solidFill>
            <a:prstDash val="solid"/>
            <a:headEnd type="none" w="sm" len="sm"/>
            <a:tailEnd type="none" w="sm" len="sm"/>
          </a:ln>
        </p:spPr>
        <p:txBody>
          <a:bodyPr/>
          <a:lstStyle/>
          <a:p>
            <a:endParaRPr lang="it-IT"/>
          </a:p>
        </p:txBody>
      </p:sp>
      <p:sp>
        <p:nvSpPr>
          <p:cNvPr id="10" name="AutoShape 10"/>
          <p:cNvSpPr/>
          <p:nvPr/>
        </p:nvSpPr>
        <p:spPr>
          <a:xfrm flipV="1">
            <a:off x="7065076" y="3266535"/>
            <a:ext cx="168112" cy="180728"/>
          </a:xfrm>
          <a:prstGeom prst="line">
            <a:avLst/>
          </a:prstGeom>
          <a:ln w="38100" cap="flat">
            <a:solidFill>
              <a:srgbClr val="000000"/>
            </a:solidFill>
            <a:prstDash val="solid"/>
            <a:headEnd type="none" w="sm" len="sm"/>
            <a:tailEnd type="none" w="sm" len="sm"/>
          </a:ln>
        </p:spPr>
        <p:txBody>
          <a:bodyPr/>
          <a:lstStyle/>
          <a:p>
            <a:endParaRPr lang="it-IT"/>
          </a:p>
        </p:txBody>
      </p:sp>
      <p:sp>
        <p:nvSpPr>
          <p:cNvPr id="11" name="TextBox 11"/>
          <p:cNvSpPr txBox="1"/>
          <p:nvPr/>
        </p:nvSpPr>
        <p:spPr>
          <a:xfrm>
            <a:off x="7364827" y="2938460"/>
            <a:ext cx="5733771" cy="467757"/>
          </a:xfrm>
          <a:prstGeom prst="rect">
            <a:avLst/>
          </a:prstGeom>
        </p:spPr>
        <p:txBody>
          <a:bodyPr lIns="0" tIns="0" rIns="0" bIns="0" rtlCol="0" anchor="t">
            <a:spAutoFit/>
          </a:bodyPr>
          <a:lstStyle/>
          <a:p>
            <a:pPr algn="ctr">
              <a:lnSpc>
                <a:spcPts val="3919"/>
              </a:lnSpc>
              <a:spcBef>
                <a:spcPct val="0"/>
              </a:spcBef>
            </a:pP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Well-structured </a:t>
            </a: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data model</a:t>
            </a:r>
          </a:p>
        </p:txBody>
      </p:sp>
      <p:sp>
        <p:nvSpPr>
          <p:cNvPr id="12" name="AutoShape 12"/>
          <p:cNvSpPr/>
          <p:nvPr/>
        </p:nvSpPr>
        <p:spPr>
          <a:xfrm>
            <a:off x="5118879" y="3585042"/>
            <a:ext cx="2054915" cy="617991"/>
          </a:xfrm>
          <a:prstGeom prst="line">
            <a:avLst/>
          </a:prstGeom>
          <a:ln w="38100" cap="flat">
            <a:solidFill>
              <a:srgbClr val="000000"/>
            </a:solidFill>
            <a:prstDash val="solid"/>
            <a:headEnd type="none" w="sm" len="sm"/>
            <a:tailEnd type="none" w="sm" len="sm"/>
          </a:ln>
        </p:spPr>
        <p:txBody>
          <a:bodyPr/>
          <a:lstStyle/>
          <a:p>
            <a:endParaRPr lang="it-IT"/>
          </a:p>
        </p:txBody>
      </p:sp>
      <p:sp>
        <p:nvSpPr>
          <p:cNvPr id="13" name="AutoShape 13"/>
          <p:cNvSpPr/>
          <p:nvPr/>
        </p:nvSpPr>
        <p:spPr>
          <a:xfrm flipH="1" flipV="1">
            <a:off x="7018464" y="3981301"/>
            <a:ext cx="139432" cy="211237"/>
          </a:xfrm>
          <a:prstGeom prst="line">
            <a:avLst/>
          </a:prstGeom>
          <a:ln w="38100" cap="flat">
            <a:solidFill>
              <a:srgbClr val="000000"/>
            </a:solidFill>
            <a:prstDash val="solid"/>
            <a:headEnd type="none" w="sm" len="sm"/>
            <a:tailEnd type="none" w="sm" len="sm"/>
          </a:ln>
        </p:spPr>
        <p:txBody>
          <a:bodyPr/>
          <a:lstStyle/>
          <a:p>
            <a:endParaRPr lang="it-IT"/>
          </a:p>
        </p:txBody>
      </p:sp>
      <p:sp>
        <p:nvSpPr>
          <p:cNvPr id="14" name="AutoShape 14"/>
          <p:cNvSpPr/>
          <p:nvPr/>
        </p:nvSpPr>
        <p:spPr>
          <a:xfrm flipV="1">
            <a:off x="6936158" y="4193440"/>
            <a:ext cx="229940" cy="89734"/>
          </a:xfrm>
          <a:prstGeom prst="line">
            <a:avLst/>
          </a:prstGeom>
          <a:ln w="38100" cap="flat">
            <a:solidFill>
              <a:srgbClr val="000000"/>
            </a:solidFill>
            <a:prstDash val="solid"/>
            <a:headEnd type="none" w="sm" len="sm"/>
            <a:tailEnd type="none" w="sm" len="sm"/>
          </a:ln>
        </p:spPr>
        <p:txBody>
          <a:bodyPr/>
          <a:lstStyle/>
          <a:p>
            <a:endParaRPr lang="it-IT"/>
          </a:p>
        </p:txBody>
      </p:sp>
      <p:sp>
        <p:nvSpPr>
          <p:cNvPr id="15" name="TextBox 15"/>
          <p:cNvSpPr txBox="1"/>
          <p:nvPr/>
        </p:nvSpPr>
        <p:spPr>
          <a:xfrm>
            <a:off x="7381632" y="3852777"/>
            <a:ext cx="6105767" cy="467757"/>
          </a:xfrm>
          <a:prstGeom prst="rect">
            <a:avLst/>
          </a:prstGeom>
        </p:spPr>
        <p:txBody>
          <a:bodyPr wrap="square" lIns="0" tIns="0" rIns="0" bIns="0" rtlCol="0" anchor="t">
            <a:spAutoFit/>
          </a:bodyPr>
          <a:lstStyle/>
          <a:p>
            <a:pPr>
              <a:lnSpc>
                <a:spcPts val="3919"/>
              </a:lnSpc>
              <a:spcBef>
                <a:spcPct val="0"/>
              </a:spcBef>
            </a:pP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Standardized</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vocabulary</a:t>
            </a:r>
          </a:p>
        </p:txBody>
      </p:sp>
      <p:sp>
        <p:nvSpPr>
          <p:cNvPr id="16" name="TextBox 16"/>
          <p:cNvSpPr txBox="1"/>
          <p:nvPr/>
        </p:nvSpPr>
        <p:spPr>
          <a:xfrm>
            <a:off x="1359966" y="5277364"/>
            <a:ext cx="3797760" cy="1099820"/>
          </a:xfrm>
          <a:prstGeom prst="rect">
            <a:avLst/>
          </a:prstGeom>
        </p:spPr>
        <p:txBody>
          <a:bodyPr lIns="0" tIns="0" rIns="0" bIns="0" rtlCol="0" anchor="t">
            <a:spAutoFit/>
          </a:bodyPr>
          <a:lstStyle/>
          <a:p>
            <a:pPr algn="ctr">
              <a:lnSpc>
                <a:spcPts val="4480"/>
              </a:lnSpc>
              <a:spcBef>
                <a:spcPct val="0"/>
              </a:spcBef>
            </a:pPr>
            <a:r>
              <a:rPr lang="en-US" sz="3200" spc="320">
                <a:solidFill>
                  <a:srgbClr val="000000"/>
                </a:solidFill>
                <a:latin typeface="Open Sauce"/>
                <a:ea typeface="Open Sauce"/>
                <a:cs typeface="Open Sauce"/>
                <a:sym typeface="Open Sauce"/>
              </a:rPr>
              <a:t>Improved data discoverability</a:t>
            </a:r>
          </a:p>
        </p:txBody>
      </p:sp>
      <p:sp>
        <p:nvSpPr>
          <p:cNvPr id="17" name="TextBox 17"/>
          <p:cNvSpPr txBox="1"/>
          <p:nvPr/>
        </p:nvSpPr>
        <p:spPr>
          <a:xfrm>
            <a:off x="7423627" y="4994720"/>
            <a:ext cx="10257243" cy="986254"/>
          </a:xfrm>
          <a:prstGeom prst="rect">
            <a:avLst/>
          </a:prstGeom>
        </p:spPr>
        <p:txBody>
          <a:bodyPr lIns="0" tIns="0" rIns="0" bIns="0" rtlCol="0" anchor="t">
            <a:spAutoFit/>
          </a:bodyPr>
          <a:lstStyle/>
          <a:p>
            <a:pPr algn="l">
              <a:lnSpc>
                <a:spcPts val="3919"/>
              </a:lnSpc>
              <a:spcBef>
                <a:spcPct val="0"/>
              </a:spcBef>
            </a:pP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Single access point</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for all DICOM and </a:t>
            </a:r>
            <a:r>
              <a:rPr lang="en-US" sz="2799" spc="279"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NIfTI</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collections relevant to the research study</a:t>
            </a:r>
          </a:p>
        </p:txBody>
      </p:sp>
      <p:sp>
        <p:nvSpPr>
          <p:cNvPr id="18" name="TextBox 18"/>
          <p:cNvSpPr txBox="1"/>
          <p:nvPr/>
        </p:nvSpPr>
        <p:spPr>
          <a:xfrm>
            <a:off x="7364827" y="6271984"/>
            <a:ext cx="8696561" cy="467757"/>
          </a:xfrm>
          <a:prstGeom prst="rect">
            <a:avLst/>
          </a:prstGeom>
        </p:spPr>
        <p:txBody>
          <a:bodyPr wrap="square" lIns="0" tIns="0" rIns="0" bIns="0" rtlCol="0" anchor="t">
            <a:spAutoFit/>
          </a:bodyPr>
          <a:lstStyle/>
          <a:p>
            <a:pPr>
              <a:lnSpc>
                <a:spcPts val="3919"/>
              </a:lnSpc>
              <a:spcBef>
                <a:spcPct val="0"/>
              </a:spcBef>
            </a:pPr>
            <a:r>
              <a:rPr lang="en-US" sz="2799" b="1"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Bold"/>
              </a:rPr>
              <a:t>Remote exploration</a:t>
            </a:r>
            <a:r>
              <a:rPr lang="en-US" sz="2799" spc="279"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uce"/>
              </a:rPr>
              <a:t> of the TCIA archive</a:t>
            </a:r>
          </a:p>
        </p:txBody>
      </p:sp>
      <p:sp>
        <p:nvSpPr>
          <p:cNvPr id="19" name="TextBox 19"/>
          <p:cNvSpPr txBox="1"/>
          <p:nvPr/>
        </p:nvSpPr>
        <p:spPr>
          <a:xfrm>
            <a:off x="1340916" y="7518400"/>
            <a:ext cx="3643268" cy="1661795"/>
          </a:xfrm>
          <a:prstGeom prst="rect">
            <a:avLst/>
          </a:prstGeom>
        </p:spPr>
        <p:txBody>
          <a:bodyPr lIns="0" tIns="0" rIns="0" bIns="0" rtlCol="0" anchor="t">
            <a:spAutoFit/>
          </a:bodyPr>
          <a:lstStyle/>
          <a:p>
            <a:pPr algn="ctr">
              <a:lnSpc>
                <a:spcPts val="4480"/>
              </a:lnSpc>
              <a:spcBef>
                <a:spcPct val="0"/>
              </a:spcBef>
            </a:pPr>
            <a:r>
              <a:rPr lang="en-US" sz="3200" spc="320">
                <a:solidFill>
                  <a:srgbClr val="000000"/>
                </a:solidFill>
                <a:latin typeface="Open Sauce"/>
                <a:ea typeface="Open Sauce"/>
                <a:cs typeface="Open Sauce"/>
                <a:sym typeface="Open Sauce"/>
              </a:rPr>
              <a:t>Support for imaging data analysis</a:t>
            </a:r>
          </a:p>
        </p:txBody>
      </p:sp>
      <p:sp>
        <p:nvSpPr>
          <p:cNvPr id="20" name="AutoShape 20"/>
          <p:cNvSpPr/>
          <p:nvPr/>
        </p:nvSpPr>
        <p:spPr>
          <a:xfrm>
            <a:off x="5052936" y="8350654"/>
            <a:ext cx="2145821" cy="6589"/>
          </a:xfrm>
          <a:prstGeom prst="line">
            <a:avLst/>
          </a:prstGeom>
          <a:ln w="38100" cap="flat">
            <a:solidFill>
              <a:srgbClr val="000000"/>
            </a:solidFill>
            <a:prstDash val="solid"/>
            <a:headEnd type="none" w="sm" len="sm"/>
            <a:tailEnd type="none" w="sm" len="sm"/>
          </a:ln>
        </p:spPr>
        <p:txBody>
          <a:bodyPr/>
          <a:lstStyle/>
          <a:p>
            <a:endParaRPr lang="it-IT"/>
          </a:p>
        </p:txBody>
      </p:sp>
      <p:sp>
        <p:nvSpPr>
          <p:cNvPr id="21" name="AutoShape 21"/>
          <p:cNvSpPr/>
          <p:nvPr/>
        </p:nvSpPr>
        <p:spPr>
          <a:xfrm flipH="1" flipV="1">
            <a:off x="7005735" y="8204168"/>
            <a:ext cx="193861" cy="162728"/>
          </a:xfrm>
          <a:prstGeom prst="line">
            <a:avLst/>
          </a:prstGeom>
          <a:ln w="38100" cap="flat">
            <a:solidFill>
              <a:srgbClr val="000000"/>
            </a:solidFill>
            <a:prstDash val="solid"/>
            <a:headEnd type="none" w="sm" len="sm"/>
            <a:tailEnd type="none" w="sm" len="sm"/>
          </a:ln>
        </p:spPr>
        <p:txBody>
          <a:bodyPr/>
          <a:lstStyle/>
          <a:p>
            <a:endParaRPr lang="it-IT"/>
          </a:p>
        </p:txBody>
      </p:sp>
      <p:sp>
        <p:nvSpPr>
          <p:cNvPr id="22" name="AutoShape 22"/>
          <p:cNvSpPr/>
          <p:nvPr/>
        </p:nvSpPr>
        <p:spPr>
          <a:xfrm flipV="1">
            <a:off x="6990224" y="8357533"/>
            <a:ext cx="194820" cy="151557"/>
          </a:xfrm>
          <a:prstGeom prst="line">
            <a:avLst/>
          </a:prstGeom>
          <a:ln w="38100" cap="flat">
            <a:solidFill>
              <a:srgbClr val="000000"/>
            </a:solidFill>
            <a:prstDash val="solid"/>
            <a:headEnd type="none" w="sm" len="sm"/>
            <a:tailEnd type="none" w="sm" len="sm"/>
          </a:ln>
        </p:spPr>
        <p:txBody>
          <a:bodyPr/>
          <a:lstStyle/>
          <a:p>
            <a:endParaRPr lang="it-IT"/>
          </a:p>
        </p:txBody>
      </p:sp>
      <p:sp>
        <p:nvSpPr>
          <p:cNvPr id="23" name="AutoShape 23"/>
          <p:cNvSpPr/>
          <p:nvPr/>
        </p:nvSpPr>
        <p:spPr>
          <a:xfrm flipV="1">
            <a:off x="5170585" y="5521135"/>
            <a:ext cx="2119325" cy="336232"/>
          </a:xfrm>
          <a:prstGeom prst="line">
            <a:avLst/>
          </a:prstGeom>
          <a:ln w="38100" cap="flat">
            <a:solidFill>
              <a:srgbClr val="000000"/>
            </a:solidFill>
            <a:prstDash val="solid"/>
            <a:headEnd type="none" w="sm" len="sm"/>
            <a:tailEnd type="none" w="sm" len="sm"/>
          </a:ln>
        </p:spPr>
        <p:txBody>
          <a:bodyPr/>
          <a:lstStyle/>
          <a:p>
            <a:endParaRPr lang="it-IT"/>
          </a:p>
        </p:txBody>
      </p:sp>
      <p:sp>
        <p:nvSpPr>
          <p:cNvPr id="24" name="AutoShape 24"/>
          <p:cNvSpPr/>
          <p:nvPr/>
        </p:nvSpPr>
        <p:spPr>
          <a:xfrm flipH="1" flipV="1">
            <a:off x="7065771" y="5388075"/>
            <a:ext cx="217363" cy="129675"/>
          </a:xfrm>
          <a:prstGeom prst="line">
            <a:avLst/>
          </a:prstGeom>
          <a:ln w="38100" cap="flat">
            <a:solidFill>
              <a:srgbClr val="000000"/>
            </a:solidFill>
            <a:prstDash val="solid"/>
            <a:headEnd type="none" w="sm" len="sm"/>
            <a:tailEnd type="none" w="sm" len="sm"/>
          </a:ln>
        </p:spPr>
        <p:txBody>
          <a:bodyPr/>
          <a:lstStyle/>
          <a:p>
            <a:endParaRPr lang="it-IT"/>
          </a:p>
        </p:txBody>
      </p:sp>
      <p:sp>
        <p:nvSpPr>
          <p:cNvPr id="25" name="AutoShape 25"/>
          <p:cNvSpPr/>
          <p:nvPr/>
        </p:nvSpPr>
        <p:spPr>
          <a:xfrm flipV="1">
            <a:off x="7106540" y="5534110"/>
            <a:ext cx="168112" cy="180728"/>
          </a:xfrm>
          <a:prstGeom prst="line">
            <a:avLst/>
          </a:prstGeom>
          <a:ln w="38100" cap="flat">
            <a:solidFill>
              <a:srgbClr val="000000"/>
            </a:solidFill>
            <a:prstDash val="solid"/>
            <a:headEnd type="none" w="sm" len="sm"/>
            <a:tailEnd type="none" w="sm" len="sm"/>
          </a:ln>
        </p:spPr>
        <p:txBody>
          <a:bodyPr/>
          <a:lstStyle/>
          <a:p>
            <a:endParaRPr lang="it-IT"/>
          </a:p>
        </p:txBody>
      </p:sp>
      <p:sp>
        <p:nvSpPr>
          <p:cNvPr id="26" name="AutoShape 26"/>
          <p:cNvSpPr/>
          <p:nvPr/>
        </p:nvSpPr>
        <p:spPr>
          <a:xfrm>
            <a:off x="5160342" y="5852617"/>
            <a:ext cx="2054915" cy="617991"/>
          </a:xfrm>
          <a:prstGeom prst="line">
            <a:avLst/>
          </a:prstGeom>
          <a:ln w="38100" cap="flat">
            <a:solidFill>
              <a:srgbClr val="000000"/>
            </a:solidFill>
            <a:prstDash val="solid"/>
            <a:headEnd type="none" w="sm" len="sm"/>
            <a:tailEnd type="none" w="sm" len="sm"/>
          </a:ln>
        </p:spPr>
        <p:txBody>
          <a:bodyPr/>
          <a:lstStyle/>
          <a:p>
            <a:endParaRPr lang="it-IT"/>
          </a:p>
        </p:txBody>
      </p:sp>
      <p:sp>
        <p:nvSpPr>
          <p:cNvPr id="27" name="AutoShape 27"/>
          <p:cNvSpPr/>
          <p:nvPr/>
        </p:nvSpPr>
        <p:spPr>
          <a:xfrm flipH="1" flipV="1">
            <a:off x="7059927" y="6248876"/>
            <a:ext cx="139432" cy="211237"/>
          </a:xfrm>
          <a:prstGeom prst="line">
            <a:avLst/>
          </a:prstGeom>
          <a:ln w="38100" cap="flat">
            <a:solidFill>
              <a:srgbClr val="000000"/>
            </a:solidFill>
            <a:prstDash val="solid"/>
            <a:headEnd type="none" w="sm" len="sm"/>
            <a:tailEnd type="none" w="sm" len="sm"/>
          </a:ln>
        </p:spPr>
        <p:txBody>
          <a:bodyPr/>
          <a:lstStyle/>
          <a:p>
            <a:endParaRPr lang="it-IT"/>
          </a:p>
        </p:txBody>
      </p:sp>
      <p:sp>
        <p:nvSpPr>
          <p:cNvPr id="28" name="AutoShape 28"/>
          <p:cNvSpPr/>
          <p:nvPr/>
        </p:nvSpPr>
        <p:spPr>
          <a:xfrm flipV="1">
            <a:off x="6977622" y="6461015"/>
            <a:ext cx="229940" cy="89734"/>
          </a:xfrm>
          <a:prstGeom prst="line">
            <a:avLst/>
          </a:prstGeom>
          <a:ln w="38100" cap="flat">
            <a:solidFill>
              <a:srgbClr val="000000"/>
            </a:solidFill>
            <a:prstDash val="solid"/>
            <a:headEnd type="none" w="sm" len="sm"/>
            <a:tailEnd type="none" w="sm" len="sm"/>
          </a:ln>
        </p:spPr>
        <p:txBody>
          <a:bodyPr/>
          <a:lstStyle/>
          <a:p>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50000"/>
            </a:blip>
            <a:stretch>
              <a:fillRect/>
            </a:stretch>
          </a:blipFill>
          <a:ln cap="sq">
            <a:noFill/>
            <a:prstDash val="solid"/>
            <a:miter/>
          </a:ln>
        </p:spPr>
        <p:txBody>
          <a:bodyPr/>
          <a:lstStyle/>
          <a:p>
            <a:endParaRPr lang="it-IT"/>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it-IT"/>
          </a:p>
        </p:txBody>
      </p:sp>
      <p:grpSp>
        <p:nvGrpSpPr>
          <p:cNvPr id="4" name="Group 4"/>
          <p:cNvGrpSpPr/>
          <p:nvPr/>
        </p:nvGrpSpPr>
        <p:grpSpPr>
          <a:xfrm>
            <a:off x="3544802" y="3843530"/>
            <a:ext cx="623466" cy="736521"/>
            <a:chOff x="0" y="0"/>
            <a:chExt cx="590682" cy="697792"/>
          </a:xfrm>
        </p:grpSpPr>
        <p:sp>
          <p:nvSpPr>
            <p:cNvPr id="5" name="Freeform 5"/>
            <p:cNvSpPr/>
            <p:nvPr/>
          </p:nvSpPr>
          <p:spPr>
            <a:xfrm>
              <a:off x="0" y="0"/>
              <a:ext cx="590682" cy="697792"/>
            </a:xfrm>
            <a:custGeom>
              <a:avLst/>
              <a:gdLst/>
              <a:ahLst/>
              <a:cxnLst/>
              <a:rect l="l" t="t" r="r" b="b"/>
              <a:pathLst>
                <a:path w="590682" h="697792">
                  <a:moveTo>
                    <a:pt x="295341" y="697792"/>
                  </a:moveTo>
                  <a:lnTo>
                    <a:pt x="0" y="291392"/>
                  </a:lnTo>
                  <a:lnTo>
                    <a:pt x="203200" y="291392"/>
                  </a:lnTo>
                  <a:lnTo>
                    <a:pt x="203200" y="0"/>
                  </a:lnTo>
                  <a:lnTo>
                    <a:pt x="387482" y="0"/>
                  </a:lnTo>
                  <a:lnTo>
                    <a:pt x="387482" y="291392"/>
                  </a:lnTo>
                  <a:lnTo>
                    <a:pt x="590682" y="291392"/>
                  </a:lnTo>
                  <a:lnTo>
                    <a:pt x="295341" y="697792"/>
                  </a:lnTo>
                  <a:close/>
                </a:path>
              </a:pathLst>
            </a:custGeom>
            <a:solidFill>
              <a:srgbClr val="000000"/>
            </a:solidFill>
          </p:spPr>
          <p:txBody>
            <a:bodyPr/>
            <a:lstStyle/>
            <a:p>
              <a:endParaRPr lang="it-IT"/>
            </a:p>
          </p:txBody>
        </p:sp>
        <p:sp>
          <p:nvSpPr>
            <p:cNvPr id="6" name="TextBox 6"/>
            <p:cNvSpPr txBox="1"/>
            <p:nvPr/>
          </p:nvSpPr>
          <p:spPr>
            <a:xfrm>
              <a:off x="203200" y="-38100"/>
              <a:ext cx="184282" cy="634292"/>
            </a:xfrm>
            <a:prstGeom prst="rect">
              <a:avLst/>
            </a:prstGeom>
          </p:spPr>
          <p:txBody>
            <a:bodyPr lIns="50800" tIns="50800" rIns="50800" bIns="50800" rtlCol="0" anchor="ctr"/>
            <a:lstStyle/>
            <a:p>
              <a:pPr algn="ctr">
                <a:lnSpc>
                  <a:spcPts val="2239"/>
                </a:lnSpc>
              </a:pPr>
              <a:endParaRPr/>
            </a:p>
          </p:txBody>
        </p:sp>
      </p:grpSp>
      <p:graphicFrame>
        <p:nvGraphicFramePr>
          <p:cNvPr id="7" name="Table 7"/>
          <p:cNvGraphicFramePr>
            <a:graphicFrameLocks noGrp="1"/>
          </p:cNvGraphicFramePr>
          <p:nvPr/>
        </p:nvGraphicFramePr>
        <p:xfrm>
          <a:off x="6607019" y="2825431"/>
          <a:ext cx="10396284" cy="5686020"/>
        </p:xfrm>
        <a:graphic>
          <a:graphicData uri="http://schemas.openxmlformats.org/drawingml/2006/table">
            <a:tbl>
              <a:tblPr/>
              <a:tblGrid>
                <a:gridCol w="2084000">
                  <a:extLst>
                    <a:ext uri="{9D8B030D-6E8A-4147-A177-3AD203B41FA5}">
                      <a16:colId xmlns:a16="http://schemas.microsoft.com/office/drawing/2014/main" val="20000"/>
                    </a:ext>
                  </a:extLst>
                </a:gridCol>
                <a:gridCol w="1857437">
                  <a:extLst>
                    <a:ext uri="{9D8B030D-6E8A-4147-A177-3AD203B41FA5}">
                      <a16:colId xmlns:a16="http://schemas.microsoft.com/office/drawing/2014/main" val="20001"/>
                    </a:ext>
                  </a:extLst>
                </a:gridCol>
                <a:gridCol w="2263131">
                  <a:extLst>
                    <a:ext uri="{9D8B030D-6E8A-4147-A177-3AD203B41FA5}">
                      <a16:colId xmlns:a16="http://schemas.microsoft.com/office/drawing/2014/main" val="20002"/>
                    </a:ext>
                  </a:extLst>
                </a:gridCol>
                <a:gridCol w="2107716">
                  <a:extLst>
                    <a:ext uri="{9D8B030D-6E8A-4147-A177-3AD203B41FA5}">
                      <a16:colId xmlns:a16="http://schemas.microsoft.com/office/drawing/2014/main" val="20003"/>
                    </a:ext>
                  </a:extLst>
                </a:gridCol>
                <a:gridCol w="2084000">
                  <a:extLst>
                    <a:ext uri="{9D8B030D-6E8A-4147-A177-3AD203B41FA5}">
                      <a16:colId xmlns:a16="http://schemas.microsoft.com/office/drawing/2014/main" val="20004"/>
                    </a:ext>
                  </a:extLst>
                </a:gridCol>
              </a:tblGrid>
              <a:tr h="1895340">
                <a:tc>
                  <a:txBody>
                    <a:bodyPr/>
                    <a:lstStyle/>
                    <a:p>
                      <a:pPr algn="ctr">
                        <a:lnSpc>
                          <a:spcPts val="2520"/>
                        </a:lnSpc>
                        <a:defRPr/>
                      </a:pPr>
                      <a:r>
                        <a:rPr lang="en-US" sz="1800" b="1">
                          <a:solidFill>
                            <a:srgbClr val="000000"/>
                          </a:solidFill>
                          <a:latin typeface="Open Sauce Bold"/>
                          <a:ea typeface="Open Sauce Bold"/>
                          <a:cs typeface="Open Sauce Bold"/>
                          <a:sym typeface="Open Sauce Bold"/>
                        </a:rPr>
                        <a:t>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tc>
                  <a:txBody>
                    <a:bodyPr/>
                    <a:lstStyle/>
                    <a:p>
                      <a:pPr algn="ctr">
                        <a:lnSpc>
                          <a:spcPts val="2520"/>
                        </a:lnSpc>
                        <a:defRPr/>
                      </a:pPr>
                      <a:r>
                        <a:rPr lang="en-US" sz="1800" b="1">
                          <a:solidFill>
                            <a:srgbClr val="000000"/>
                          </a:solidFill>
                          <a:latin typeface="Open Sauce Bold"/>
                          <a:ea typeface="Open Sauce Bold"/>
                          <a:cs typeface="Open Sauce Bold"/>
                          <a:sym typeface="Open Sauce Bold"/>
                        </a:rPr>
                        <a:t>Task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tc>
                  <a:txBody>
                    <a:bodyPr/>
                    <a:lstStyle/>
                    <a:p>
                      <a:pPr algn="ctr">
                        <a:lnSpc>
                          <a:spcPts val="2520"/>
                        </a:lnSpc>
                        <a:defRPr/>
                      </a:pPr>
                      <a:r>
                        <a:rPr lang="en-US" sz="1800" b="1">
                          <a:solidFill>
                            <a:srgbClr val="000000"/>
                          </a:solidFill>
                          <a:latin typeface="Open Sauce Bold"/>
                          <a:ea typeface="Open Sauce Bold"/>
                          <a:cs typeface="Open Sauce Bold"/>
                          <a:sym typeface="Open Sauce Bold"/>
                        </a:rPr>
                        <a:t>Anatomical region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tc>
                  <a:txBody>
                    <a:bodyPr/>
                    <a:lstStyle/>
                    <a:p>
                      <a:pPr algn="ctr">
                        <a:lnSpc>
                          <a:spcPts val="2520"/>
                        </a:lnSpc>
                        <a:defRPr/>
                      </a:pPr>
                      <a:r>
                        <a:rPr lang="en-US" sz="1800" b="1">
                          <a:solidFill>
                            <a:srgbClr val="000000"/>
                          </a:solidFill>
                          <a:latin typeface="Open Sauce Bold"/>
                          <a:ea typeface="Open Sauce Bold"/>
                          <a:cs typeface="Open Sauce Bold"/>
                          <a:sym typeface="Open Sauce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tc>
                  <a:txBody>
                    <a:bodyPr/>
                    <a:lstStyle/>
                    <a:p>
                      <a:pPr algn="ctr">
                        <a:lnSpc>
                          <a:spcPts val="2520"/>
                        </a:lnSpc>
                        <a:defRPr/>
                      </a:pPr>
                      <a:r>
                        <a:rPr lang="en-US" sz="1800" b="1">
                          <a:solidFill>
                            <a:srgbClr val="000000"/>
                          </a:solidFill>
                          <a:latin typeface="Open Sauce Bold"/>
                          <a:ea typeface="Open Sauce Bold"/>
                          <a:cs typeface="Open Sauce Bold"/>
                          <a:sym typeface="Open Sauce Bold"/>
                        </a:rPr>
                        <a:t>Size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895340">
                <a:tc>
                  <a:txBody>
                    <a:bodyPr/>
                    <a:lstStyle/>
                    <a:p>
                      <a:pPr algn="ctr">
                        <a:lnSpc>
                          <a:spcPts val="2520"/>
                        </a:lnSpc>
                        <a:defRPr/>
                      </a:pPr>
                      <a:endParaRPr lang="en-US" sz="1100"/>
                    </a:p>
                    <a:p>
                      <a:pPr algn="ctr">
                        <a:lnSpc>
                          <a:spcPts val="2520"/>
                        </a:lnSpc>
                      </a:pPr>
                      <a:r>
                        <a:rPr lang="en-US" sz="1800">
                          <a:solidFill>
                            <a:srgbClr val="000000"/>
                          </a:solidFill>
                          <a:latin typeface="Open Sauce"/>
                          <a:ea typeface="Open Sauce"/>
                          <a:cs typeface="Open Sauce"/>
                          <a:sym typeface="Open Sauce"/>
                        </a:rPr>
                        <a:t>vit_brain_tumor_multiclass_v2</a:t>
                      </a:r>
                    </a:p>
                    <a:p>
                      <a:pPr algn="ctr">
                        <a:lnSpc>
                          <a:spcPts val="2520"/>
                        </a:lnSpc>
                      </a:pPr>
                      <a:endParaRPr lang="en-US" sz="1800">
                        <a:solidFill>
                          <a:srgbClr val="000000"/>
                        </a:solidFill>
                        <a:latin typeface="Open Sauce"/>
                        <a:ea typeface="Open Sauce"/>
                        <a:cs typeface="Open Sauce"/>
                        <a:sym typeface="Open Sauce"/>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Brain tumor classification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Brain (MRI)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Vision Transformer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 340 MB</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95340">
                <a:tc>
                  <a:txBody>
                    <a:bodyPr/>
                    <a:lstStyle/>
                    <a:p>
                      <a:pPr algn="ctr">
                        <a:lnSpc>
                          <a:spcPts val="2520"/>
                        </a:lnSpc>
                        <a:defRPr/>
                      </a:pPr>
                      <a:r>
                        <a:rPr lang="en-US" sz="1800">
                          <a:solidFill>
                            <a:srgbClr val="000000"/>
                          </a:solidFill>
                          <a:latin typeface="Open Sauce"/>
                          <a:ea typeface="Open Sauce"/>
                          <a:cs typeface="Open Sauce"/>
                          <a:sym typeface="Open Sauce"/>
                        </a:rPr>
                        <a:t>lung_nodule_ct_detection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Lung nodule detection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Lung (CT)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RetinaNet 3D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algn="ctr">
                        <a:lnSpc>
                          <a:spcPts val="2520"/>
                        </a:lnSpc>
                        <a:defRPr/>
                      </a:pPr>
                      <a:r>
                        <a:rPr lang="en-US" sz="1800">
                          <a:solidFill>
                            <a:srgbClr val="000000"/>
                          </a:solidFill>
                          <a:latin typeface="Open Sauce"/>
                          <a:ea typeface="Open Sauce"/>
                          <a:cs typeface="Open Sauce"/>
                          <a:sym typeface="Open Sauce"/>
                        </a:rPr>
                        <a:t>∼ 16 GB VRAM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166399" y="1233825"/>
            <a:ext cx="15174330" cy="1085190"/>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Future developments: real-time diagnosis</a:t>
            </a:r>
          </a:p>
        </p:txBody>
      </p:sp>
      <p:sp>
        <p:nvSpPr>
          <p:cNvPr id="9" name="TextBox 9"/>
          <p:cNvSpPr txBox="1"/>
          <p:nvPr/>
        </p:nvSpPr>
        <p:spPr>
          <a:xfrm>
            <a:off x="13808824" y="898461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35</a:t>
            </a:r>
          </a:p>
        </p:txBody>
      </p:sp>
      <p:sp>
        <p:nvSpPr>
          <p:cNvPr id="10" name="TextBox 10"/>
          <p:cNvSpPr txBox="1"/>
          <p:nvPr/>
        </p:nvSpPr>
        <p:spPr>
          <a:xfrm>
            <a:off x="2070272" y="2971675"/>
            <a:ext cx="3789075" cy="490855"/>
          </a:xfrm>
          <a:prstGeom prst="rect">
            <a:avLst/>
          </a:prstGeom>
        </p:spPr>
        <p:txBody>
          <a:bodyPr lIns="0" tIns="0" rIns="0" bIns="0" rtlCol="0" anchor="t">
            <a:spAutoFit/>
          </a:bodyPr>
          <a:lstStyle/>
          <a:p>
            <a:pPr algn="ctr">
              <a:lnSpc>
                <a:spcPts val="3919"/>
              </a:lnSpc>
            </a:pPr>
            <a:r>
              <a:rPr lang="en-US" sz="2799" i="1" u="sng">
                <a:solidFill>
                  <a:srgbClr val="000000"/>
                </a:solidFill>
                <a:latin typeface="Open Sauce Italics"/>
                <a:ea typeface="Open Sauce Italics"/>
                <a:cs typeface="Open Sauce Italics"/>
                <a:sym typeface="Open Sauce Italics"/>
              </a:rPr>
              <a:t>Series</a:t>
            </a:r>
            <a:r>
              <a:rPr lang="en-US" sz="2799">
                <a:solidFill>
                  <a:srgbClr val="000000"/>
                </a:solidFill>
                <a:latin typeface="Open Sauce"/>
                <a:ea typeface="Open Sauce"/>
                <a:cs typeface="Open Sauce"/>
                <a:sym typeface="Open Sauce"/>
              </a:rPr>
              <a:t> is selected</a:t>
            </a:r>
          </a:p>
        </p:txBody>
      </p:sp>
      <p:sp>
        <p:nvSpPr>
          <p:cNvPr id="11" name="TextBox 11"/>
          <p:cNvSpPr txBox="1"/>
          <p:nvPr/>
        </p:nvSpPr>
        <p:spPr>
          <a:xfrm>
            <a:off x="1961997" y="4894376"/>
            <a:ext cx="4005624" cy="1481455"/>
          </a:xfrm>
          <a:prstGeom prst="rect">
            <a:avLst/>
          </a:prstGeom>
        </p:spPr>
        <p:txBody>
          <a:bodyPr lIns="0" tIns="0" rIns="0" bIns="0" rtlCol="0" anchor="t">
            <a:spAutoFit/>
          </a:bodyPr>
          <a:lstStyle/>
          <a:p>
            <a:pPr algn="ctr">
              <a:lnSpc>
                <a:spcPts val="3919"/>
              </a:lnSpc>
            </a:pPr>
            <a:r>
              <a:rPr lang="en-US" sz="2799" i="1" u="sng">
                <a:solidFill>
                  <a:srgbClr val="000000"/>
                </a:solidFill>
                <a:latin typeface="Open Sauce Italics"/>
                <a:ea typeface="Open Sauce Italics"/>
                <a:cs typeface="Open Sauce Italics"/>
                <a:sym typeface="Open Sauce Italics"/>
              </a:rPr>
              <a:t>AI model</a:t>
            </a:r>
            <a:r>
              <a:rPr lang="en-US" sz="2799">
                <a:solidFill>
                  <a:srgbClr val="000000"/>
                </a:solidFill>
                <a:latin typeface="Open Sauce"/>
                <a:ea typeface="Open Sauce"/>
                <a:cs typeface="Open Sauce"/>
                <a:sym typeface="Open Sauce"/>
              </a:rPr>
              <a:t> is chosen based on the body part</a:t>
            </a:r>
          </a:p>
        </p:txBody>
      </p:sp>
      <p:sp>
        <p:nvSpPr>
          <p:cNvPr id="12" name="TextBox 12"/>
          <p:cNvSpPr txBox="1"/>
          <p:nvPr/>
        </p:nvSpPr>
        <p:spPr>
          <a:xfrm>
            <a:off x="1853723" y="7805741"/>
            <a:ext cx="4005624" cy="490855"/>
          </a:xfrm>
          <a:prstGeom prst="rect">
            <a:avLst/>
          </a:prstGeom>
        </p:spPr>
        <p:txBody>
          <a:bodyPr lIns="0" tIns="0" rIns="0" bIns="0" rtlCol="0" anchor="t">
            <a:spAutoFit/>
          </a:bodyPr>
          <a:lstStyle/>
          <a:p>
            <a:pPr algn="ctr">
              <a:lnSpc>
                <a:spcPts val="3919"/>
              </a:lnSpc>
            </a:pPr>
            <a:r>
              <a:rPr lang="en-US" sz="2799" i="1" u="sng">
                <a:solidFill>
                  <a:srgbClr val="000000"/>
                </a:solidFill>
                <a:latin typeface="Open Sauce Italics"/>
                <a:ea typeface="Open Sauce Italics"/>
                <a:cs typeface="Open Sauce Italics"/>
                <a:sym typeface="Open Sauce Italics"/>
              </a:rPr>
              <a:t>Diagnosis</a:t>
            </a:r>
            <a:r>
              <a:rPr lang="en-US" sz="2799">
                <a:solidFill>
                  <a:srgbClr val="000000"/>
                </a:solidFill>
                <a:latin typeface="Open Sauce"/>
                <a:ea typeface="Open Sauce"/>
                <a:cs typeface="Open Sauce"/>
                <a:sym typeface="Open Sauce"/>
              </a:rPr>
              <a:t> is performed</a:t>
            </a:r>
          </a:p>
        </p:txBody>
      </p:sp>
      <p:grpSp>
        <p:nvGrpSpPr>
          <p:cNvPr id="13" name="Group 13"/>
          <p:cNvGrpSpPr/>
          <p:nvPr/>
        </p:nvGrpSpPr>
        <p:grpSpPr>
          <a:xfrm>
            <a:off x="3544802" y="6754895"/>
            <a:ext cx="623466" cy="736521"/>
            <a:chOff x="0" y="0"/>
            <a:chExt cx="590682" cy="697792"/>
          </a:xfrm>
        </p:grpSpPr>
        <p:sp>
          <p:nvSpPr>
            <p:cNvPr id="14" name="Freeform 14"/>
            <p:cNvSpPr/>
            <p:nvPr/>
          </p:nvSpPr>
          <p:spPr>
            <a:xfrm>
              <a:off x="0" y="0"/>
              <a:ext cx="590682" cy="697792"/>
            </a:xfrm>
            <a:custGeom>
              <a:avLst/>
              <a:gdLst/>
              <a:ahLst/>
              <a:cxnLst/>
              <a:rect l="l" t="t" r="r" b="b"/>
              <a:pathLst>
                <a:path w="590682" h="697792">
                  <a:moveTo>
                    <a:pt x="295341" y="697792"/>
                  </a:moveTo>
                  <a:lnTo>
                    <a:pt x="0" y="291392"/>
                  </a:lnTo>
                  <a:lnTo>
                    <a:pt x="203200" y="291392"/>
                  </a:lnTo>
                  <a:lnTo>
                    <a:pt x="203200" y="0"/>
                  </a:lnTo>
                  <a:lnTo>
                    <a:pt x="387482" y="0"/>
                  </a:lnTo>
                  <a:lnTo>
                    <a:pt x="387482" y="291392"/>
                  </a:lnTo>
                  <a:lnTo>
                    <a:pt x="590682" y="291392"/>
                  </a:lnTo>
                  <a:lnTo>
                    <a:pt x="295341" y="697792"/>
                  </a:lnTo>
                  <a:close/>
                </a:path>
              </a:pathLst>
            </a:custGeom>
            <a:solidFill>
              <a:srgbClr val="000000"/>
            </a:solidFill>
          </p:spPr>
          <p:txBody>
            <a:bodyPr/>
            <a:lstStyle/>
            <a:p>
              <a:endParaRPr lang="it-IT"/>
            </a:p>
          </p:txBody>
        </p:sp>
        <p:sp>
          <p:nvSpPr>
            <p:cNvPr id="15" name="TextBox 15"/>
            <p:cNvSpPr txBox="1"/>
            <p:nvPr/>
          </p:nvSpPr>
          <p:spPr>
            <a:xfrm>
              <a:off x="203200" y="-38100"/>
              <a:ext cx="184282" cy="634292"/>
            </a:xfrm>
            <a:prstGeom prst="rect">
              <a:avLst/>
            </a:prstGeom>
          </p:spPr>
          <p:txBody>
            <a:bodyPr lIns="50800" tIns="50800" rIns="50800" bIns="50800" rtlCol="0" anchor="ctr"/>
            <a:lstStyle/>
            <a:p>
              <a:pPr algn="ctr">
                <a:lnSpc>
                  <a:spcPts val="2239"/>
                </a:lnSpc>
              </a:pP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it-IT"/>
          </a:p>
        </p:txBody>
      </p:sp>
      <p:sp>
        <p:nvSpPr>
          <p:cNvPr id="3" name="TextBox 3"/>
          <p:cNvSpPr txBox="1"/>
          <p:nvPr/>
        </p:nvSpPr>
        <p:spPr>
          <a:xfrm>
            <a:off x="4485814" y="3139493"/>
            <a:ext cx="9316373" cy="1708151"/>
          </a:xfrm>
          <a:prstGeom prst="rect">
            <a:avLst/>
          </a:prstGeom>
        </p:spPr>
        <p:txBody>
          <a:bodyPr lIns="0" tIns="0" rIns="0" bIns="0" rtlCol="0" anchor="t">
            <a:spAutoFit/>
          </a:bodyPr>
          <a:lstStyle/>
          <a:p>
            <a:pPr algn="ctr">
              <a:lnSpc>
                <a:spcPts val="13999"/>
              </a:lnSpc>
            </a:pPr>
            <a:r>
              <a:rPr lang="en-US" sz="9999">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1795</Words>
  <Application>Microsoft Macintosh PowerPoint</Application>
  <PresentationFormat>Personalizzato</PresentationFormat>
  <Paragraphs>364</Paragraphs>
  <Slides>36</Slides>
  <Notes>16</Notes>
  <HiddenSlides>0</HiddenSlides>
  <MMClips>0</MMClips>
  <ScaleCrop>false</ScaleCrop>
  <HeadingPairs>
    <vt:vector size="8" baseType="variant">
      <vt:variant>
        <vt:lpstr>Caratteri utilizzati</vt:lpstr>
      </vt:variant>
      <vt:variant>
        <vt:i4>11</vt:i4>
      </vt:variant>
      <vt:variant>
        <vt:lpstr>Tema</vt:lpstr>
      </vt:variant>
      <vt:variant>
        <vt:i4>1</vt:i4>
      </vt:variant>
      <vt:variant>
        <vt:lpstr>Server OLE incorporati</vt:lpstr>
      </vt:variant>
      <vt:variant>
        <vt:i4>1</vt:i4>
      </vt:variant>
      <vt:variant>
        <vt:lpstr>Titoli diapositive</vt:lpstr>
      </vt:variant>
      <vt:variant>
        <vt:i4>36</vt:i4>
      </vt:variant>
    </vt:vector>
  </HeadingPairs>
  <TitlesOfParts>
    <vt:vector size="49" baseType="lpstr">
      <vt:lpstr>Open Sauce Italics</vt:lpstr>
      <vt:lpstr>Open Sans</vt:lpstr>
      <vt:lpstr>Open Sans Bold</vt:lpstr>
      <vt:lpstr>DM Serif Display</vt:lpstr>
      <vt:lpstr>Open Sauce Bold</vt:lpstr>
      <vt:lpstr>Arial</vt:lpstr>
      <vt:lpstr>Open Sauce Bold Italics</vt:lpstr>
      <vt:lpstr>Open Sans Italics</vt:lpstr>
      <vt:lpstr>Calibri</vt:lpstr>
      <vt:lpstr>DM Serif Display Italics</vt:lpstr>
      <vt:lpstr>Open Sauce</vt:lpstr>
      <vt:lpstr>Office Theme</vt:lpstr>
      <vt:lpstr>Worksheet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DICOM &amp; NIfTI images of different modalities</dc:title>
  <cp:lastModifiedBy>Giulia Tommasini</cp:lastModifiedBy>
  <cp:revision>2</cp:revision>
  <dcterms:created xsi:type="dcterms:W3CDTF">2006-08-16T00:00:00Z</dcterms:created>
  <dcterms:modified xsi:type="dcterms:W3CDTF">2026-06-21T20:49:30Z</dcterms:modified>
  <dc:identifier>DAHLCtBJWiQ</dc:identifier>
</cp:coreProperties>
</file>